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f2ac01f5224e8c" /><Relationship Type="http://schemas.openxmlformats.org/officeDocument/2006/relationships/extended-properties" Target="/docProps/app.xml" Id="Rdca102f268424f92" /><Relationship Type="http://schemas.openxmlformats.org/officeDocument/2006/relationships/officeDocument" Target="/ppt/presentation.xml" Id="R255071afe4664542" /></Relationships>
</file>

<file path=ppt/presentation.xml><?xml version="1.0" encoding="utf-8"?>
<p:presentation xmlns:p="http://schemas.openxmlformats.org/presentationml/2006/main">
  <p:sldMasterIdLst>
    <p:sldMasterId xmlns:r="http://schemas.openxmlformats.org/officeDocument/2006/relationships" id="2147483648" r:id="Ra28cdd3e839f4c3a"/>
  </p:sldMasterIdLst>
  <p:notesMasterIdLst>
    <p:notesMasterId xmlns:r="http://schemas.openxmlformats.org/officeDocument/2006/relationships" r:id="R0485e2ebedc04c28"/>
  </p:notesMasterIdLst>
  <p:sldIdLst>
    <p:sldId xmlns:r="http://schemas.openxmlformats.org/officeDocument/2006/relationships" id="256" r:id="R87f75f98fdbb4a0c"/>
    <p:sldId xmlns:r="http://schemas.openxmlformats.org/officeDocument/2006/relationships" id="257" r:id="Rf81a3c34647445ef"/>
    <p:sldId xmlns:r="http://schemas.openxmlformats.org/officeDocument/2006/relationships" id="258" r:id="Rc806c0e7d2464bf3"/>
    <p:sldId xmlns:r="http://schemas.openxmlformats.org/officeDocument/2006/relationships" id="259" r:id="Rdaf0d2476f894835"/>
    <p:sldId xmlns:r="http://schemas.openxmlformats.org/officeDocument/2006/relationships" id="260" r:id="R284f919a72c44b31"/>
    <p:sldId xmlns:r="http://schemas.openxmlformats.org/officeDocument/2006/relationships" id="261" r:id="R94eecb08512c4223"/>
    <p:sldId xmlns:r="http://schemas.openxmlformats.org/officeDocument/2006/relationships" id="262" r:id="Rb5522ca1b94e4656"/>
    <p:sldId xmlns:r="http://schemas.openxmlformats.org/officeDocument/2006/relationships" id="263" r:id="Rb47f5b20819d42dd"/>
    <p:sldId xmlns:r="http://schemas.openxmlformats.org/officeDocument/2006/relationships" id="264" r:id="R465dc41a56fb46f0"/>
    <p:sldId xmlns:r="http://schemas.openxmlformats.org/officeDocument/2006/relationships" id="265" r:id="R624d73c22a9b463d"/>
    <p:sldId xmlns:r="http://schemas.openxmlformats.org/officeDocument/2006/relationships" id="266" r:id="R74cc28c504b84d69"/>
    <p:sldId xmlns:r="http://schemas.openxmlformats.org/officeDocument/2006/relationships" id="267" r:id="R7183c58330c24eae"/>
    <p:sldId xmlns:r="http://schemas.openxmlformats.org/officeDocument/2006/relationships" id="268" r:id="R6f99bfad96cd4468"/>
    <p:sldId xmlns:r="http://schemas.openxmlformats.org/officeDocument/2006/relationships" id="269" r:id="R9fe0d1f4de71439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a28cdd3e839f4c3a" /><Relationship Type="http://schemas.openxmlformats.org/officeDocument/2006/relationships/theme" Target="/ppt/theme/theme1.xml" Id="R8a120ff199134c4a" /><Relationship Type="http://schemas.openxmlformats.org/officeDocument/2006/relationships/notesMaster" Target="/ppt/notesMasters/notesMaster1.xml" Id="R0485e2ebedc04c28" /><Relationship Type="http://schemas.openxmlformats.org/officeDocument/2006/relationships/presProps" Target="/ppt/presProps.xml" Id="R8ecaf57b43b948a6" /><Relationship Type="http://schemas.openxmlformats.org/officeDocument/2006/relationships/viewProps" Target="/ppt/viewProps.xml" Id="Rc78bd54d531b4b48" /><Relationship Type="http://schemas.openxmlformats.org/officeDocument/2006/relationships/tableStyles" Target="/ppt/tableStyles.xml" Id="R4a156af3dda244e4" /><Relationship Type="http://schemas.openxmlformats.org/officeDocument/2006/relationships/slide" Target="/ppt/slides/slide1.xml" Id="R87f75f98fdbb4a0c" /><Relationship Type="http://schemas.openxmlformats.org/officeDocument/2006/relationships/slide" Target="/ppt/slides/slide2.xml" Id="Rf81a3c34647445ef" /><Relationship Type="http://schemas.openxmlformats.org/officeDocument/2006/relationships/slide" Target="/ppt/slides/slide3.xml" Id="Rc806c0e7d2464bf3" /><Relationship Type="http://schemas.openxmlformats.org/officeDocument/2006/relationships/slide" Target="/ppt/slides/slide4.xml" Id="Rdaf0d2476f894835" /><Relationship Type="http://schemas.openxmlformats.org/officeDocument/2006/relationships/slide" Target="/ppt/slides/slide5.xml" Id="R284f919a72c44b31" /><Relationship Type="http://schemas.openxmlformats.org/officeDocument/2006/relationships/slide" Target="/ppt/slides/slide6.xml" Id="R94eecb08512c4223" /><Relationship Type="http://schemas.openxmlformats.org/officeDocument/2006/relationships/slide" Target="/ppt/slides/slide7.xml" Id="Rb5522ca1b94e4656" /><Relationship Type="http://schemas.openxmlformats.org/officeDocument/2006/relationships/slide" Target="/ppt/slides/slide8.xml" Id="Rb47f5b20819d42dd" /><Relationship Type="http://schemas.openxmlformats.org/officeDocument/2006/relationships/slide" Target="/ppt/slides/slide9.xml" Id="R465dc41a56fb46f0" /><Relationship Type="http://schemas.openxmlformats.org/officeDocument/2006/relationships/slide" Target="/ppt/slides/slide10.xml" Id="R624d73c22a9b463d" /><Relationship Type="http://schemas.openxmlformats.org/officeDocument/2006/relationships/slide" Target="/ppt/slides/slide11.xml" Id="R74cc28c504b84d69" /><Relationship Type="http://schemas.openxmlformats.org/officeDocument/2006/relationships/slide" Target="/ppt/slides/slide12.xml" Id="R7183c58330c24eae" /><Relationship Type="http://schemas.openxmlformats.org/officeDocument/2006/relationships/slide" Target="/ppt/slides/slide13.xml" Id="R6f99bfad96cd4468" /><Relationship Type="http://schemas.openxmlformats.org/officeDocument/2006/relationships/slide" Target="/ppt/slides/slide14.xml" Id="R9fe0d1f4de7143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376ff0e32bf45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52df015c264a24" /><Relationship Type="http://schemas.openxmlformats.org/officeDocument/2006/relationships/notesMaster" Target="/ppt/notesMasters/notesMaster1.xml" Id="Rb0269e4cd1df41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7dad07b4c84858" /><Relationship Type="http://schemas.openxmlformats.org/officeDocument/2006/relationships/notesMaster" Target="/ppt/notesMasters/notesMaster1.xml" Id="R190dadff3c9e46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579428a10e438c" /><Relationship Type="http://schemas.openxmlformats.org/officeDocument/2006/relationships/notesMaster" Target="/ppt/notesMasters/notesMaster1.xml" Id="Rc6df234f25ce47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32c78abb914316" /><Relationship Type="http://schemas.openxmlformats.org/officeDocument/2006/relationships/notesMaster" Target="/ppt/notesMasters/notesMaster1.xml" Id="Rd4007e0b19ff49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fae81e55e04afc" /><Relationship Type="http://schemas.openxmlformats.org/officeDocument/2006/relationships/notesMaster" Target="/ppt/notesMasters/notesMaster1.xml" Id="Rb9ed0507866343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34f6b6130d4985" /><Relationship Type="http://schemas.openxmlformats.org/officeDocument/2006/relationships/notesMaster" Target="/ppt/notesMasters/notesMaster1.xml" Id="R312a1cc857d848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1cbc34ddc34308" /><Relationship Type="http://schemas.openxmlformats.org/officeDocument/2006/relationships/notesMaster" Target="/ppt/notesMasters/notesMaster1.xml" Id="R4323b69db46543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51b444db0f4390" /><Relationship Type="http://schemas.openxmlformats.org/officeDocument/2006/relationships/notesMaster" Target="/ppt/notesMasters/notesMaster1.xml" Id="R4f406ed9cd3f44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89e344cb254768" /><Relationship Type="http://schemas.openxmlformats.org/officeDocument/2006/relationships/notesMaster" Target="/ppt/notesMasters/notesMaster1.xml" Id="Rb5e47a663d6a42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348fcc59504544" /><Relationship Type="http://schemas.openxmlformats.org/officeDocument/2006/relationships/notesMaster" Target="/ppt/notesMasters/notesMaster1.xml" Id="Re403d1d529cc4a4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7f959d30c240e1" /><Relationship Type="http://schemas.openxmlformats.org/officeDocument/2006/relationships/notesMaster" Target="/ppt/notesMasters/notesMaster1.xml" Id="R15feebe9a8824d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9b30358e974e46" /><Relationship Type="http://schemas.openxmlformats.org/officeDocument/2006/relationships/notesMaster" Target="/ppt/notesMasters/notesMaster1.xml" Id="Rbba4025444d24b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2671295eec40e3" /><Relationship Type="http://schemas.openxmlformats.org/officeDocument/2006/relationships/notesMaster" Target="/ppt/notesMasters/notesMaster1.xml" Id="R74d9cd58593f44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7049d107864282" /><Relationship Type="http://schemas.openxmlformats.org/officeDocument/2006/relationships/notesMaster" Target="/ppt/notesMasters/notesMaster1.xml" Id="Rc16028a403ca46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3f5117e7b84907"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636a237073f4d18" /><Relationship Type="http://schemas.openxmlformats.org/officeDocument/2006/relationships/slideLayout" Target="/ppt/slideLayouts/slideLayout2.xml" Id="R6ecc66a15e834f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cc66a15e834f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8ffec936b9cb411d" /><Relationship Type="http://schemas.openxmlformats.org/officeDocument/2006/relationships/notesSlide" Target="/ppt/notesSlides/notesSlide1.xml" Id="R5acbdab33b2844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bd2ad381c3a40ee" /><Relationship Type="http://schemas.openxmlformats.org/officeDocument/2006/relationships/notesSlide" Target="/ppt/notesSlides/notesSlide2.xml" Id="R624935a08ce543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d85aa189b6a4973" /><Relationship Type="http://schemas.openxmlformats.org/officeDocument/2006/relationships/notesSlide" Target="/ppt/notesSlides/notesSlide3.xml" Id="R60d90a62989c42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4568359388344de" /><Relationship Type="http://schemas.openxmlformats.org/officeDocument/2006/relationships/notesSlide" Target="/ppt/notesSlides/notesSlide4.xml" Id="R9b9f4d06fe6141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10ef23f870c4206" /><Relationship Type="http://schemas.openxmlformats.org/officeDocument/2006/relationships/notesSlide" Target="/ppt/notesSlides/notesSlide5.xml" Id="R311aaac2050a42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1f916849ba44c99" /><Relationship Type="http://schemas.openxmlformats.org/officeDocument/2006/relationships/notesSlide" Target="/ppt/notesSlides/notesSlide6.xml" Id="Re6de08c3e0db40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2f18dfe70f6490f" /><Relationship Type="http://schemas.openxmlformats.org/officeDocument/2006/relationships/notesSlide" Target="/ppt/notesSlides/notesSlide7.xml" Id="R5b5c8d663a8d46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b00726ca8034315" /><Relationship Type="http://schemas.openxmlformats.org/officeDocument/2006/relationships/notesSlide" Target="/ppt/notesSlides/notesSlide8.xml" Id="R2f19cb8c147f45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7cc9cf3d50d4bde" /><Relationship Type="http://schemas.openxmlformats.org/officeDocument/2006/relationships/notesSlide" Target="/ppt/notesSlides/notesSlide9.xml" Id="R631e6d943cfd49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1d71815960b4a25" /><Relationship Type="http://schemas.openxmlformats.org/officeDocument/2006/relationships/notesSlide" Target="/ppt/notesSlides/notesSlide10.xml" Id="R82a42c4109b74f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4002ef206ead48c2" /><Relationship Type="http://schemas.openxmlformats.org/officeDocument/2006/relationships/notesSlide" Target="/ppt/notesSlides/notesSlide11.xml" Id="R0e9dc75cbcb64c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7474d731fd04464" /><Relationship Type="http://schemas.openxmlformats.org/officeDocument/2006/relationships/notesSlide" Target="/ppt/notesSlides/notesSlide12.xml" Id="Rd51b4c3428e645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8c46342cef6145bf" /><Relationship Type="http://schemas.openxmlformats.org/officeDocument/2006/relationships/notesSlide" Target="/ppt/notesSlides/notesSlide13.xml" Id="Rcc97e8d1c6f74f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aeab5914fc2f40cf" /><Relationship Type="http://schemas.openxmlformats.org/officeDocument/2006/relationships/notesSlide" Target="/ppt/notesSlides/notesSlide14.xml" Id="Rb94ee4dbc17d409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C4996B-DE44-4354-8082-58350A87C5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6E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64BD88C-314F-42C4-A28E-1FD530BED1CB}"/>
              </a:ext>
            </a:extLst>
          </p:cNvPr>
          <p:cNvSpPr>
            <a:spLocks xmlns:a="http://schemas.openxmlformats.org/drawingml/2006/main" noGrp="1"/>
          </p:cNvSpPr>
          <p:nvPr/>
        </p:nvSpPr>
        <p:spPr>
          <a:xfrm xmlns:a="http://schemas.openxmlformats.org/drawingml/2006/main">
            <a:off x="419100" y="381000"/>
            <a:ext cx="47625" cy="876300"/>
          </a:xfrm>
          <a:prstGeom xmlns:a="http://schemas.openxmlformats.org/drawingml/2006/main" prst="rect">
            <a:avLst/>
          </a:prstGeom>
          <a:solidFill xmlns:a="http://schemas.openxmlformats.org/drawingml/2006/main">
            <a:srgbClr val="C4553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26E3996-0A09-4153-96A6-6CDAECB1C028}"/>
              </a:ext>
            </a:extLst>
          </p:cNvPr>
          <p:cNvSpPr>
            <a:spLocks xmlns:a="http://schemas.openxmlformats.org/drawingml/2006/main" noGrp="1"/>
          </p:cNvSpPr>
          <p:nvPr/>
        </p:nvSpPr>
        <p:spPr>
          <a:xfrm xmlns:a="http://schemas.openxmlformats.org/drawingml/2006/main">
            <a:off x="647700" y="400050"/>
            <a:ext cx="704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C4553F"/>
                </a:solidFill>
                <a:latin typeface="Aptos"/>
                <a:ea typeface="Aptos"/>
                <a:cs typeface="Aptos"/>
              </a:defRPr>
            </a:pPr>
            <a:r>
              <a:rPr sz="1200" b="1">
                <a:solidFill>
                  <a:srgbClr val="C4553F"/>
                </a:solidFill>
                <a:latin typeface="Aptos"/>
                <a:ea typeface="Aptos"/>
                <a:cs typeface="Aptos"/>
              </a:rPr>
              <a:t>DAY ONE: NO CODE</a:t>
            </a:r>
          </a:p>
        </p:txBody>
      </p:sp>
      <p:sp>
        <p:nvSpPr>
          <p:cNvPr id="4" name="">
            <a:extLst xmlns:a="http://schemas.openxmlformats.org/drawingml/2006/main">
              <a:ext uri="{FF2B5EF4-FFF2-40B4-BE49-F238E27FC236}">
                <a16:creationId xmlns:a16="http://schemas.microsoft.com/office/drawing/2014/main" id="{47790048-5E04-4AE4-8453-B2CC38B9D72F}"/>
              </a:ext>
            </a:extLst>
          </p:cNvPr>
          <p:cNvSpPr>
            <a:spLocks xmlns:a="http://schemas.openxmlformats.org/drawingml/2006/main" noGrp="1"/>
          </p:cNvSpPr>
          <p:nvPr/>
        </p:nvSpPr>
        <p:spPr>
          <a:xfrm xmlns:a="http://schemas.openxmlformats.org/drawingml/2006/main">
            <a:off x="647700" y="666750"/>
            <a:ext cx="7810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750" b="1">
                <a:solidFill>
                  <a:srgbClr val="17202A"/>
                </a:solidFill>
                <a:latin typeface="Aptos"/>
                <a:ea typeface="Aptos"/>
                <a:cs typeface="Aptos"/>
              </a:defRPr>
            </a:pPr>
            <a:r>
              <a:rPr sz="3750" b="1">
                <a:solidFill>
                  <a:srgbClr val="17202A"/>
                </a:solidFill>
                <a:latin typeface="Aptos"/>
                <a:ea typeface="Aptos"/>
                <a:cs typeface="Aptos"/>
              </a:rPr>
              <a:t>PearlPortal Intern Onboarding</a:t>
            </a:r>
          </a:p>
        </p:txBody>
      </p:sp>
      <p:sp>
        <p:nvSpPr>
          <p:cNvPr id="5" name="">
            <a:extLst xmlns:a="http://schemas.openxmlformats.org/drawingml/2006/main">
              <a:ext uri="{FF2B5EF4-FFF2-40B4-BE49-F238E27FC236}">
                <a16:creationId xmlns:a16="http://schemas.microsoft.com/office/drawing/2014/main" id="{C3DAF3AA-8610-4D5C-A138-59228CF42CE6}"/>
              </a:ext>
            </a:extLst>
          </p:cNvPr>
          <p:cNvSpPr>
            <a:spLocks xmlns:a="http://schemas.openxmlformats.org/drawingml/2006/main" noGrp="1"/>
          </p:cNvSpPr>
          <p:nvPr/>
        </p:nvSpPr>
        <p:spPr>
          <a:xfrm xmlns:a="http://schemas.openxmlformats.org/drawingml/2006/main">
            <a:off x="10001250" y="419100"/>
            <a:ext cx="1657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B6673"/>
                </a:solidFill>
                <a:latin typeface="Aptos"/>
                <a:ea typeface="Aptos"/>
                <a:cs typeface="Aptos"/>
              </a:defRPr>
            </a:pPr>
            <a:r>
              <a:rPr sz="1125" b="0">
                <a:solidFill>
                  <a:srgbClr val="5B6673"/>
                </a:solidFill>
                <a:latin typeface="Aptos"/>
                <a:ea typeface="Aptos"/>
                <a:cs typeface="Aptos"/>
              </a:rPr>
              <a:t>2026-05-04</a:t>
            </a:r>
          </a:p>
        </p:txBody>
      </p:sp>
      <p:sp>
        <p:nvSpPr>
          <p:cNvPr id="6" name="">
            <a:extLst xmlns:a="http://schemas.openxmlformats.org/drawingml/2006/main">
              <a:ext uri="{FF2B5EF4-FFF2-40B4-BE49-F238E27FC236}">
                <a16:creationId xmlns:a16="http://schemas.microsoft.com/office/drawing/2014/main" id="{99814324-B921-4DE1-B43A-1CCA9E7C8379}"/>
              </a:ext>
            </a:extLst>
          </p:cNvPr>
          <p:cNvSpPr>
            <a:spLocks xmlns:a="http://schemas.openxmlformats.org/drawingml/2006/main" noGrp="1"/>
          </p:cNvSpPr>
          <p:nvPr/>
        </p:nvSpPr>
        <p:spPr>
          <a:xfrm xmlns:a="http://schemas.openxmlformats.org/drawingml/2006/main">
            <a:off x="647700" y="1428750"/>
            <a:ext cx="74295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17202A"/>
                </a:solidFill>
                <a:latin typeface="Aptos"/>
                <a:ea typeface="Aptos"/>
                <a:cs typeface="Aptos"/>
              </a:defRPr>
            </a:pPr>
            <a:r>
              <a:rPr sz="1800" b="0">
                <a:solidFill>
                  <a:srgbClr val="17202A"/>
                </a:solidFill>
                <a:latin typeface="Aptos"/>
                <a:ea typeface="Aptos"/>
                <a:cs typeface="Aptos"/>
              </a:rPr>
              <a:t>Today is about learning the system, learning the operating standard, and proving each intern can use Codex without breaking production context.</a:t>
            </a:r>
          </a:p>
        </p:txBody>
      </p:sp>
      <p:sp>
        <p:nvSpPr>
          <p:cNvPr id="7" name="">
            <a:extLst xmlns:a="http://schemas.openxmlformats.org/drawingml/2006/main">
              <a:ext uri="{FF2B5EF4-FFF2-40B4-BE49-F238E27FC236}">
                <a16:creationId xmlns:a16="http://schemas.microsoft.com/office/drawing/2014/main" id="{A2BE7DA0-BBC9-4F14-94F2-B73089D1D019}"/>
              </a:ext>
            </a:extLst>
          </p:cNvPr>
          <p:cNvSpPr>
            <a:spLocks xmlns:a="http://schemas.openxmlformats.org/drawingml/2006/main" noGrp="1"/>
          </p:cNvSpPr>
          <p:nvPr/>
        </p:nvSpPr>
        <p:spPr>
          <a:xfrm xmlns:a="http://schemas.openxmlformats.org/drawingml/2006/main">
            <a:off x="647700" y="2762250"/>
            <a:ext cx="2381250" cy="1504950"/>
          </a:xfrm>
          <a:prstGeom xmlns:a="http://schemas.openxmlformats.org/drawingml/2006/main" prst="rect">
            <a:avLst/>
          </a:prstGeom>
          <a:solidFill xmlns:a="http://schemas.openxmlformats.org/drawingml/2006/main">
            <a:srgbClr val="F5DDD5"/>
          </a:solidFill>
          <a:ln xmlns:a="http://schemas.openxmlformats.org/drawingml/2006/main" w="9525">
            <a:solidFill>
              <a:srgbClr val="D9D4C7"/>
            </a:solidFill>
            <a:prstDash val="solid"/>
          </a:ln>
        </p:spPr>
      </p:sp>
      <p:sp>
        <p:nvSpPr>
          <p:cNvPr id="8" name="">
            <a:extLst xmlns:a="http://schemas.openxmlformats.org/drawingml/2006/main">
              <a:ext uri="{FF2B5EF4-FFF2-40B4-BE49-F238E27FC236}">
                <a16:creationId xmlns:a16="http://schemas.microsoft.com/office/drawing/2014/main" id="{E61B182D-DBCB-4206-B60B-AD7593BF2C5A}"/>
              </a:ext>
            </a:extLst>
          </p:cNvPr>
          <p:cNvSpPr>
            <a:spLocks xmlns:a="http://schemas.openxmlformats.org/drawingml/2006/main" noGrp="1"/>
          </p:cNvSpPr>
          <p:nvPr/>
        </p:nvSpPr>
        <p:spPr>
          <a:xfrm xmlns:a="http://schemas.openxmlformats.org/drawingml/2006/main">
            <a:off x="819150" y="2914650"/>
            <a:ext cx="2038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C4553F"/>
                </a:solidFill>
                <a:latin typeface="Aptos"/>
                <a:ea typeface="Aptos"/>
                <a:cs typeface="Aptos"/>
              </a:defRPr>
            </a:pPr>
            <a:r>
              <a:rPr sz="2325" b="1">
                <a:solidFill>
                  <a:srgbClr val="C4553F"/>
                </a:solidFill>
                <a:latin typeface="Aptos"/>
                <a:ea typeface="Aptos"/>
                <a:cs typeface="Aptos"/>
              </a:rPr>
              <a:t>11-5</a:t>
            </a:r>
          </a:p>
        </p:txBody>
      </p:sp>
      <p:sp>
        <p:nvSpPr>
          <p:cNvPr id="9" name="">
            <a:extLst xmlns:a="http://schemas.openxmlformats.org/drawingml/2006/main">
              <a:ext uri="{FF2B5EF4-FFF2-40B4-BE49-F238E27FC236}">
                <a16:creationId xmlns:a16="http://schemas.microsoft.com/office/drawing/2014/main" id="{2E179F3E-5C4E-4011-AE74-441806BDC51E}"/>
              </a:ext>
            </a:extLst>
          </p:cNvPr>
          <p:cNvSpPr>
            <a:spLocks xmlns:a="http://schemas.openxmlformats.org/drawingml/2006/main" noGrp="1"/>
          </p:cNvSpPr>
          <p:nvPr/>
        </p:nvSpPr>
        <p:spPr>
          <a:xfrm xmlns:a="http://schemas.openxmlformats.org/drawingml/2006/main">
            <a:off x="819150" y="333375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PT working block</a:t>
            </a:r>
          </a:p>
        </p:txBody>
      </p:sp>
      <p:sp>
        <p:nvSpPr>
          <p:cNvPr id="10" name="">
            <a:extLst xmlns:a="http://schemas.openxmlformats.org/drawingml/2006/main">
              <a:ext uri="{FF2B5EF4-FFF2-40B4-BE49-F238E27FC236}">
                <a16:creationId xmlns:a16="http://schemas.microsoft.com/office/drawing/2014/main" id="{81BE592F-0335-4774-A567-FE8726D340BC}"/>
              </a:ext>
            </a:extLst>
          </p:cNvPr>
          <p:cNvSpPr>
            <a:spLocks xmlns:a="http://schemas.openxmlformats.org/drawingml/2006/main" noGrp="1"/>
          </p:cNvSpPr>
          <p:nvPr/>
        </p:nvSpPr>
        <p:spPr>
          <a:xfrm xmlns:a="http://schemas.openxmlformats.org/drawingml/2006/main">
            <a:off x="819150" y="3638550"/>
            <a:ext cx="20383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B6673"/>
                </a:solidFill>
                <a:latin typeface="Aptos"/>
                <a:ea typeface="Aptos"/>
                <a:cs typeface="Aptos"/>
              </a:defRPr>
            </a:pPr>
            <a:r>
              <a:rPr sz="1050" b="0">
                <a:solidFill>
                  <a:srgbClr val="5B6673"/>
                </a:solidFill>
                <a:latin typeface="Aptos"/>
                <a:ea typeface="Aptos"/>
                <a:cs typeface="Aptos"/>
              </a:rPr>
              <a:t>Setup, walkthrough, architecture study, diagram review.</a:t>
            </a:r>
          </a:p>
        </p:txBody>
      </p:sp>
      <p:sp>
        <p:nvSpPr>
          <p:cNvPr id="11" name="">
            <a:extLst xmlns:a="http://schemas.openxmlformats.org/drawingml/2006/main">
              <a:ext uri="{FF2B5EF4-FFF2-40B4-BE49-F238E27FC236}">
                <a16:creationId xmlns:a16="http://schemas.microsoft.com/office/drawing/2014/main" id="{6B6061A2-59F7-408F-9533-DA798F42A2B3}"/>
              </a:ext>
            </a:extLst>
          </p:cNvPr>
          <p:cNvSpPr>
            <a:spLocks xmlns:a="http://schemas.openxmlformats.org/drawingml/2006/main" noGrp="1"/>
          </p:cNvSpPr>
          <p:nvPr/>
        </p:nvSpPr>
        <p:spPr>
          <a:xfrm xmlns:a="http://schemas.openxmlformats.org/drawingml/2006/main">
            <a:off x="3333750" y="2762250"/>
            <a:ext cx="2381250" cy="1504950"/>
          </a:xfrm>
          <a:prstGeom xmlns:a="http://schemas.openxmlformats.org/drawingml/2006/main" prst="rect">
            <a:avLst/>
          </a:prstGeom>
          <a:solidFill xmlns:a="http://schemas.openxmlformats.org/drawingml/2006/main">
            <a:srgbClr val="D8F3EE"/>
          </a:solidFill>
          <a:ln xmlns:a="http://schemas.openxmlformats.org/drawingml/2006/main" w="9525">
            <a:solidFill>
              <a:srgbClr val="D9D4C7"/>
            </a:solidFill>
            <a:prstDash val="solid"/>
          </a:ln>
        </p:spPr>
      </p:sp>
      <p:sp>
        <p:nvSpPr>
          <p:cNvPr id="12" name="">
            <a:extLst xmlns:a="http://schemas.openxmlformats.org/drawingml/2006/main">
              <a:ext uri="{FF2B5EF4-FFF2-40B4-BE49-F238E27FC236}">
                <a16:creationId xmlns:a16="http://schemas.microsoft.com/office/drawing/2014/main" id="{2A4222DA-E2E1-43F0-811E-BE4FED01A69C}"/>
              </a:ext>
            </a:extLst>
          </p:cNvPr>
          <p:cNvSpPr>
            <a:spLocks xmlns:a="http://schemas.openxmlformats.org/drawingml/2006/main" noGrp="1"/>
          </p:cNvSpPr>
          <p:nvPr/>
        </p:nvSpPr>
        <p:spPr>
          <a:xfrm xmlns:a="http://schemas.openxmlformats.org/drawingml/2006/main">
            <a:off x="3505200" y="2914650"/>
            <a:ext cx="2038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F766E"/>
                </a:solidFill>
                <a:latin typeface="Aptos"/>
                <a:ea typeface="Aptos"/>
                <a:cs typeface="Aptos"/>
              </a:defRPr>
            </a:pPr>
            <a:r>
              <a:rPr sz="2325" b="1">
                <a:solidFill>
                  <a:srgbClr val="0F766E"/>
                </a:solidFill>
                <a:latin typeface="Aptos"/>
                <a:ea typeface="Aptos"/>
                <a:cs typeface="Aptos"/>
              </a:rPr>
              <a:t>0</a:t>
            </a:r>
          </a:p>
        </p:txBody>
      </p:sp>
      <p:sp>
        <p:nvSpPr>
          <p:cNvPr id="13" name="">
            <a:extLst xmlns:a="http://schemas.openxmlformats.org/drawingml/2006/main">
              <a:ext uri="{FF2B5EF4-FFF2-40B4-BE49-F238E27FC236}">
                <a16:creationId xmlns:a16="http://schemas.microsoft.com/office/drawing/2014/main" id="{FE8A579B-D773-4A04-8108-2A617BF05DCB}"/>
              </a:ext>
            </a:extLst>
          </p:cNvPr>
          <p:cNvSpPr>
            <a:spLocks xmlns:a="http://schemas.openxmlformats.org/drawingml/2006/main" noGrp="1"/>
          </p:cNvSpPr>
          <p:nvPr/>
        </p:nvSpPr>
        <p:spPr>
          <a:xfrm xmlns:a="http://schemas.openxmlformats.org/drawingml/2006/main">
            <a:off x="3505200" y="333375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code changes</a:t>
            </a:r>
          </a:p>
        </p:txBody>
      </p:sp>
      <p:sp>
        <p:nvSpPr>
          <p:cNvPr id="14" name="">
            <a:extLst xmlns:a="http://schemas.openxmlformats.org/drawingml/2006/main">
              <a:ext uri="{FF2B5EF4-FFF2-40B4-BE49-F238E27FC236}">
                <a16:creationId xmlns:a16="http://schemas.microsoft.com/office/drawing/2014/main" id="{6398A243-D082-43B9-922D-0C37553287FE}"/>
              </a:ext>
            </a:extLst>
          </p:cNvPr>
          <p:cNvSpPr>
            <a:spLocks xmlns:a="http://schemas.openxmlformats.org/drawingml/2006/main" noGrp="1"/>
          </p:cNvSpPr>
          <p:nvPr/>
        </p:nvSpPr>
        <p:spPr>
          <a:xfrm xmlns:a="http://schemas.openxmlformats.org/drawingml/2006/main">
            <a:off x="3505200" y="3638550"/>
            <a:ext cx="20383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B6673"/>
                </a:solidFill>
                <a:latin typeface="Aptos"/>
                <a:ea typeface="Aptos"/>
                <a:cs typeface="Aptos"/>
              </a:defRPr>
            </a:pPr>
            <a:r>
              <a:rPr sz="1050" b="0">
                <a:solidFill>
                  <a:srgbClr val="5B6673"/>
                </a:solidFill>
                <a:latin typeface="Aptos"/>
                <a:ea typeface="Aptos"/>
                <a:cs typeface="Aptos"/>
              </a:rPr>
              <a:t>No branches, PRs, database changes, or production mutations today.</a:t>
            </a:r>
          </a:p>
        </p:txBody>
      </p:sp>
      <p:sp>
        <p:nvSpPr>
          <p:cNvPr id="15" name="">
            <a:extLst xmlns:a="http://schemas.openxmlformats.org/drawingml/2006/main">
              <a:ext uri="{FF2B5EF4-FFF2-40B4-BE49-F238E27FC236}">
                <a16:creationId xmlns:a16="http://schemas.microsoft.com/office/drawing/2014/main" id="{386032F1-7B80-4A8F-B056-8EE067DBEED8}"/>
              </a:ext>
            </a:extLst>
          </p:cNvPr>
          <p:cNvSpPr>
            <a:spLocks xmlns:a="http://schemas.openxmlformats.org/drawingml/2006/main" noGrp="1"/>
          </p:cNvSpPr>
          <p:nvPr/>
        </p:nvSpPr>
        <p:spPr>
          <a:xfrm xmlns:a="http://schemas.openxmlformats.org/drawingml/2006/main">
            <a:off x="6019800" y="2762250"/>
            <a:ext cx="2381250" cy="1504950"/>
          </a:xfrm>
          <a:prstGeom xmlns:a="http://schemas.openxmlformats.org/drawingml/2006/main" prst="rect">
            <a:avLst/>
          </a:prstGeom>
          <a:solidFill xmlns:a="http://schemas.openxmlformats.org/drawingml/2006/main">
            <a:srgbClr val="E4DFF4"/>
          </a:solidFill>
          <a:ln xmlns:a="http://schemas.openxmlformats.org/drawingml/2006/main" w="9525">
            <a:solidFill>
              <a:srgbClr val="D9D4C7"/>
            </a:solidFill>
            <a:prstDash val="solid"/>
          </a:ln>
        </p:spPr>
      </p:sp>
      <p:sp>
        <p:nvSpPr>
          <p:cNvPr id="16" name="">
            <a:extLst xmlns:a="http://schemas.openxmlformats.org/drawingml/2006/main">
              <a:ext uri="{FF2B5EF4-FFF2-40B4-BE49-F238E27FC236}">
                <a16:creationId xmlns:a16="http://schemas.microsoft.com/office/drawing/2014/main" id="{474D0850-6226-4407-BA62-10736F6571CB}"/>
              </a:ext>
            </a:extLst>
          </p:cNvPr>
          <p:cNvSpPr>
            <a:spLocks xmlns:a="http://schemas.openxmlformats.org/drawingml/2006/main" noGrp="1"/>
          </p:cNvSpPr>
          <p:nvPr/>
        </p:nvSpPr>
        <p:spPr>
          <a:xfrm xmlns:a="http://schemas.openxmlformats.org/drawingml/2006/main">
            <a:off x="6191250" y="2914650"/>
            <a:ext cx="2038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5B4B8A"/>
                </a:solidFill>
                <a:latin typeface="Aptos"/>
                <a:ea typeface="Aptos"/>
                <a:cs typeface="Aptos"/>
              </a:defRPr>
            </a:pPr>
            <a:r>
              <a:rPr sz="2325" b="1">
                <a:solidFill>
                  <a:srgbClr val="5B4B8A"/>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168E9B7C-91AB-4E58-AD86-6C020F0499E6}"/>
              </a:ext>
            </a:extLst>
          </p:cNvPr>
          <p:cNvSpPr>
            <a:spLocks xmlns:a="http://schemas.openxmlformats.org/drawingml/2006/main" noGrp="1"/>
          </p:cNvSpPr>
          <p:nvPr/>
        </p:nvSpPr>
        <p:spPr>
          <a:xfrm xmlns:a="http://schemas.openxmlformats.org/drawingml/2006/main">
            <a:off x="6191250" y="333375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diagram deliverable</a:t>
            </a:r>
          </a:p>
        </p:txBody>
      </p:sp>
      <p:sp>
        <p:nvSpPr>
          <p:cNvPr id="18" name="">
            <a:extLst xmlns:a="http://schemas.openxmlformats.org/drawingml/2006/main">
              <a:ext uri="{FF2B5EF4-FFF2-40B4-BE49-F238E27FC236}">
                <a16:creationId xmlns:a16="http://schemas.microsoft.com/office/drawing/2014/main" id="{A1ED122F-D86F-4766-81D6-1FE56FBE0EC6}"/>
              </a:ext>
            </a:extLst>
          </p:cNvPr>
          <p:cNvSpPr>
            <a:spLocks xmlns:a="http://schemas.openxmlformats.org/drawingml/2006/main" noGrp="1"/>
          </p:cNvSpPr>
          <p:nvPr/>
        </p:nvSpPr>
        <p:spPr>
          <a:xfrm xmlns:a="http://schemas.openxmlformats.org/drawingml/2006/main">
            <a:off x="6191250" y="3638550"/>
            <a:ext cx="20383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B6673"/>
                </a:solidFill>
                <a:latin typeface="Aptos"/>
                <a:ea typeface="Aptos"/>
                <a:cs typeface="Aptos"/>
              </a:defRPr>
            </a:pPr>
            <a:r>
              <a:rPr sz="1050" b="0">
                <a:solidFill>
                  <a:srgbClr val="5B6673"/>
                </a:solidFill>
                <a:latin typeface="Aptos"/>
                <a:ea typeface="Aptos"/>
                <a:cs typeface="Aptos"/>
              </a:rPr>
              <a:t>Each intern leaves with a PearlPortal system map and questions.</a:t>
            </a:r>
          </a:p>
        </p:txBody>
      </p:sp>
      <p:sp>
        <p:nvSpPr>
          <p:cNvPr id="19" name="">
            <a:extLst xmlns:a="http://schemas.openxmlformats.org/drawingml/2006/main">
              <a:ext uri="{FF2B5EF4-FFF2-40B4-BE49-F238E27FC236}">
                <a16:creationId xmlns:a16="http://schemas.microsoft.com/office/drawing/2014/main" id="{A9537B68-6F3B-46CF-A401-ABA9C1475C9A}"/>
              </a:ext>
            </a:extLst>
          </p:cNvPr>
          <p:cNvSpPr>
            <a:spLocks xmlns:a="http://schemas.openxmlformats.org/drawingml/2006/main" noGrp="1"/>
          </p:cNvSpPr>
          <p:nvPr/>
        </p:nvSpPr>
        <p:spPr>
          <a:xfrm xmlns:a="http://schemas.openxmlformats.org/drawingml/2006/main">
            <a:off x="8705850" y="2762250"/>
            <a:ext cx="2381250" cy="1504950"/>
          </a:xfrm>
          <a:prstGeom xmlns:a="http://schemas.openxmlformats.org/drawingml/2006/main" prst="rect">
            <a:avLst/>
          </a:prstGeom>
          <a:solidFill xmlns:a="http://schemas.openxmlformats.org/drawingml/2006/main">
            <a:srgbClr val="E6EBD2"/>
          </a:solidFill>
          <a:ln xmlns:a="http://schemas.openxmlformats.org/drawingml/2006/main" w="9525">
            <a:solidFill>
              <a:srgbClr val="D9D4C7"/>
            </a:solidFill>
            <a:prstDash val="solid"/>
          </a:ln>
        </p:spPr>
      </p:sp>
      <p:sp>
        <p:nvSpPr>
          <p:cNvPr id="20" name="">
            <a:extLst xmlns:a="http://schemas.openxmlformats.org/drawingml/2006/main">
              <a:ext uri="{FF2B5EF4-FFF2-40B4-BE49-F238E27FC236}">
                <a16:creationId xmlns:a16="http://schemas.microsoft.com/office/drawing/2014/main" id="{38076457-77AA-4D80-A078-996266ACCF18}"/>
              </a:ext>
            </a:extLst>
          </p:cNvPr>
          <p:cNvSpPr>
            <a:spLocks xmlns:a="http://schemas.openxmlformats.org/drawingml/2006/main" noGrp="1"/>
          </p:cNvSpPr>
          <p:nvPr/>
        </p:nvSpPr>
        <p:spPr>
          <a:xfrm xmlns:a="http://schemas.openxmlformats.org/drawingml/2006/main">
            <a:off x="8877300" y="2914650"/>
            <a:ext cx="2038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556B2F"/>
                </a:solidFill>
                <a:latin typeface="Aptos"/>
                <a:ea typeface="Aptos"/>
                <a:cs typeface="Aptos"/>
              </a:defRPr>
            </a:pPr>
            <a:r>
              <a:rPr sz="2325" b="1">
                <a:solidFill>
                  <a:srgbClr val="556B2F"/>
                </a:solidFill>
                <a:latin typeface="Aptos"/>
                <a:ea typeface="Aptos"/>
                <a:cs typeface="Aptos"/>
              </a:rPr>
              <a:t>AI</a:t>
            </a:r>
          </a:p>
        </p:txBody>
      </p:sp>
      <p:sp>
        <p:nvSpPr>
          <p:cNvPr id="21" name="">
            <a:extLst xmlns:a="http://schemas.openxmlformats.org/drawingml/2006/main">
              <a:ext uri="{FF2B5EF4-FFF2-40B4-BE49-F238E27FC236}">
                <a16:creationId xmlns:a16="http://schemas.microsoft.com/office/drawing/2014/main" id="{E73CDCA5-EF47-4D38-89FF-E874DC784423}"/>
              </a:ext>
            </a:extLst>
          </p:cNvPr>
          <p:cNvSpPr>
            <a:spLocks xmlns:a="http://schemas.openxmlformats.org/drawingml/2006/main" noGrp="1"/>
          </p:cNvSpPr>
          <p:nvPr/>
        </p:nvSpPr>
        <p:spPr>
          <a:xfrm xmlns:a="http://schemas.openxmlformats.org/drawingml/2006/main">
            <a:off x="8877300" y="3333750"/>
            <a:ext cx="203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as workbench</a:t>
            </a:r>
          </a:p>
        </p:txBody>
      </p:sp>
      <p:sp>
        <p:nvSpPr>
          <p:cNvPr id="22" name="">
            <a:extLst xmlns:a="http://schemas.openxmlformats.org/drawingml/2006/main">
              <a:ext uri="{FF2B5EF4-FFF2-40B4-BE49-F238E27FC236}">
                <a16:creationId xmlns:a16="http://schemas.microsoft.com/office/drawing/2014/main" id="{E9A354ED-C22B-42F7-B529-67EFEF505354}"/>
              </a:ext>
            </a:extLst>
          </p:cNvPr>
          <p:cNvSpPr>
            <a:spLocks xmlns:a="http://schemas.openxmlformats.org/drawingml/2006/main" noGrp="1"/>
          </p:cNvSpPr>
          <p:nvPr/>
        </p:nvSpPr>
        <p:spPr>
          <a:xfrm xmlns:a="http://schemas.openxmlformats.org/drawingml/2006/main">
            <a:off x="8877300" y="3638550"/>
            <a:ext cx="20383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B6673"/>
                </a:solidFill>
                <a:latin typeface="Aptos"/>
                <a:ea typeface="Aptos"/>
                <a:cs typeface="Aptos"/>
              </a:defRPr>
            </a:pPr>
            <a:r>
              <a:rPr sz="1050" b="0">
                <a:solidFill>
                  <a:srgbClr val="5B6673"/>
                </a:solidFill>
                <a:latin typeface="Aptos"/>
                <a:ea typeface="Aptos"/>
                <a:cs typeface="Aptos"/>
              </a:rPr>
              <a:t>Codex drives exploration; humans verify, decide, and communicate.</a:t>
            </a:r>
          </a:p>
        </p:txBody>
      </p:sp>
      <p:sp>
        <p:nvSpPr>
          <p:cNvPr id="23" name="">
            <a:extLst xmlns:a="http://schemas.openxmlformats.org/drawingml/2006/main">
              <a:ext uri="{FF2B5EF4-FFF2-40B4-BE49-F238E27FC236}">
                <a16:creationId xmlns:a16="http://schemas.microsoft.com/office/drawing/2014/main" id="{8519CFC0-817D-4E88-A6A0-A06F8DE5B274}"/>
              </a:ext>
            </a:extLst>
          </p:cNvPr>
          <p:cNvSpPr>
            <a:spLocks xmlns:a="http://schemas.openxmlformats.org/drawingml/2006/main" noGrp="1"/>
          </p:cNvSpPr>
          <p:nvPr/>
        </p:nvSpPr>
        <p:spPr>
          <a:xfrm xmlns:a="http://schemas.openxmlformats.org/drawingml/2006/main">
            <a:off x="647700" y="4810125"/>
            <a:ext cx="1809750" cy="285750"/>
          </a:xfrm>
          <a:prstGeom xmlns:a="http://schemas.openxmlformats.org/drawingml/2006/main" prst="rect">
            <a:avLst/>
          </a:prstGeom>
          <a:solidFill xmlns:a="http://schemas.openxmlformats.org/drawingml/2006/main">
            <a:srgbClr val="D8F3EE"/>
          </a:solidFill>
          <a:ln xmlns:a="http://schemas.openxmlformats.org/drawingml/2006/main" w="9525">
            <a:solidFill>
              <a:srgbClr val="D8F3EE"/>
            </a:solidFill>
            <a:prstDash val="solid"/>
          </a:ln>
        </p:spPr>
      </p:sp>
      <p:sp>
        <p:nvSpPr>
          <p:cNvPr id="24" name="">
            <a:extLst xmlns:a="http://schemas.openxmlformats.org/drawingml/2006/main">
              <a:ext uri="{FF2B5EF4-FFF2-40B4-BE49-F238E27FC236}">
                <a16:creationId xmlns:a16="http://schemas.microsoft.com/office/drawing/2014/main" id="{6FC5BF9D-800A-4D66-A3C4-339A9752012C}"/>
              </a:ext>
            </a:extLst>
          </p:cNvPr>
          <p:cNvSpPr>
            <a:spLocks xmlns:a="http://schemas.openxmlformats.org/drawingml/2006/main" noGrp="1"/>
          </p:cNvSpPr>
          <p:nvPr/>
        </p:nvSpPr>
        <p:spPr>
          <a:xfrm xmlns:a="http://schemas.openxmlformats.org/drawingml/2006/main">
            <a:off x="762000" y="4867275"/>
            <a:ext cx="1581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0F766E"/>
                </a:solidFill>
                <a:latin typeface="Aptos"/>
                <a:ea typeface="Aptos"/>
                <a:cs typeface="Aptos"/>
              </a:defRPr>
            </a:pPr>
            <a:r>
              <a:rPr sz="975" b="1">
                <a:solidFill>
                  <a:srgbClr val="0F766E"/>
                </a:solidFill>
                <a:latin typeface="Aptos"/>
                <a:ea typeface="Aptos"/>
                <a:cs typeface="Aptos"/>
              </a:rPr>
              <a:t>Codex first</a:t>
            </a:r>
          </a:p>
        </p:txBody>
      </p:sp>
      <p:sp>
        <p:nvSpPr>
          <p:cNvPr id="25" name="">
            <a:extLst xmlns:a="http://schemas.openxmlformats.org/drawingml/2006/main">
              <a:ext uri="{FF2B5EF4-FFF2-40B4-BE49-F238E27FC236}">
                <a16:creationId xmlns:a16="http://schemas.microsoft.com/office/drawing/2014/main" id="{C0D9781E-3039-469C-A08B-ED8F92C9ADB3}"/>
              </a:ext>
            </a:extLst>
          </p:cNvPr>
          <p:cNvSpPr>
            <a:spLocks xmlns:a="http://schemas.openxmlformats.org/drawingml/2006/main" noGrp="1"/>
          </p:cNvSpPr>
          <p:nvPr/>
        </p:nvSpPr>
        <p:spPr>
          <a:xfrm xmlns:a="http://schemas.openxmlformats.org/drawingml/2006/main">
            <a:off x="2667000" y="4810125"/>
            <a:ext cx="2000250" cy="285750"/>
          </a:xfrm>
          <a:prstGeom xmlns:a="http://schemas.openxmlformats.org/drawingml/2006/main" prst="rect">
            <a:avLst/>
          </a:prstGeom>
          <a:solidFill xmlns:a="http://schemas.openxmlformats.org/drawingml/2006/main">
            <a:srgbClr val="F6E6BE"/>
          </a:solidFill>
          <a:ln xmlns:a="http://schemas.openxmlformats.org/drawingml/2006/main" w="9525">
            <a:solidFill>
              <a:srgbClr val="F6E6BE"/>
            </a:solidFill>
            <a:prstDash val="solid"/>
          </a:ln>
        </p:spPr>
      </p:sp>
      <p:sp>
        <p:nvSpPr>
          <p:cNvPr id="26" name="">
            <a:extLst xmlns:a="http://schemas.openxmlformats.org/drawingml/2006/main">
              <a:ext uri="{FF2B5EF4-FFF2-40B4-BE49-F238E27FC236}">
                <a16:creationId xmlns:a16="http://schemas.microsoft.com/office/drawing/2014/main" id="{344A1901-BAE7-481E-8CAB-AFF5B5194119}"/>
              </a:ext>
            </a:extLst>
          </p:cNvPr>
          <p:cNvSpPr>
            <a:spLocks xmlns:a="http://schemas.openxmlformats.org/drawingml/2006/main" noGrp="1"/>
          </p:cNvSpPr>
          <p:nvPr/>
        </p:nvSpPr>
        <p:spPr>
          <a:xfrm xmlns:a="http://schemas.openxmlformats.org/drawingml/2006/main">
            <a:off x="2781300" y="4867275"/>
            <a:ext cx="1771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B7791F"/>
                </a:solidFill>
                <a:latin typeface="Aptos"/>
                <a:ea typeface="Aptos"/>
                <a:cs typeface="Aptos"/>
              </a:defRPr>
            </a:pPr>
            <a:r>
              <a:rPr sz="975" b="1">
                <a:solidFill>
                  <a:srgbClr val="B7791F"/>
                </a:solidFill>
                <a:latin typeface="Aptos"/>
                <a:ea typeface="Aptos"/>
                <a:cs typeface="Aptos"/>
              </a:rPr>
              <a:t>Evidence over vibes</a:t>
            </a:r>
          </a:p>
        </p:txBody>
      </p:sp>
      <p:sp>
        <p:nvSpPr>
          <p:cNvPr id="27" name="">
            <a:extLst xmlns:a="http://schemas.openxmlformats.org/drawingml/2006/main">
              <a:ext uri="{FF2B5EF4-FFF2-40B4-BE49-F238E27FC236}">
                <a16:creationId xmlns:a16="http://schemas.microsoft.com/office/drawing/2014/main" id="{B35598F1-2319-4B48-B5DB-9CBA1238A977}"/>
              </a:ext>
            </a:extLst>
          </p:cNvPr>
          <p:cNvSpPr>
            <a:spLocks xmlns:a="http://schemas.openxmlformats.org/drawingml/2006/main" noGrp="1"/>
          </p:cNvSpPr>
          <p:nvPr/>
        </p:nvSpPr>
        <p:spPr>
          <a:xfrm xmlns:a="http://schemas.openxmlformats.org/drawingml/2006/main">
            <a:off x="4876800" y="4810125"/>
            <a:ext cx="2000250" cy="285750"/>
          </a:xfrm>
          <a:prstGeom xmlns:a="http://schemas.openxmlformats.org/drawingml/2006/main" prst="rect">
            <a:avLst/>
          </a:prstGeom>
          <a:solidFill xmlns:a="http://schemas.openxmlformats.org/drawingml/2006/main">
            <a:srgbClr val="F5DDD5"/>
          </a:solidFill>
          <a:ln xmlns:a="http://schemas.openxmlformats.org/drawingml/2006/main" w="9525">
            <a:solidFill>
              <a:srgbClr val="F5DDD5"/>
            </a:solidFill>
            <a:prstDash val="solid"/>
          </a:ln>
        </p:spPr>
      </p:sp>
      <p:sp>
        <p:nvSpPr>
          <p:cNvPr id="28" name="">
            <a:extLst xmlns:a="http://schemas.openxmlformats.org/drawingml/2006/main">
              <a:ext uri="{FF2B5EF4-FFF2-40B4-BE49-F238E27FC236}">
                <a16:creationId xmlns:a16="http://schemas.microsoft.com/office/drawing/2014/main" id="{4EDA547B-F7E7-48B2-9386-AE3EF199ADA7}"/>
              </a:ext>
            </a:extLst>
          </p:cNvPr>
          <p:cNvSpPr>
            <a:spLocks xmlns:a="http://schemas.openxmlformats.org/drawingml/2006/main" noGrp="1"/>
          </p:cNvSpPr>
          <p:nvPr/>
        </p:nvSpPr>
        <p:spPr>
          <a:xfrm xmlns:a="http://schemas.openxmlformats.org/drawingml/2006/main">
            <a:off x="4991100" y="4867275"/>
            <a:ext cx="1771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C4553F"/>
                </a:solidFill>
                <a:latin typeface="Aptos"/>
                <a:ea typeface="Aptos"/>
                <a:cs typeface="Aptos"/>
              </a:defRPr>
            </a:pPr>
            <a:r>
              <a:rPr sz="975" b="1">
                <a:solidFill>
                  <a:srgbClr val="C4553F"/>
                </a:solidFill>
                <a:latin typeface="Aptos"/>
                <a:ea typeface="Aptos"/>
                <a:cs typeface="Aptos"/>
              </a:rPr>
              <a:t>No secret printing</a:t>
            </a:r>
          </a:p>
        </p:txBody>
      </p:sp>
      <p:sp>
        <p:nvSpPr>
          <p:cNvPr id="29" name="">
            <a:extLst xmlns:a="http://schemas.openxmlformats.org/drawingml/2006/main">
              <a:ext uri="{FF2B5EF4-FFF2-40B4-BE49-F238E27FC236}">
                <a16:creationId xmlns:a16="http://schemas.microsoft.com/office/drawing/2014/main" id="{5F9D88BA-AB2E-4DE9-8249-7BBBA074E436}"/>
              </a:ext>
            </a:extLst>
          </p:cNvPr>
          <p:cNvSpPr>
            <a:spLocks xmlns:a="http://schemas.openxmlformats.org/drawingml/2006/main" noGrp="1"/>
          </p:cNvSpPr>
          <p:nvPr/>
        </p:nvSpPr>
        <p:spPr>
          <a:xfrm xmlns:a="http://schemas.openxmlformats.org/drawingml/2006/main">
            <a:off x="7086600" y="4810125"/>
            <a:ext cx="2000250" cy="285750"/>
          </a:xfrm>
          <a:prstGeom xmlns:a="http://schemas.openxmlformats.org/drawingml/2006/main" prst="rect">
            <a:avLst/>
          </a:prstGeom>
          <a:solidFill xmlns:a="http://schemas.openxmlformats.org/drawingml/2006/main">
            <a:srgbClr val="E4DFF4"/>
          </a:solidFill>
          <a:ln xmlns:a="http://schemas.openxmlformats.org/drawingml/2006/main" w="9525">
            <a:solidFill>
              <a:srgbClr val="E4DFF4"/>
            </a:solidFill>
            <a:prstDash val="solid"/>
          </a:ln>
        </p:spPr>
      </p:sp>
      <p:sp>
        <p:nvSpPr>
          <p:cNvPr id="30" name="">
            <a:extLst xmlns:a="http://schemas.openxmlformats.org/drawingml/2006/main">
              <a:ext uri="{FF2B5EF4-FFF2-40B4-BE49-F238E27FC236}">
                <a16:creationId xmlns:a16="http://schemas.microsoft.com/office/drawing/2014/main" id="{FCEB2E5F-0D9E-49C5-BBD1-D7A80C9A13E5}"/>
              </a:ext>
            </a:extLst>
          </p:cNvPr>
          <p:cNvSpPr>
            <a:spLocks xmlns:a="http://schemas.openxmlformats.org/drawingml/2006/main" noGrp="1"/>
          </p:cNvSpPr>
          <p:nvPr/>
        </p:nvSpPr>
        <p:spPr>
          <a:xfrm xmlns:a="http://schemas.openxmlformats.org/drawingml/2006/main">
            <a:off x="7200900" y="4867275"/>
            <a:ext cx="1771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5B4B8A"/>
                </a:solidFill>
                <a:latin typeface="Aptos"/>
                <a:ea typeface="Aptos"/>
                <a:cs typeface="Aptos"/>
              </a:defRPr>
            </a:pPr>
            <a:r>
              <a:rPr sz="975" b="1">
                <a:solidFill>
                  <a:srgbClr val="5B4B8A"/>
                </a:solidFill>
                <a:latin typeface="Aptos"/>
                <a:ea typeface="Aptos"/>
                <a:cs typeface="Aptos"/>
              </a:rPr>
              <a:t>Diagram before code</a:t>
            </a:r>
          </a:p>
        </p:txBody>
      </p:sp>
      <p:sp>
        <p:nvSpPr>
          <p:cNvPr id="31" name="">
            <a:extLst xmlns:a="http://schemas.openxmlformats.org/drawingml/2006/main">
              <a:ext uri="{FF2B5EF4-FFF2-40B4-BE49-F238E27FC236}">
                <a16:creationId xmlns:a16="http://schemas.microsoft.com/office/drawing/2014/main" id="{A1608BD9-802E-4154-9CBD-328C327F528D}"/>
              </a:ext>
            </a:extLst>
          </p:cNvPr>
          <p:cNvSpPr>
            <a:spLocks xmlns:a="http://schemas.openxmlformats.org/drawingml/2006/main" noGrp="1"/>
          </p:cNvSpPr>
          <p:nvPr/>
        </p:nvSpPr>
        <p:spPr>
          <a:xfrm xmlns:a="http://schemas.openxmlformats.org/drawingml/2006/main">
            <a:off x="647700" y="6362700"/>
            <a:ext cx="10363200" cy="9525"/>
          </a:xfrm>
          <a:prstGeom xmlns:a="http://schemas.openxmlformats.org/drawingml/2006/main" prst="rect">
            <a:avLst/>
          </a:prstGeom>
          <a:solidFill xmlns:a="http://schemas.openxmlformats.org/drawingml/2006/main">
            <a:srgbClr val="D9D4C7"/>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DA2F45C9-2FFC-42EA-9050-740A2D0CAE95}"/>
              </a:ext>
            </a:extLst>
          </p:cNvPr>
          <p:cNvSpPr>
            <a:spLocks xmlns:a="http://schemas.openxmlformats.org/drawingml/2006/main" noGrp="1"/>
          </p:cNvSpPr>
          <p:nvPr/>
        </p:nvSpPr>
        <p:spPr>
          <a:xfrm xmlns:a="http://schemas.openxmlformats.org/drawingml/2006/main">
            <a:off x="647700" y="64579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673"/>
                </a:solidFill>
                <a:latin typeface="Aptos"/>
                <a:ea typeface="Aptos"/>
                <a:cs typeface="Aptos"/>
              </a:defRPr>
            </a:pPr>
            <a:r>
              <a:rPr sz="975" b="0">
                <a:solidFill>
                  <a:srgbClr val="5B6673"/>
                </a:solidFill>
                <a:latin typeface="Aptos"/>
                <a:ea typeface="Aptos"/>
                <a:cs typeface="Aptos"/>
              </a:rPr>
              <a:t>PearlPortal intern onboarding</a:t>
            </a:r>
          </a:p>
        </p:txBody>
      </p:sp>
      <p:sp>
        <p:nvSpPr>
          <p:cNvPr id="33" name="">
            <a:extLst xmlns:a="http://schemas.openxmlformats.org/drawingml/2006/main">
              <a:ext uri="{FF2B5EF4-FFF2-40B4-BE49-F238E27FC236}">
                <a16:creationId xmlns:a16="http://schemas.microsoft.com/office/drawing/2014/main" id="{67DA41F4-5F78-46DC-9FBA-F37A2CDD9747}"/>
              </a:ext>
            </a:extLst>
          </p:cNvPr>
          <p:cNvSpPr>
            <a:spLocks xmlns:a="http://schemas.openxmlformats.org/drawingml/2006/main" noGrp="1"/>
          </p:cNvSpPr>
          <p:nvPr/>
        </p:nvSpPr>
        <p:spPr>
          <a:xfrm xmlns:a="http://schemas.openxmlformats.org/drawingml/2006/main">
            <a:off x="10382250" y="64579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673"/>
                </a:solidFill>
                <a:latin typeface="Aptos"/>
                <a:ea typeface="Aptos"/>
                <a:cs typeface="Aptos"/>
              </a:defRPr>
            </a:pPr>
            <a:r>
              <a:rPr sz="975" b="0">
                <a:solidFill>
                  <a:srgbClr val="5B6673"/>
                </a:solidFill>
                <a:latin typeface="Aptos"/>
                <a:ea typeface="Aptos"/>
                <a:cs typeface="Aptos"/>
              </a:rPr>
              <a:t>01</a:t>
            </a:r>
          </a:p>
        </p:txBody>
      </p:sp>
    </p:spTree>
    <p:extLst>
      <p:ext uri="{BB962C8B-B14F-4D97-AF65-F5344CB8AC3E}">
        <p14:creationId xmlns:p14="http://schemas.microsoft.com/office/powerpoint/2010/main" val="191790395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37ED86-3E62-4278-AC7D-19FBEEBAE9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6E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095C13F-F191-4E25-AF36-5D0645F958C5}"/>
              </a:ext>
            </a:extLst>
          </p:cNvPr>
          <p:cNvSpPr>
            <a:spLocks xmlns:a="http://schemas.openxmlformats.org/drawingml/2006/main" noGrp="1"/>
          </p:cNvSpPr>
          <p:nvPr/>
        </p:nvSpPr>
        <p:spPr>
          <a:xfrm xmlns:a="http://schemas.openxmlformats.org/drawingml/2006/main">
            <a:off x="419100" y="381000"/>
            <a:ext cx="47625" cy="8763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87AEABF-425F-4085-858F-27A47685ADAE}"/>
              </a:ext>
            </a:extLst>
          </p:cNvPr>
          <p:cNvSpPr>
            <a:spLocks xmlns:a="http://schemas.openxmlformats.org/drawingml/2006/main" noGrp="1"/>
          </p:cNvSpPr>
          <p:nvPr/>
        </p:nvSpPr>
        <p:spPr>
          <a:xfrm xmlns:a="http://schemas.openxmlformats.org/drawingml/2006/main">
            <a:off x="647700" y="400050"/>
            <a:ext cx="704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766E"/>
                </a:solidFill>
                <a:latin typeface="Aptos"/>
                <a:ea typeface="Aptos"/>
                <a:cs typeface="Aptos"/>
              </a:defRPr>
            </a:pPr>
            <a:r>
              <a:rPr sz="1200" b="1">
                <a:solidFill>
                  <a:srgbClr val="0F766E"/>
                </a:solidFill>
                <a:latin typeface="Aptos"/>
                <a:ea typeface="Aptos"/>
                <a:cs typeface="Aptos"/>
              </a:rPr>
              <a:t>OUTCOME</a:t>
            </a:r>
          </a:p>
        </p:txBody>
      </p:sp>
      <p:sp>
        <p:nvSpPr>
          <p:cNvPr id="4" name="">
            <a:extLst xmlns:a="http://schemas.openxmlformats.org/drawingml/2006/main">
              <a:ext uri="{FF2B5EF4-FFF2-40B4-BE49-F238E27FC236}">
                <a16:creationId xmlns:a16="http://schemas.microsoft.com/office/drawing/2014/main" id="{F52A4F48-7310-4C7B-B671-6569F6D6C17D}"/>
              </a:ext>
            </a:extLst>
          </p:cNvPr>
          <p:cNvSpPr>
            <a:spLocks xmlns:a="http://schemas.openxmlformats.org/drawingml/2006/main" noGrp="1"/>
          </p:cNvSpPr>
          <p:nvPr/>
        </p:nvSpPr>
        <p:spPr>
          <a:xfrm xmlns:a="http://schemas.openxmlformats.org/drawingml/2006/main">
            <a:off x="647700" y="666750"/>
            <a:ext cx="7810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7202A"/>
                </a:solidFill>
                <a:latin typeface="Aptos"/>
                <a:ea typeface="Aptos"/>
                <a:cs typeface="Aptos"/>
              </a:defRPr>
            </a:pPr>
            <a:r>
              <a:rPr sz="3300" b="1">
                <a:solidFill>
                  <a:srgbClr val="17202A"/>
                </a:solidFill>
                <a:latin typeface="Aptos"/>
                <a:ea typeface="Aptos"/>
                <a:cs typeface="Aptos"/>
              </a:rPr>
              <a:t>What interns must understand by 5 PM</a:t>
            </a:r>
          </a:p>
        </p:txBody>
      </p:sp>
      <p:sp>
        <p:nvSpPr>
          <p:cNvPr id="5" name="">
            <a:extLst xmlns:a="http://schemas.openxmlformats.org/drawingml/2006/main">
              <a:ext uri="{FF2B5EF4-FFF2-40B4-BE49-F238E27FC236}">
                <a16:creationId xmlns:a16="http://schemas.microsoft.com/office/drawing/2014/main" id="{A9848C9B-CF71-4787-8E91-C6D655002EAC}"/>
              </a:ext>
            </a:extLst>
          </p:cNvPr>
          <p:cNvSpPr>
            <a:spLocks xmlns:a="http://schemas.openxmlformats.org/drawingml/2006/main" noGrp="1"/>
          </p:cNvSpPr>
          <p:nvPr/>
        </p:nvSpPr>
        <p:spPr>
          <a:xfrm xmlns:a="http://schemas.openxmlformats.org/drawingml/2006/main">
            <a:off x="10001250" y="419100"/>
            <a:ext cx="1657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B6673"/>
                </a:solidFill>
                <a:latin typeface="Aptos"/>
                <a:ea typeface="Aptos"/>
                <a:cs typeface="Aptos"/>
              </a:defRPr>
            </a:pPr>
            <a:r>
              <a:rPr sz="1125" b="0">
                <a:solidFill>
                  <a:srgbClr val="5B6673"/>
                </a:solidFill>
                <a:latin typeface="Aptos"/>
                <a:ea typeface="Aptos"/>
                <a:cs typeface="Aptos"/>
              </a:rPr>
              <a:t>2026-05-04</a:t>
            </a:r>
          </a:p>
        </p:txBody>
      </p:sp>
      <p:sp>
        <p:nvSpPr>
          <p:cNvPr id="6" name="">
            <a:extLst xmlns:a="http://schemas.openxmlformats.org/drawingml/2006/main">
              <a:ext uri="{FF2B5EF4-FFF2-40B4-BE49-F238E27FC236}">
                <a16:creationId xmlns:a16="http://schemas.microsoft.com/office/drawing/2014/main" id="{AAF71DBE-5275-4B6C-9F0C-BE17A986054E}"/>
              </a:ext>
            </a:extLst>
          </p:cNvPr>
          <p:cNvSpPr>
            <a:spLocks xmlns:a="http://schemas.openxmlformats.org/drawingml/2006/main" noGrp="1"/>
          </p:cNvSpPr>
          <p:nvPr/>
        </p:nvSpPr>
        <p:spPr>
          <a:xfrm xmlns:a="http://schemas.openxmlformats.org/drawingml/2006/main">
            <a:off x="647700" y="1619250"/>
            <a:ext cx="3333750" cy="1619250"/>
          </a:xfrm>
          <a:prstGeom xmlns:a="http://schemas.openxmlformats.org/drawingml/2006/main" prst="rect">
            <a:avLst/>
          </a:prstGeom>
          <a:solidFill xmlns:a="http://schemas.openxmlformats.org/drawingml/2006/main">
            <a:srgbClr val="D8F3EE"/>
          </a:solidFill>
          <a:ln xmlns:a="http://schemas.openxmlformats.org/drawingml/2006/main" w="9525">
            <a:solidFill>
              <a:srgbClr val="D9D4C7"/>
            </a:solidFill>
            <a:prstDash val="solid"/>
          </a:ln>
        </p:spPr>
      </p:sp>
      <p:sp>
        <p:nvSpPr>
          <p:cNvPr id="7" name="">
            <a:extLst xmlns:a="http://schemas.openxmlformats.org/drawingml/2006/main">
              <a:ext uri="{FF2B5EF4-FFF2-40B4-BE49-F238E27FC236}">
                <a16:creationId xmlns:a16="http://schemas.microsoft.com/office/drawing/2014/main" id="{80160F67-62EA-46FA-BB9A-8B925625D03B}"/>
              </a:ext>
            </a:extLst>
          </p:cNvPr>
          <p:cNvSpPr>
            <a:spLocks xmlns:a="http://schemas.openxmlformats.org/drawingml/2006/main" noGrp="1"/>
          </p:cNvSpPr>
          <p:nvPr/>
        </p:nvSpPr>
        <p:spPr>
          <a:xfrm xmlns:a="http://schemas.openxmlformats.org/drawingml/2006/main">
            <a:off x="647700" y="1619250"/>
            <a:ext cx="47625" cy="16192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8" name="">
            <a:extLst xmlns:a="http://schemas.openxmlformats.org/drawingml/2006/main">
              <a:ext uri="{FF2B5EF4-FFF2-40B4-BE49-F238E27FC236}">
                <a16:creationId xmlns:a16="http://schemas.microsoft.com/office/drawing/2014/main" id="{A8E0C9D4-52E1-4158-8321-04F58F53A46D}"/>
              </a:ext>
            </a:extLst>
          </p:cNvPr>
          <p:cNvSpPr>
            <a:spLocks xmlns:a="http://schemas.openxmlformats.org/drawingml/2006/main" noGrp="1"/>
          </p:cNvSpPr>
          <p:nvPr/>
        </p:nvSpPr>
        <p:spPr>
          <a:xfrm xmlns:a="http://schemas.openxmlformats.org/drawingml/2006/main">
            <a:off x="857250" y="1790700"/>
            <a:ext cx="2914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Machine ready</a:t>
            </a:r>
          </a:p>
        </p:txBody>
      </p:sp>
      <p:sp>
        <p:nvSpPr>
          <p:cNvPr id="9" name="">
            <a:extLst xmlns:a="http://schemas.openxmlformats.org/drawingml/2006/main">
              <a:ext uri="{FF2B5EF4-FFF2-40B4-BE49-F238E27FC236}">
                <a16:creationId xmlns:a16="http://schemas.microsoft.com/office/drawing/2014/main" id="{84BEA398-12DD-4BAF-93F7-3331D7FF49B5}"/>
              </a:ext>
            </a:extLst>
          </p:cNvPr>
          <p:cNvSpPr>
            <a:spLocks xmlns:a="http://schemas.openxmlformats.org/drawingml/2006/main" noGrp="1"/>
          </p:cNvSpPr>
          <p:nvPr/>
        </p:nvSpPr>
        <p:spPr>
          <a:xfrm xmlns:a="http://schemas.openxmlformats.org/drawingml/2006/main">
            <a:off x="857250" y="2152650"/>
            <a:ext cx="29146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Codex installed, Edward Agent Stack verified, GitHub/auth gaps known. They know how to ask Codex for help without dumping secrets.</a:t>
            </a:r>
          </a:p>
        </p:txBody>
      </p:sp>
      <p:sp>
        <p:nvSpPr>
          <p:cNvPr id="10" name="">
            <a:extLst xmlns:a="http://schemas.openxmlformats.org/drawingml/2006/main">
              <a:ext uri="{FF2B5EF4-FFF2-40B4-BE49-F238E27FC236}">
                <a16:creationId xmlns:a16="http://schemas.microsoft.com/office/drawing/2014/main" id="{11E1CE3E-2C59-4BBA-B32B-1383421FC13B}"/>
              </a:ext>
            </a:extLst>
          </p:cNvPr>
          <p:cNvSpPr>
            <a:spLocks xmlns:a="http://schemas.openxmlformats.org/drawingml/2006/main" noGrp="1"/>
          </p:cNvSpPr>
          <p:nvPr/>
        </p:nvSpPr>
        <p:spPr>
          <a:xfrm xmlns:a="http://schemas.openxmlformats.org/drawingml/2006/main">
            <a:off x="4429125" y="1619250"/>
            <a:ext cx="3333750" cy="1619250"/>
          </a:xfrm>
          <a:prstGeom xmlns:a="http://schemas.openxmlformats.org/drawingml/2006/main" prst="rect">
            <a:avLst/>
          </a:prstGeom>
          <a:solidFill xmlns:a="http://schemas.openxmlformats.org/drawingml/2006/main">
            <a:srgbClr val="F5DDD5"/>
          </a:solidFill>
          <a:ln xmlns:a="http://schemas.openxmlformats.org/drawingml/2006/main" w="9525">
            <a:solidFill>
              <a:srgbClr val="D9D4C7"/>
            </a:solidFill>
            <a:prstDash val="solid"/>
          </a:ln>
        </p:spPr>
      </p:sp>
      <p:sp>
        <p:nvSpPr>
          <p:cNvPr id="11" name="">
            <a:extLst xmlns:a="http://schemas.openxmlformats.org/drawingml/2006/main">
              <a:ext uri="{FF2B5EF4-FFF2-40B4-BE49-F238E27FC236}">
                <a16:creationId xmlns:a16="http://schemas.microsoft.com/office/drawing/2014/main" id="{BC4A49CB-B905-47A4-A713-072A336B87AA}"/>
              </a:ext>
            </a:extLst>
          </p:cNvPr>
          <p:cNvSpPr>
            <a:spLocks xmlns:a="http://schemas.openxmlformats.org/drawingml/2006/main" noGrp="1"/>
          </p:cNvSpPr>
          <p:nvPr/>
        </p:nvSpPr>
        <p:spPr>
          <a:xfrm xmlns:a="http://schemas.openxmlformats.org/drawingml/2006/main">
            <a:off x="4429125" y="1619250"/>
            <a:ext cx="47625" cy="1619250"/>
          </a:xfrm>
          <a:prstGeom xmlns:a="http://schemas.openxmlformats.org/drawingml/2006/main" prst="rect">
            <a:avLst/>
          </a:prstGeom>
          <a:solidFill xmlns:a="http://schemas.openxmlformats.org/drawingml/2006/main">
            <a:srgbClr val="C4553F"/>
          </a:solidFill>
          <a:ln xmlns:a="http://schemas.openxmlformats.org/drawingml/2006/main" w="9525">
            <a:solidFill>
              <a:srgbClr val="C4553F"/>
            </a:solidFill>
            <a:prstDash val="solid"/>
          </a:ln>
        </p:spPr>
      </p:sp>
      <p:sp>
        <p:nvSpPr>
          <p:cNvPr id="12" name="">
            <a:extLst xmlns:a="http://schemas.openxmlformats.org/drawingml/2006/main">
              <a:ext uri="{FF2B5EF4-FFF2-40B4-BE49-F238E27FC236}">
                <a16:creationId xmlns:a16="http://schemas.microsoft.com/office/drawing/2014/main" id="{2BCDED39-4279-48C3-ADB7-09BE6F9CA73E}"/>
              </a:ext>
            </a:extLst>
          </p:cNvPr>
          <p:cNvSpPr>
            <a:spLocks xmlns:a="http://schemas.openxmlformats.org/drawingml/2006/main" noGrp="1"/>
          </p:cNvSpPr>
          <p:nvPr/>
        </p:nvSpPr>
        <p:spPr>
          <a:xfrm xmlns:a="http://schemas.openxmlformats.org/drawingml/2006/main">
            <a:off x="4638675" y="1790700"/>
            <a:ext cx="2914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Product map</a:t>
            </a:r>
          </a:p>
        </p:txBody>
      </p:sp>
      <p:sp>
        <p:nvSpPr>
          <p:cNvPr id="13" name="">
            <a:extLst xmlns:a="http://schemas.openxmlformats.org/drawingml/2006/main">
              <a:ext uri="{FF2B5EF4-FFF2-40B4-BE49-F238E27FC236}">
                <a16:creationId xmlns:a16="http://schemas.microsoft.com/office/drawing/2014/main" id="{86627795-2CA7-4838-B8FD-4ABBC7650100}"/>
              </a:ext>
            </a:extLst>
          </p:cNvPr>
          <p:cNvSpPr>
            <a:spLocks xmlns:a="http://schemas.openxmlformats.org/drawingml/2006/main" noGrp="1"/>
          </p:cNvSpPr>
          <p:nvPr/>
        </p:nvSpPr>
        <p:spPr>
          <a:xfrm xmlns:a="http://schemas.openxmlformats.org/drawingml/2006/main">
            <a:off x="4638675" y="2152650"/>
            <a:ext cx="29146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They can explain who uses PearlPortal, what the main workflows are, and why broker context matters before touching code.</a:t>
            </a:r>
          </a:p>
        </p:txBody>
      </p:sp>
      <p:sp>
        <p:nvSpPr>
          <p:cNvPr id="14" name="">
            <a:extLst xmlns:a="http://schemas.openxmlformats.org/drawingml/2006/main">
              <a:ext uri="{FF2B5EF4-FFF2-40B4-BE49-F238E27FC236}">
                <a16:creationId xmlns:a16="http://schemas.microsoft.com/office/drawing/2014/main" id="{3B49522C-21C5-4006-9CC8-488EB90442EC}"/>
              </a:ext>
            </a:extLst>
          </p:cNvPr>
          <p:cNvSpPr>
            <a:spLocks xmlns:a="http://schemas.openxmlformats.org/drawingml/2006/main" noGrp="1"/>
          </p:cNvSpPr>
          <p:nvPr/>
        </p:nvSpPr>
        <p:spPr>
          <a:xfrm xmlns:a="http://schemas.openxmlformats.org/drawingml/2006/main">
            <a:off x="8210550" y="1619250"/>
            <a:ext cx="3333750" cy="1619250"/>
          </a:xfrm>
          <a:prstGeom xmlns:a="http://schemas.openxmlformats.org/drawingml/2006/main" prst="rect">
            <a:avLst/>
          </a:prstGeom>
          <a:solidFill xmlns:a="http://schemas.openxmlformats.org/drawingml/2006/main">
            <a:srgbClr val="E4DFF4"/>
          </a:solidFill>
          <a:ln xmlns:a="http://schemas.openxmlformats.org/drawingml/2006/main" w="9525">
            <a:solidFill>
              <a:srgbClr val="D9D4C7"/>
            </a:solidFill>
            <a:prstDash val="solid"/>
          </a:ln>
        </p:spPr>
      </p:sp>
      <p:sp>
        <p:nvSpPr>
          <p:cNvPr id="15" name="">
            <a:extLst xmlns:a="http://schemas.openxmlformats.org/drawingml/2006/main">
              <a:ext uri="{FF2B5EF4-FFF2-40B4-BE49-F238E27FC236}">
                <a16:creationId xmlns:a16="http://schemas.microsoft.com/office/drawing/2014/main" id="{EA94B62A-2E18-4149-B240-C26B2906606D}"/>
              </a:ext>
            </a:extLst>
          </p:cNvPr>
          <p:cNvSpPr>
            <a:spLocks xmlns:a="http://schemas.openxmlformats.org/drawingml/2006/main" noGrp="1"/>
          </p:cNvSpPr>
          <p:nvPr/>
        </p:nvSpPr>
        <p:spPr>
          <a:xfrm xmlns:a="http://schemas.openxmlformats.org/drawingml/2006/main">
            <a:off x="8210550" y="1619250"/>
            <a:ext cx="47625" cy="1619250"/>
          </a:xfrm>
          <a:prstGeom xmlns:a="http://schemas.openxmlformats.org/drawingml/2006/main" prst="rect">
            <a:avLst/>
          </a:prstGeom>
          <a:solidFill xmlns:a="http://schemas.openxmlformats.org/drawingml/2006/main">
            <a:srgbClr val="5B4B8A"/>
          </a:solidFill>
          <a:ln xmlns:a="http://schemas.openxmlformats.org/drawingml/2006/main" w="9525">
            <a:solidFill>
              <a:srgbClr val="5B4B8A"/>
            </a:solidFill>
            <a:prstDash val="solid"/>
          </a:ln>
        </p:spPr>
      </p:sp>
      <p:sp>
        <p:nvSpPr>
          <p:cNvPr id="16" name="">
            <a:extLst xmlns:a="http://schemas.openxmlformats.org/drawingml/2006/main">
              <a:ext uri="{FF2B5EF4-FFF2-40B4-BE49-F238E27FC236}">
                <a16:creationId xmlns:a16="http://schemas.microsoft.com/office/drawing/2014/main" id="{BACFFF81-3421-4983-A3DB-F6277FB59C20}"/>
              </a:ext>
            </a:extLst>
          </p:cNvPr>
          <p:cNvSpPr>
            <a:spLocks xmlns:a="http://schemas.openxmlformats.org/drawingml/2006/main" noGrp="1"/>
          </p:cNvSpPr>
          <p:nvPr/>
        </p:nvSpPr>
        <p:spPr>
          <a:xfrm xmlns:a="http://schemas.openxmlformats.org/drawingml/2006/main">
            <a:off x="8420100" y="1790700"/>
            <a:ext cx="2914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System map</a:t>
            </a:r>
          </a:p>
        </p:txBody>
      </p:sp>
      <p:sp>
        <p:nvSpPr>
          <p:cNvPr id="17" name="">
            <a:extLst xmlns:a="http://schemas.openxmlformats.org/drawingml/2006/main">
              <a:ext uri="{FF2B5EF4-FFF2-40B4-BE49-F238E27FC236}">
                <a16:creationId xmlns:a16="http://schemas.microsoft.com/office/drawing/2014/main" id="{37EB4D24-9320-4CDE-9096-F635D73D34A2}"/>
              </a:ext>
            </a:extLst>
          </p:cNvPr>
          <p:cNvSpPr>
            <a:spLocks xmlns:a="http://schemas.openxmlformats.org/drawingml/2006/main" noGrp="1"/>
          </p:cNvSpPr>
          <p:nvPr/>
        </p:nvSpPr>
        <p:spPr>
          <a:xfrm xmlns:a="http://schemas.openxmlformats.org/drawingml/2006/main">
            <a:off x="8420100" y="2152650"/>
            <a:ext cx="29146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They can draw frontend, backend, Supabase, Salesforce, RingCentral, Velocity, and AI-processing boundaries.</a:t>
            </a:r>
          </a:p>
        </p:txBody>
      </p:sp>
      <p:sp>
        <p:nvSpPr>
          <p:cNvPr id="18" name="">
            <a:extLst xmlns:a="http://schemas.openxmlformats.org/drawingml/2006/main">
              <a:ext uri="{FF2B5EF4-FFF2-40B4-BE49-F238E27FC236}">
                <a16:creationId xmlns:a16="http://schemas.microsoft.com/office/drawing/2014/main" id="{4AD6A417-571C-4791-82BC-D1A3FEE424B9}"/>
              </a:ext>
            </a:extLst>
          </p:cNvPr>
          <p:cNvSpPr>
            <a:spLocks xmlns:a="http://schemas.openxmlformats.org/drawingml/2006/main" noGrp="1"/>
          </p:cNvSpPr>
          <p:nvPr/>
        </p:nvSpPr>
        <p:spPr>
          <a:xfrm xmlns:a="http://schemas.openxmlformats.org/drawingml/2006/main">
            <a:off x="647700" y="3714750"/>
            <a:ext cx="3333750" cy="1524000"/>
          </a:xfrm>
          <a:prstGeom xmlns:a="http://schemas.openxmlformats.org/drawingml/2006/main" prst="rect">
            <a:avLst/>
          </a:prstGeom>
          <a:solidFill xmlns:a="http://schemas.openxmlformats.org/drawingml/2006/main">
            <a:srgbClr val="E6EBD2"/>
          </a:solidFill>
          <a:ln xmlns:a="http://schemas.openxmlformats.org/drawingml/2006/main" w="9525">
            <a:solidFill>
              <a:srgbClr val="D9D4C7"/>
            </a:solidFill>
            <a:prstDash val="solid"/>
          </a:ln>
        </p:spPr>
      </p:sp>
      <p:sp>
        <p:nvSpPr>
          <p:cNvPr id="19" name="">
            <a:extLst xmlns:a="http://schemas.openxmlformats.org/drawingml/2006/main">
              <a:ext uri="{FF2B5EF4-FFF2-40B4-BE49-F238E27FC236}">
                <a16:creationId xmlns:a16="http://schemas.microsoft.com/office/drawing/2014/main" id="{5CD40169-6EBB-45AF-8294-C7FFE0E792A3}"/>
              </a:ext>
            </a:extLst>
          </p:cNvPr>
          <p:cNvSpPr>
            <a:spLocks xmlns:a="http://schemas.openxmlformats.org/drawingml/2006/main" noGrp="1"/>
          </p:cNvSpPr>
          <p:nvPr/>
        </p:nvSpPr>
        <p:spPr>
          <a:xfrm xmlns:a="http://schemas.openxmlformats.org/drawingml/2006/main">
            <a:off x="647700" y="3714750"/>
            <a:ext cx="47625" cy="1524000"/>
          </a:xfrm>
          <a:prstGeom xmlns:a="http://schemas.openxmlformats.org/drawingml/2006/main" prst="rect">
            <a:avLst/>
          </a:prstGeom>
          <a:solidFill xmlns:a="http://schemas.openxmlformats.org/drawingml/2006/main">
            <a:srgbClr val="556B2F"/>
          </a:solidFill>
          <a:ln xmlns:a="http://schemas.openxmlformats.org/drawingml/2006/main" w="9525">
            <a:solidFill>
              <a:srgbClr val="556B2F"/>
            </a:solidFill>
            <a:prstDash val="solid"/>
          </a:ln>
        </p:spPr>
      </p:sp>
      <p:sp>
        <p:nvSpPr>
          <p:cNvPr id="20" name="">
            <a:extLst xmlns:a="http://schemas.openxmlformats.org/drawingml/2006/main">
              <a:ext uri="{FF2B5EF4-FFF2-40B4-BE49-F238E27FC236}">
                <a16:creationId xmlns:a16="http://schemas.microsoft.com/office/drawing/2014/main" id="{DCBB019B-E61B-4510-A61C-44727EFB1779}"/>
              </a:ext>
            </a:extLst>
          </p:cNvPr>
          <p:cNvSpPr>
            <a:spLocks xmlns:a="http://schemas.openxmlformats.org/drawingml/2006/main" noGrp="1"/>
          </p:cNvSpPr>
          <p:nvPr/>
        </p:nvSpPr>
        <p:spPr>
          <a:xfrm xmlns:a="http://schemas.openxmlformats.org/drawingml/2006/main">
            <a:off x="857250" y="3886200"/>
            <a:ext cx="2914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Operating standard</a:t>
            </a:r>
          </a:p>
        </p:txBody>
      </p:sp>
      <p:sp>
        <p:nvSpPr>
          <p:cNvPr id="21" name="">
            <a:extLst xmlns:a="http://schemas.openxmlformats.org/drawingml/2006/main">
              <a:ext uri="{FF2B5EF4-FFF2-40B4-BE49-F238E27FC236}">
                <a16:creationId xmlns:a16="http://schemas.microsoft.com/office/drawing/2014/main" id="{4D0E9D9A-A862-4793-95DA-226CB2400CEA}"/>
              </a:ext>
            </a:extLst>
          </p:cNvPr>
          <p:cNvSpPr>
            <a:spLocks xmlns:a="http://schemas.openxmlformats.org/drawingml/2006/main" noGrp="1"/>
          </p:cNvSpPr>
          <p:nvPr/>
        </p:nvSpPr>
        <p:spPr>
          <a:xfrm xmlns:a="http://schemas.openxmlformats.org/drawingml/2006/main">
            <a:off x="857250" y="4248150"/>
            <a:ext cx="29146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Ask Codex first. Read repo docs. Verify against source. Escalate with options, evidence, and a recommendation.</a:t>
            </a:r>
          </a:p>
        </p:txBody>
      </p:sp>
      <p:sp>
        <p:nvSpPr>
          <p:cNvPr id="22" name="">
            <a:extLst xmlns:a="http://schemas.openxmlformats.org/drawingml/2006/main">
              <a:ext uri="{FF2B5EF4-FFF2-40B4-BE49-F238E27FC236}">
                <a16:creationId xmlns:a16="http://schemas.microsoft.com/office/drawing/2014/main" id="{69D6E102-6E82-4D43-95C8-7694E2C47BFA}"/>
              </a:ext>
            </a:extLst>
          </p:cNvPr>
          <p:cNvSpPr>
            <a:spLocks xmlns:a="http://schemas.openxmlformats.org/drawingml/2006/main" noGrp="1"/>
          </p:cNvSpPr>
          <p:nvPr/>
        </p:nvSpPr>
        <p:spPr>
          <a:xfrm xmlns:a="http://schemas.openxmlformats.org/drawingml/2006/main">
            <a:off x="4429125" y="3714750"/>
            <a:ext cx="3333750" cy="1524000"/>
          </a:xfrm>
          <a:prstGeom xmlns:a="http://schemas.openxmlformats.org/drawingml/2006/main" prst="rect">
            <a:avLst/>
          </a:prstGeom>
          <a:solidFill xmlns:a="http://schemas.openxmlformats.org/drawingml/2006/main">
            <a:srgbClr val="F6E6BE"/>
          </a:solidFill>
          <a:ln xmlns:a="http://schemas.openxmlformats.org/drawingml/2006/main" w="9525">
            <a:solidFill>
              <a:srgbClr val="D9D4C7"/>
            </a:solidFill>
            <a:prstDash val="solid"/>
          </a:ln>
        </p:spPr>
      </p:sp>
      <p:sp>
        <p:nvSpPr>
          <p:cNvPr id="23" name="">
            <a:extLst xmlns:a="http://schemas.openxmlformats.org/drawingml/2006/main">
              <a:ext uri="{FF2B5EF4-FFF2-40B4-BE49-F238E27FC236}">
                <a16:creationId xmlns:a16="http://schemas.microsoft.com/office/drawing/2014/main" id="{AFBA4F3A-7532-4989-8CDC-4F1CC9B74A63}"/>
              </a:ext>
            </a:extLst>
          </p:cNvPr>
          <p:cNvSpPr>
            <a:spLocks xmlns:a="http://schemas.openxmlformats.org/drawingml/2006/main" noGrp="1"/>
          </p:cNvSpPr>
          <p:nvPr/>
        </p:nvSpPr>
        <p:spPr>
          <a:xfrm xmlns:a="http://schemas.openxmlformats.org/drawingml/2006/main">
            <a:off x="4429125" y="3714750"/>
            <a:ext cx="47625" cy="1524000"/>
          </a:xfrm>
          <a:prstGeom xmlns:a="http://schemas.openxmlformats.org/drawingml/2006/main" prst="rect">
            <a:avLst/>
          </a:prstGeom>
          <a:solidFill xmlns:a="http://schemas.openxmlformats.org/drawingml/2006/main">
            <a:srgbClr val="B7791F"/>
          </a:solidFill>
          <a:ln xmlns:a="http://schemas.openxmlformats.org/drawingml/2006/main" w="9525">
            <a:solidFill>
              <a:srgbClr val="B7791F"/>
            </a:solidFill>
            <a:prstDash val="solid"/>
          </a:ln>
        </p:spPr>
      </p:sp>
      <p:sp>
        <p:nvSpPr>
          <p:cNvPr id="24" name="">
            <a:extLst xmlns:a="http://schemas.openxmlformats.org/drawingml/2006/main">
              <a:ext uri="{FF2B5EF4-FFF2-40B4-BE49-F238E27FC236}">
                <a16:creationId xmlns:a16="http://schemas.microsoft.com/office/drawing/2014/main" id="{DD361E35-E534-4170-9826-AC1A19031EB7}"/>
              </a:ext>
            </a:extLst>
          </p:cNvPr>
          <p:cNvSpPr>
            <a:spLocks xmlns:a="http://schemas.openxmlformats.org/drawingml/2006/main" noGrp="1"/>
          </p:cNvSpPr>
          <p:nvPr/>
        </p:nvSpPr>
        <p:spPr>
          <a:xfrm xmlns:a="http://schemas.openxmlformats.org/drawingml/2006/main">
            <a:off x="4638675" y="3886200"/>
            <a:ext cx="2914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Risk awareness</a:t>
            </a:r>
          </a:p>
        </p:txBody>
      </p:sp>
      <p:sp>
        <p:nvSpPr>
          <p:cNvPr id="25" name="">
            <a:extLst xmlns:a="http://schemas.openxmlformats.org/drawingml/2006/main">
              <a:ext uri="{FF2B5EF4-FFF2-40B4-BE49-F238E27FC236}">
                <a16:creationId xmlns:a16="http://schemas.microsoft.com/office/drawing/2014/main" id="{B4048E41-AFC8-4FCA-9EBC-AFDB5211A687}"/>
              </a:ext>
            </a:extLst>
          </p:cNvPr>
          <p:cNvSpPr>
            <a:spLocks xmlns:a="http://schemas.openxmlformats.org/drawingml/2006/main" noGrp="1"/>
          </p:cNvSpPr>
          <p:nvPr/>
        </p:nvSpPr>
        <p:spPr>
          <a:xfrm xmlns:a="http://schemas.openxmlformats.org/drawingml/2006/main">
            <a:off x="4638675" y="4248150"/>
            <a:ext cx="29146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They know the red lines: real secrets, customer data, database writes, production syncs, and unreviewed code changes.</a:t>
            </a:r>
          </a:p>
        </p:txBody>
      </p:sp>
      <p:sp>
        <p:nvSpPr>
          <p:cNvPr id="26" name="">
            <a:extLst xmlns:a="http://schemas.openxmlformats.org/drawingml/2006/main">
              <a:ext uri="{FF2B5EF4-FFF2-40B4-BE49-F238E27FC236}">
                <a16:creationId xmlns:a16="http://schemas.microsoft.com/office/drawing/2014/main" id="{E1AB278B-38FE-4528-9A4D-A25599ADEF99}"/>
              </a:ext>
            </a:extLst>
          </p:cNvPr>
          <p:cNvSpPr>
            <a:spLocks xmlns:a="http://schemas.openxmlformats.org/drawingml/2006/main" noGrp="1"/>
          </p:cNvSpPr>
          <p:nvPr/>
        </p:nvSpPr>
        <p:spPr>
          <a:xfrm xmlns:a="http://schemas.openxmlformats.org/drawingml/2006/main">
            <a:off x="8210550" y="3714750"/>
            <a:ext cx="333375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9D4C7"/>
            </a:solidFill>
            <a:prstDash val="solid"/>
          </a:ln>
        </p:spPr>
      </p:sp>
      <p:sp>
        <p:nvSpPr>
          <p:cNvPr id="27" name="">
            <a:extLst xmlns:a="http://schemas.openxmlformats.org/drawingml/2006/main">
              <a:ext uri="{FF2B5EF4-FFF2-40B4-BE49-F238E27FC236}">
                <a16:creationId xmlns:a16="http://schemas.microsoft.com/office/drawing/2014/main" id="{B96D66A6-1603-46F8-ABD9-3E45A1B213C6}"/>
              </a:ext>
            </a:extLst>
          </p:cNvPr>
          <p:cNvSpPr>
            <a:spLocks xmlns:a="http://schemas.openxmlformats.org/drawingml/2006/main" noGrp="1"/>
          </p:cNvSpPr>
          <p:nvPr/>
        </p:nvSpPr>
        <p:spPr>
          <a:xfrm xmlns:a="http://schemas.openxmlformats.org/drawingml/2006/main">
            <a:off x="8210550" y="3714750"/>
            <a:ext cx="47625" cy="152400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28" name="">
            <a:extLst xmlns:a="http://schemas.openxmlformats.org/drawingml/2006/main">
              <a:ext uri="{FF2B5EF4-FFF2-40B4-BE49-F238E27FC236}">
                <a16:creationId xmlns:a16="http://schemas.microsoft.com/office/drawing/2014/main" id="{4274DF5D-E31C-4C3E-95EE-6918AC3482A9}"/>
              </a:ext>
            </a:extLst>
          </p:cNvPr>
          <p:cNvSpPr>
            <a:spLocks xmlns:a="http://schemas.openxmlformats.org/drawingml/2006/main" noGrp="1"/>
          </p:cNvSpPr>
          <p:nvPr/>
        </p:nvSpPr>
        <p:spPr>
          <a:xfrm xmlns:a="http://schemas.openxmlformats.org/drawingml/2006/main">
            <a:off x="8420100" y="3886200"/>
            <a:ext cx="2914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Questions list</a:t>
            </a:r>
          </a:p>
        </p:txBody>
      </p:sp>
      <p:sp>
        <p:nvSpPr>
          <p:cNvPr id="29" name="">
            <a:extLst xmlns:a="http://schemas.openxmlformats.org/drawingml/2006/main">
              <a:ext uri="{FF2B5EF4-FFF2-40B4-BE49-F238E27FC236}">
                <a16:creationId xmlns:a16="http://schemas.microsoft.com/office/drawing/2014/main" id="{72AF768B-E750-41EB-807B-5AE44CE514E7}"/>
              </a:ext>
            </a:extLst>
          </p:cNvPr>
          <p:cNvSpPr>
            <a:spLocks xmlns:a="http://schemas.openxmlformats.org/drawingml/2006/main" noGrp="1"/>
          </p:cNvSpPr>
          <p:nvPr/>
        </p:nvSpPr>
        <p:spPr>
          <a:xfrm xmlns:a="http://schemas.openxmlformats.org/drawingml/2006/main">
            <a:off x="8420100" y="4248150"/>
            <a:ext cx="29146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They leave you with smart questions about architecture, not generic confusion or random guesses.</a:t>
            </a:r>
          </a:p>
        </p:txBody>
      </p:sp>
      <p:sp>
        <p:nvSpPr>
          <p:cNvPr id="30" name="">
            <a:extLst xmlns:a="http://schemas.openxmlformats.org/drawingml/2006/main">
              <a:ext uri="{FF2B5EF4-FFF2-40B4-BE49-F238E27FC236}">
                <a16:creationId xmlns:a16="http://schemas.microsoft.com/office/drawing/2014/main" id="{1C3F112A-6EAC-48AE-B06C-B6D6930F425C}"/>
              </a:ext>
            </a:extLst>
          </p:cNvPr>
          <p:cNvSpPr>
            <a:spLocks xmlns:a="http://schemas.openxmlformats.org/drawingml/2006/main" noGrp="1"/>
          </p:cNvSpPr>
          <p:nvPr/>
        </p:nvSpPr>
        <p:spPr>
          <a:xfrm xmlns:a="http://schemas.openxmlformats.org/drawingml/2006/main">
            <a:off x="647700" y="6362700"/>
            <a:ext cx="10363200" cy="9525"/>
          </a:xfrm>
          <a:prstGeom xmlns:a="http://schemas.openxmlformats.org/drawingml/2006/main" prst="rect">
            <a:avLst/>
          </a:prstGeom>
          <a:solidFill xmlns:a="http://schemas.openxmlformats.org/drawingml/2006/main">
            <a:srgbClr val="D9D4C7"/>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B5EC6A2C-A310-4362-9168-BA9781F2257E}"/>
              </a:ext>
            </a:extLst>
          </p:cNvPr>
          <p:cNvSpPr>
            <a:spLocks xmlns:a="http://schemas.openxmlformats.org/drawingml/2006/main" noGrp="1"/>
          </p:cNvSpPr>
          <p:nvPr/>
        </p:nvSpPr>
        <p:spPr>
          <a:xfrm xmlns:a="http://schemas.openxmlformats.org/drawingml/2006/main">
            <a:off x="647700" y="64579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673"/>
                </a:solidFill>
                <a:latin typeface="Aptos"/>
                <a:ea typeface="Aptos"/>
                <a:cs typeface="Aptos"/>
              </a:defRPr>
            </a:pPr>
            <a:r>
              <a:rPr sz="975" b="0">
                <a:solidFill>
                  <a:srgbClr val="5B6673"/>
                </a:solidFill>
                <a:latin typeface="Aptos"/>
                <a:ea typeface="Aptos"/>
                <a:cs typeface="Aptos"/>
              </a:rPr>
              <a:t>PearlPortal intern onboarding</a:t>
            </a:r>
          </a:p>
        </p:txBody>
      </p:sp>
      <p:sp>
        <p:nvSpPr>
          <p:cNvPr id="32" name="">
            <a:extLst xmlns:a="http://schemas.openxmlformats.org/drawingml/2006/main">
              <a:ext uri="{FF2B5EF4-FFF2-40B4-BE49-F238E27FC236}">
                <a16:creationId xmlns:a16="http://schemas.microsoft.com/office/drawing/2014/main" id="{091D2461-37A2-4DFD-94C8-748DE75E1A66}"/>
              </a:ext>
            </a:extLst>
          </p:cNvPr>
          <p:cNvSpPr>
            <a:spLocks xmlns:a="http://schemas.openxmlformats.org/drawingml/2006/main" noGrp="1"/>
          </p:cNvSpPr>
          <p:nvPr/>
        </p:nvSpPr>
        <p:spPr>
          <a:xfrm xmlns:a="http://schemas.openxmlformats.org/drawingml/2006/main">
            <a:off x="10382250" y="64579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673"/>
                </a:solidFill>
                <a:latin typeface="Aptos"/>
                <a:ea typeface="Aptos"/>
                <a:cs typeface="Aptos"/>
              </a:defRPr>
            </a:pPr>
            <a:r>
              <a:rPr sz="975" b="0">
                <a:solidFill>
                  <a:srgbClr val="5B6673"/>
                </a:solidFill>
                <a:latin typeface="Aptos"/>
                <a:ea typeface="Aptos"/>
                <a:cs typeface="Aptos"/>
              </a:rPr>
              <a:t>02</a:t>
            </a:r>
          </a:p>
        </p:txBody>
      </p:sp>
    </p:spTree>
    <p:extLst>
      <p:ext uri="{BB962C8B-B14F-4D97-AF65-F5344CB8AC3E}">
        <p14:creationId xmlns:p14="http://schemas.microsoft.com/office/powerpoint/2010/main" val="95413096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7A5748-13D7-49F2-9C89-6762B5D450C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6E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DED7F9A-71F8-4D77-BA8F-2E88A1B64CAE}"/>
              </a:ext>
            </a:extLst>
          </p:cNvPr>
          <p:cNvSpPr>
            <a:spLocks xmlns:a="http://schemas.openxmlformats.org/drawingml/2006/main" noGrp="1"/>
          </p:cNvSpPr>
          <p:nvPr/>
        </p:nvSpPr>
        <p:spPr>
          <a:xfrm xmlns:a="http://schemas.openxmlformats.org/drawingml/2006/main">
            <a:off x="419100" y="381000"/>
            <a:ext cx="47625" cy="876300"/>
          </a:xfrm>
          <a:prstGeom xmlns:a="http://schemas.openxmlformats.org/drawingml/2006/main" prst="rect">
            <a:avLst/>
          </a:prstGeom>
          <a:solidFill xmlns:a="http://schemas.openxmlformats.org/drawingml/2006/main">
            <a:srgbClr val="556B2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2F26286-810F-4662-B5DD-80FB8B851225}"/>
              </a:ext>
            </a:extLst>
          </p:cNvPr>
          <p:cNvSpPr>
            <a:spLocks xmlns:a="http://schemas.openxmlformats.org/drawingml/2006/main" noGrp="1"/>
          </p:cNvSpPr>
          <p:nvPr/>
        </p:nvSpPr>
        <p:spPr>
          <a:xfrm xmlns:a="http://schemas.openxmlformats.org/drawingml/2006/main">
            <a:off x="647700" y="400050"/>
            <a:ext cx="704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556B2F"/>
                </a:solidFill>
                <a:latin typeface="Aptos"/>
                <a:ea typeface="Aptos"/>
                <a:cs typeface="Aptos"/>
              </a:defRPr>
            </a:pPr>
            <a:r>
              <a:rPr sz="1200" b="1">
                <a:solidFill>
                  <a:srgbClr val="556B2F"/>
                </a:solidFill>
                <a:latin typeface="Aptos"/>
                <a:ea typeface="Aptos"/>
                <a:cs typeface="Aptos"/>
              </a:rPr>
              <a:t>OPERATOR RULES</a:t>
            </a:r>
          </a:p>
        </p:txBody>
      </p:sp>
      <p:sp>
        <p:nvSpPr>
          <p:cNvPr id="4" name="">
            <a:extLst xmlns:a="http://schemas.openxmlformats.org/drawingml/2006/main">
              <a:ext uri="{FF2B5EF4-FFF2-40B4-BE49-F238E27FC236}">
                <a16:creationId xmlns:a16="http://schemas.microsoft.com/office/drawing/2014/main" id="{0A9B3D1E-48C7-4F71-BDB3-EA1F5584B25E}"/>
              </a:ext>
            </a:extLst>
          </p:cNvPr>
          <p:cNvSpPr>
            <a:spLocks xmlns:a="http://schemas.openxmlformats.org/drawingml/2006/main" noGrp="1"/>
          </p:cNvSpPr>
          <p:nvPr/>
        </p:nvSpPr>
        <p:spPr>
          <a:xfrm xmlns:a="http://schemas.openxmlformats.org/drawingml/2006/main">
            <a:off x="647700" y="666750"/>
            <a:ext cx="7810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7202A"/>
                </a:solidFill>
                <a:latin typeface="Aptos"/>
                <a:ea typeface="Aptos"/>
                <a:cs typeface="Aptos"/>
              </a:defRPr>
            </a:pPr>
            <a:r>
              <a:rPr sz="3300" b="1">
                <a:solidFill>
                  <a:srgbClr val="17202A"/>
                </a:solidFill>
                <a:latin typeface="Aptos"/>
                <a:ea typeface="Aptos"/>
                <a:cs typeface="Aptos"/>
              </a:rPr>
              <a:t>How Edward wants AI engineering to work</a:t>
            </a:r>
          </a:p>
        </p:txBody>
      </p:sp>
      <p:sp>
        <p:nvSpPr>
          <p:cNvPr id="5" name="">
            <a:extLst xmlns:a="http://schemas.openxmlformats.org/drawingml/2006/main">
              <a:ext uri="{FF2B5EF4-FFF2-40B4-BE49-F238E27FC236}">
                <a16:creationId xmlns:a16="http://schemas.microsoft.com/office/drawing/2014/main" id="{CC6672AD-FB4C-49D1-A61D-FC5E05AA36BD}"/>
              </a:ext>
            </a:extLst>
          </p:cNvPr>
          <p:cNvSpPr>
            <a:spLocks xmlns:a="http://schemas.openxmlformats.org/drawingml/2006/main" noGrp="1"/>
          </p:cNvSpPr>
          <p:nvPr/>
        </p:nvSpPr>
        <p:spPr>
          <a:xfrm xmlns:a="http://schemas.openxmlformats.org/drawingml/2006/main">
            <a:off x="10001250" y="419100"/>
            <a:ext cx="1657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B6673"/>
                </a:solidFill>
                <a:latin typeface="Aptos"/>
                <a:ea typeface="Aptos"/>
                <a:cs typeface="Aptos"/>
              </a:defRPr>
            </a:pPr>
            <a:r>
              <a:rPr sz="1125" b="0">
                <a:solidFill>
                  <a:srgbClr val="5B6673"/>
                </a:solidFill>
                <a:latin typeface="Aptos"/>
                <a:ea typeface="Aptos"/>
                <a:cs typeface="Aptos"/>
              </a:rPr>
              <a:t>2026-05-04</a:t>
            </a:r>
          </a:p>
        </p:txBody>
      </p:sp>
      <p:sp>
        <p:nvSpPr>
          <p:cNvPr id="6" name="">
            <a:extLst xmlns:a="http://schemas.openxmlformats.org/drawingml/2006/main">
              <a:ext uri="{FF2B5EF4-FFF2-40B4-BE49-F238E27FC236}">
                <a16:creationId xmlns:a16="http://schemas.microsoft.com/office/drawing/2014/main" id="{AEEBD155-C7CC-44A1-80B8-6FCCBC2219EF}"/>
              </a:ext>
            </a:extLst>
          </p:cNvPr>
          <p:cNvSpPr>
            <a:spLocks xmlns:a="http://schemas.openxmlformats.org/drawingml/2006/main" noGrp="1"/>
          </p:cNvSpPr>
          <p:nvPr/>
        </p:nvSpPr>
        <p:spPr>
          <a:xfrm xmlns:a="http://schemas.openxmlformats.org/drawingml/2006/main">
            <a:off x="666750" y="1581150"/>
            <a:ext cx="476250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D9D4C7"/>
            </a:solidFill>
            <a:prstDash val="solid"/>
          </a:ln>
        </p:spPr>
      </p:sp>
      <p:sp>
        <p:nvSpPr>
          <p:cNvPr id="7" name="">
            <a:extLst xmlns:a="http://schemas.openxmlformats.org/drawingml/2006/main">
              <a:ext uri="{FF2B5EF4-FFF2-40B4-BE49-F238E27FC236}">
                <a16:creationId xmlns:a16="http://schemas.microsoft.com/office/drawing/2014/main" id="{DA62A2ED-DEFB-4344-BA3F-0D9A5C3092D2}"/>
              </a:ext>
            </a:extLst>
          </p:cNvPr>
          <p:cNvSpPr>
            <a:spLocks xmlns:a="http://schemas.openxmlformats.org/drawingml/2006/main" noGrp="1"/>
          </p:cNvSpPr>
          <p:nvPr/>
        </p:nvSpPr>
        <p:spPr>
          <a:xfrm xmlns:a="http://schemas.openxmlformats.org/drawingml/2006/main">
            <a:off x="952500" y="1857375"/>
            <a:ext cx="4095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7202A"/>
                </a:solidFill>
                <a:latin typeface="Aptos"/>
                <a:ea typeface="Aptos"/>
                <a:cs typeface="Aptos"/>
              </a:defRPr>
            </a:pPr>
            <a:r>
              <a:rPr sz="2100" b="1">
                <a:solidFill>
                  <a:srgbClr val="17202A"/>
                </a:solidFill>
                <a:latin typeface="Aptos"/>
                <a:ea typeface="Aptos"/>
                <a:cs typeface="Aptos"/>
              </a:rPr>
              <a:t>The default loop</a:t>
            </a:r>
          </a:p>
        </p:txBody>
      </p:sp>
      <p:sp>
        <p:nvSpPr>
          <p:cNvPr id="8" name="">
            <a:extLst xmlns:a="http://schemas.openxmlformats.org/drawingml/2006/main">
              <a:ext uri="{FF2B5EF4-FFF2-40B4-BE49-F238E27FC236}">
                <a16:creationId xmlns:a16="http://schemas.microsoft.com/office/drawing/2014/main" id="{DC095A39-5616-43E8-94EC-F08A0356F635}"/>
              </a:ext>
            </a:extLst>
          </p:cNvPr>
          <p:cNvSpPr>
            <a:spLocks xmlns:a="http://schemas.openxmlformats.org/drawingml/2006/main" noGrp="1"/>
          </p:cNvSpPr>
          <p:nvPr/>
        </p:nvSpPr>
        <p:spPr>
          <a:xfrm xmlns:a="http://schemas.openxmlformats.org/drawingml/2006/main">
            <a:off x="1028700" y="2495550"/>
            <a:ext cx="76200" cy="76200"/>
          </a:xfrm>
          <a:prstGeom xmlns:a="http://schemas.openxmlformats.org/drawingml/2006/main" prst="rect">
            <a:avLst/>
          </a:prstGeom>
          <a:solidFill xmlns:a="http://schemas.openxmlformats.org/drawingml/2006/main">
            <a:srgbClr val="556B2F"/>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458BC1D-C929-4D96-A715-A449BF94DBD8}"/>
              </a:ext>
            </a:extLst>
          </p:cNvPr>
          <p:cNvSpPr>
            <a:spLocks xmlns:a="http://schemas.openxmlformats.org/drawingml/2006/main" noGrp="1"/>
          </p:cNvSpPr>
          <p:nvPr/>
        </p:nvSpPr>
        <p:spPr>
          <a:xfrm xmlns:a="http://schemas.openxmlformats.org/drawingml/2006/main">
            <a:off x="1238250" y="2428875"/>
            <a:ext cx="3905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Ask Codex with full repo/task context.</a:t>
            </a:r>
          </a:p>
        </p:txBody>
      </p:sp>
      <p:sp>
        <p:nvSpPr>
          <p:cNvPr id="10" name="">
            <a:extLst xmlns:a="http://schemas.openxmlformats.org/drawingml/2006/main">
              <a:ext uri="{FF2B5EF4-FFF2-40B4-BE49-F238E27FC236}">
                <a16:creationId xmlns:a16="http://schemas.microsoft.com/office/drawing/2014/main" id="{80006BAA-ED39-4F3F-B2D5-2A670D2AC5D8}"/>
              </a:ext>
            </a:extLst>
          </p:cNvPr>
          <p:cNvSpPr>
            <a:spLocks xmlns:a="http://schemas.openxmlformats.org/drawingml/2006/main" noGrp="1"/>
          </p:cNvSpPr>
          <p:nvPr/>
        </p:nvSpPr>
        <p:spPr>
          <a:xfrm xmlns:a="http://schemas.openxmlformats.org/drawingml/2006/main">
            <a:off x="1028700" y="2971800"/>
            <a:ext cx="76200" cy="76200"/>
          </a:xfrm>
          <a:prstGeom xmlns:a="http://schemas.openxmlformats.org/drawingml/2006/main" prst="rect">
            <a:avLst/>
          </a:prstGeom>
          <a:solidFill xmlns:a="http://schemas.openxmlformats.org/drawingml/2006/main">
            <a:srgbClr val="556B2F"/>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0EC9F7C-F6E9-4194-BA5F-1E72B7FE1AD9}"/>
              </a:ext>
            </a:extLst>
          </p:cNvPr>
          <p:cNvSpPr>
            <a:spLocks xmlns:a="http://schemas.openxmlformats.org/drawingml/2006/main" noGrp="1"/>
          </p:cNvSpPr>
          <p:nvPr/>
        </p:nvSpPr>
        <p:spPr>
          <a:xfrm xmlns:a="http://schemas.openxmlformats.org/drawingml/2006/main">
            <a:off x="1238250" y="2905125"/>
            <a:ext cx="3905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Make Codex cite files, commands, docs, and evidence.</a:t>
            </a:r>
          </a:p>
        </p:txBody>
      </p:sp>
      <p:sp>
        <p:nvSpPr>
          <p:cNvPr id="12" name="">
            <a:extLst xmlns:a="http://schemas.openxmlformats.org/drawingml/2006/main">
              <a:ext uri="{FF2B5EF4-FFF2-40B4-BE49-F238E27FC236}">
                <a16:creationId xmlns:a16="http://schemas.microsoft.com/office/drawing/2014/main" id="{444A7845-3487-4F59-AD8A-8057F653E61F}"/>
              </a:ext>
            </a:extLst>
          </p:cNvPr>
          <p:cNvSpPr>
            <a:spLocks xmlns:a="http://schemas.openxmlformats.org/drawingml/2006/main" noGrp="1"/>
          </p:cNvSpPr>
          <p:nvPr/>
        </p:nvSpPr>
        <p:spPr>
          <a:xfrm xmlns:a="http://schemas.openxmlformats.org/drawingml/2006/main">
            <a:off x="1028700" y="3448050"/>
            <a:ext cx="76200" cy="76200"/>
          </a:xfrm>
          <a:prstGeom xmlns:a="http://schemas.openxmlformats.org/drawingml/2006/main" prst="rect">
            <a:avLst/>
          </a:prstGeom>
          <a:solidFill xmlns:a="http://schemas.openxmlformats.org/drawingml/2006/main">
            <a:srgbClr val="556B2F"/>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15406486-4CCB-4CB6-A282-99AD845CA652}"/>
              </a:ext>
            </a:extLst>
          </p:cNvPr>
          <p:cNvSpPr>
            <a:spLocks xmlns:a="http://schemas.openxmlformats.org/drawingml/2006/main" noGrp="1"/>
          </p:cNvSpPr>
          <p:nvPr/>
        </p:nvSpPr>
        <p:spPr>
          <a:xfrm xmlns:a="http://schemas.openxmlformats.org/drawingml/2006/main">
            <a:off x="1238250" y="3381375"/>
            <a:ext cx="3905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Use gstack investigate when stuck.</a:t>
            </a:r>
          </a:p>
        </p:txBody>
      </p:sp>
      <p:sp>
        <p:nvSpPr>
          <p:cNvPr id="14" name="">
            <a:extLst xmlns:a="http://schemas.openxmlformats.org/drawingml/2006/main">
              <a:ext uri="{FF2B5EF4-FFF2-40B4-BE49-F238E27FC236}">
                <a16:creationId xmlns:a16="http://schemas.microsoft.com/office/drawing/2014/main" id="{6115B4E6-E462-4D39-AEEF-933E43705C86}"/>
              </a:ext>
            </a:extLst>
          </p:cNvPr>
          <p:cNvSpPr>
            <a:spLocks xmlns:a="http://schemas.openxmlformats.org/drawingml/2006/main" noGrp="1"/>
          </p:cNvSpPr>
          <p:nvPr/>
        </p:nvSpPr>
        <p:spPr>
          <a:xfrm xmlns:a="http://schemas.openxmlformats.org/drawingml/2006/main">
            <a:off x="1028700" y="3924300"/>
            <a:ext cx="76200" cy="76200"/>
          </a:xfrm>
          <a:prstGeom xmlns:a="http://schemas.openxmlformats.org/drawingml/2006/main" prst="rect">
            <a:avLst/>
          </a:prstGeom>
          <a:solidFill xmlns:a="http://schemas.openxmlformats.org/drawingml/2006/main">
            <a:srgbClr val="556B2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EC61C393-43CA-49AF-AE9B-8FC0527F2386}"/>
              </a:ext>
            </a:extLst>
          </p:cNvPr>
          <p:cNvSpPr>
            <a:spLocks xmlns:a="http://schemas.openxmlformats.org/drawingml/2006/main" noGrp="1"/>
          </p:cNvSpPr>
          <p:nvPr/>
        </p:nvSpPr>
        <p:spPr>
          <a:xfrm xmlns:a="http://schemas.openxmlformats.org/drawingml/2006/main">
            <a:off x="1238250" y="3857625"/>
            <a:ext cx="3905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Do not ask Edward until options and risks are clear.</a:t>
            </a:r>
          </a:p>
        </p:txBody>
      </p:sp>
      <p:sp>
        <p:nvSpPr>
          <p:cNvPr id="16" name="">
            <a:extLst xmlns:a="http://schemas.openxmlformats.org/drawingml/2006/main">
              <a:ext uri="{FF2B5EF4-FFF2-40B4-BE49-F238E27FC236}">
                <a16:creationId xmlns:a16="http://schemas.microsoft.com/office/drawing/2014/main" id="{4E52BA75-BC61-4477-9F77-73902C664EAA}"/>
              </a:ext>
            </a:extLst>
          </p:cNvPr>
          <p:cNvSpPr>
            <a:spLocks xmlns:a="http://schemas.openxmlformats.org/drawingml/2006/main" noGrp="1"/>
          </p:cNvSpPr>
          <p:nvPr/>
        </p:nvSpPr>
        <p:spPr>
          <a:xfrm xmlns:a="http://schemas.openxmlformats.org/drawingml/2006/main">
            <a:off x="1028700" y="4400550"/>
            <a:ext cx="76200" cy="76200"/>
          </a:xfrm>
          <a:prstGeom xmlns:a="http://schemas.openxmlformats.org/drawingml/2006/main" prst="rect">
            <a:avLst/>
          </a:prstGeom>
          <a:solidFill xmlns:a="http://schemas.openxmlformats.org/drawingml/2006/main">
            <a:srgbClr val="556B2F"/>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48D02E9-80C9-4630-A743-676BE0AD2643}"/>
              </a:ext>
            </a:extLst>
          </p:cNvPr>
          <p:cNvSpPr>
            <a:spLocks xmlns:a="http://schemas.openxmlformats.org/drawingml/2006/main" noGrp="1"/>
          </p:cNvSpPr>
          <p:nvPr/>
        </p:nvSpPr>
        <p:spPr>
          <a:xfrm xmlns:a="http://schemas.openxmlformats.org/drawingml/2006/main">
            <a:off x="1238250" y="4333875"/>
            <a:ext cx="3905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Write final artifacts as operator playbooks.</a:t>
            </a:r>
          </a:p>
        </p:txBody>
      </p:sp>
      <p:sp>
        <p:nvSpPr>
          <p:cNvPr id="18" name="">
            <a:extLst xmlns:a="http://schemas.openxmlformats.org/drawingml/2006/main">
              <a:ext uri="{FF2B5EF4-FFF2-40B4-BE49-F238E27FC236}">
                <a16:creationId xmlns:a16="http://schemas.microsoft.com/office/drawing/2014/main" id="{05E80571-D777-457F-8703-B89D80B78C7F}"/>
              </a:ext>
            </a:extLst>
          </p:cNvPr>
          <p:cNvSpPr>
            <a:spLocks xmlns:a="http://schemas.openxmlformats.org/drawingml/2006/main" noGrp="1"/>
          </p:cNvSpPr>
          <p:nvPr/>
        </p:nvSpPr>
        <p:spPr>
          <a:xfrm xmlns:a="http://schemas.openxmlformats.org/drawingml/2006/main">
            <a:off x="6096000" y="1581150"/>
            <a:ext cx="4762500" cy="3714750"/>
          </a:xfrm>
          <a:prstGeom xmlns:a="http://schemas.openxmlformats.org/drawingml/2006/main" prst="rect">
            <a:avLst/>
          </a:prstGeom>
          <a:solidFill xmlns:a="http://schemas.openxmlformats.org/drawingml/2006/main">
            <a:srgbClr val="E6EBD2"/>
          </a:solidFill>
          <a:ln xmlns:a="http://schemas.openxmlformats.org/drawingml/2006/main" w="9525">
            <a:solidFill>
              <a:srgbClr val="D9D4C7"/>
            </a:solidFill>
            <a:prstDash val="solid"/>
          </a:ln>
        </p:spPr>
      </p:sp>
      <p:sp>
        <p:nvSpPr>
          <p:cNvPr id="19" name="">
            <a:extLst xmlns:a="http://schemas.openxmlformats.org/drawingml/2006/main">
              <a:ext uri="{FF2B5EF4-FFF2-40B4-BE49-F238E27FC236}">
                <a16:creationId xmlns:a16="http://schemas.microsoft.com/office/drawing/2014/main" id="{3293D6E2-4E5F-439C-ACAD-9F76D8AD3B8F}"/>
              </a:ext>
            </a:extLst>
          </p:cNvPr>
          <p:cNvSpPr>
            <a:spLocks xmlns:a="http://schemas.openxmlformats.org/drawingml/2006/main" noGrp="1"/>
          </p:cNvSpPr>
          <p:nvPr/>
        </p:nvSpPr>
        <p:spPr>
          <a:xfrm xmlns:a="http://schemas.openxmlformats.org/drawingml/2006/main">
            <a:off x="6381750" y="1857375"/>
            <a:ext cx="4095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7202A"/>
                </a:solidFill>
                <a:latin typeface="Aptos"/>
                <a:ea typeface="Aptos"/>
                <a:cs typeface="Aptos"/>
              </a:defRPr>
            </a:pPr>
            <a:r>
              <a:rPr sz="2100" b="1">
                <a:solidFill>
                  <a:srgbClr val="17202A"/>
                </a:solidFill>
                <a:latin typeface="Aptos"/>
                <a:ea typeface="Aptos"/>
                <a:cs typeface="Aptos"/>
              </a:rPr>
              <a:t>The red lines</a:t>
            </a:r>
          </a:p>
        </p:txBody>
      </p:sp>
      <p:sp>
        <p:nvSpPr>
          <p:cNvPr id="20" name="">
            <a:extLst xmlns:a="http://schemas.openxmlformats.org/drawingml/2006/main">
              <a:ext uri="{FF2B5EF4-FFF2-40B4-BE49-F238E27FC236}">
                <a16:creationId xmlns:a16="http://schemas.microsoft.com/office/drawing/2014/main" id="{FA9DBD9D-838F-4948-925D-EF2D5E50C1C1}"/>
              </a:ext>
            </a:extLst>
          </p:cNvPr>
          <p:cNvSpPr>
            <a:spLocks xmlns:a="http://schemas.openxmlformats.org/drawingml/2006/main" noGrp="1"/>
          </p:cNvSpPr>
          <p:nvPr/>
        </p:nvSpPr>
        <p:spPr>
          <a:xfrm xmlns:a="http://schemas.openxmlformats.org/drawingml/2006/main">
            <a:off x="6457950" y="2495550"/>
            <a:ext cx="76200" cy="76200"/>
          </a:xfrm>
          <a:prstGeom xmlns:a="http://schemas.openxmlformats.org/drawingml/2006/main" prst="rect">
            <a:avLst/>
          </a:prstGeom>
          <a:solidFill xmlns:a="http://schemas.openxmlformats.org/drawingml/2006/main">
            <a:srgbClr val="C4553F"/>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6C2ACEC4-D6D4-4FDD-AB44-8A7B78F51669}"/>
              </a:ext>
            </a:extLst>
          </p:cNvPr>
          <p:cNvSpPr>
            <a:spLocks xmlns:a="http://schemas.openxmlformats.org/drawingml/2006/main" noGrp="1"/>
          </p:cNvSpPr>
          <p:nvPr/>
        </p:nvSpPr>
        <p:spPr>
          <a:xfrm xmlns:a="http://schemas.openxmlformats.org/drawingml/2006/main">
            <a:off x="6667500" y="2428875"/>
            <a:ext cx="3905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Never print or summarize real env/secret files.</a:t>
            </a:r>
          </a:p>
        </p:txBody>
      </p:sp>
      <p:sp>
        <p:nvSpPr>
          <p:cNvPr id="22" name="">
            <a:extLst xmlns:a="http://schemas.openxmlformats.org/drawingml/2006/main">
              <a:ext uri="{FF2B5EF4-FFF2-40B4-BE49-F238E27FC236}">
                <a16:creationId xmlns:a16="http://schemas.microsoft.com/office/drawing/2014/main" id="{83AD6363-6843-44FA-B155-1AA4D14ED6AF}"/>
              </a:ext>
            </a:extLst>
          </p:cNvPr>
          <p:cNvSpPr>
            <a:spLocks xmlns:a="http://schemas.openxmlformats.org/drawingml/2006/main" noGrp="1"/>
          </p:cNvSpPr>
          <p:nvPr/>
        </p:nvSpPr>
        <p:spPr>
          <a:xfrm xmlns:a="http://schemas.openxmlformats.org/drawingml/2006/main">
            <a:off x="6457950" y="2971800"/>
            <a:ext cx="76200" cy="76200"/>
          </a:xfrm>
          <a:prstGeom xmlns:a="http://schemas.openxmlformats.org/drawingml/2006/main" prst="rect">
            <a:avLst/>
          </a:prstGeom>
          <a:solidFill xmlns:a="http://schemas.openxmlformats.org/drawingml/2006/main">
            <a:srgbClr val="C4553F"/>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DF13873B-1266-4C9A-9522-EA816875BF9C}"/>
              </a:ext>
            </a:extLst>
          </p:cNvPr>
          <p:cNvSpPr>
            <a:spLocks xmlns:a="http://schemas.openxmlformats.org/drawingml/2006/main" noGrp="1"/>
          </p:cNvSpPr>
          <p:nvPr/>
        </p:nvSpPr>
        <p:spPr>
          <a:xfrm xmlns:a="http://schemas.openxmlformats.org/drawingml/2006/main">
            <a:off x="6667500" y="2905125"/>
            <a:ext cx="3905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No production DB writes unless explicitly approved.</a:t>
            </a:r>
          </a:p>
        </p:txBody>
      </p:sp>
      <p:sp>
        <p:nvSpPr>
          <p:cNvPr id="24" name="">
            <a:extLst xmlns:a="http://schemas.openxmlformats.org/drawingml/2006/main">
              <a:ext uri="{FF2B5EF4-FFF2-40B4-BE49-F238E27FC236}">
                <a16:creationId xmlns:a16="http://schemas.microsoft.com/office/drawing/2014/main" id="{C2332597-3B67-4AC3-B6E8-D1B860984142}"/>
              </a:ext>
            </a:extLst>
          </p:cNvPr>
          <p:cNvSpPr>
            <a:spLocks xmlns:a="http://schemas.openxmlformats.org/drawingml/2006/main" noGrp="1"/>
          </p:cNvSpPr>
          <p:nvPr/>
        </p:nvSpPr>
        <p:spPr>
          <a:xfrm xmlns:a="http://schemas.openxmlformats.org/drawingml/2006/main">
            <a:off x="6457950" y="3448050"/>
            <a:ext cx="76200" cy="76200"/>
          </a:xfrm>
          <a:prstGeom xmlns:a="http://schemas.openxmlformats.org/drawingml/2006/main" prst="rect">
            <a:avLst/>
          </a:prstGeom>
          <a:solidFill xmlns:a="http://schemas.openxmlformats.org/drawingml/2006/main">
            <a:srgbClr val="C4553F"/>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0720ABE5-C3BD-4FC0-B946-268DDF23C279}"/>
              </a:ext>
            </a:extLst>
          </p:cNvPr>
          <p:cNvSpPr>
            <a:spLocks xmlns:a="http://schemas.openxmlformats.org/drawingml/2006/main" noGrp="1"/>
          </p:cNvSpPr>
          <p:nvPr/>
        </p:nvSpPr>
        <p:spPr>
          <a:xfrm xmlns:a="http://schemas.openxmlformats.org/drawingml/2006/main">
            <a:off x="6667500" y="3381375"/>
            <a:ext cx="3905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No code today: learn first, diagram first.</a:t>
            </a:r>
          </a:p>
        </p:txBody>
      </p:sp>
      <p:sp>
        <p:nvSpPr>
          <p:cNvPr id="26" name="">
            <a:extLst xmlns:a="http://schemas.openxmlformats.org/drawingml/2006/main">
              <a:ext uri="{FF2B5EF4-FFF2-40B4-BE49-F238E27FC236}">
                <a16:creationId xmlns:a16="http://schemas.microsoft.com/office/drawing/2014/main" id="{75BAA25C-CDAB-4949-9676-1D3A1FFDBD95}"/>
              </a:ext>
            </a:extLst>
          </p:cNvPr>
          <p:cNvSpPr>
            <a:spLocks xmlns:a="http://schemas.openxmlformats.org/drawingml/2006/main" noGrp="1"/>
          </p:cNvSpPr>
          <p:nvPr/>
        </p:nvSpPr>
        <p:spPr>
          <a:xfrm xmlns:a="http://schemas.openxmlformats.org/drawingml/2006/main">
            <a:off x="6457950" y="3924300"/>
            <a:ext cx="76200" cy="76200"/>
          </a:xfrm>
          <a:prstGeom xmlns:a="http://schemas.openxmlformats.org/drawingml/2006/main" prst="rect">
            <a:avLst/>
          </a:prstGeom>
          <a:solidFill xmlns:a="http://schemas.openxmlformats.org/drawingml/2006/main">
            <a:srgbClr val="C4553F"/>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5CE0EDB7-8B2A-45D8-BA0D-DEBD2D85BF21}"/>
              </a:ext>
            </a:extLst>
          </p:cNvPr>
          <p:cNvSpPr>
            <a:spLocks xmlns:a="http://schemas.openxmlformats.org/drawingml/2006/main" noGrp="1"/>
          </p:cNvSpPr>
          <p:nvPr/>
        </p:nvSpPr>
        <p:spPr>
          <a:xfrm xmlns:a="http://schemas.openxmlformats.org/drawingml/2006/main">
            <a:off x="6667500" y="3857625"/>
            <a:ext cx="3905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No random refactors. No deleting unknown work.</a:t>
            </a:r>
          </a:p>
        </p:txBody>
      </p:sp>
      <p:sp>
        <p:nvSpPr>
          <p:cNvPr id="28" name="">
            <a:extLst xmlns:a="http://schemas.openxmlformats.org/drawingml/2006/main">
              <a:ext uri="{FF2B5EF4-FFF2-40B4-BE49-F238E27FC236}">
                <a16:creationId xmlns:a16="http://schemas.microsoft.com/office/drawing/2014/main" id="{96F652CE-5B3F-451A-9E40-2FA8E0C64D4E}"/>
              </a:ext>
            </a:extLst>
          </p:cNvPr>
          <p:cNvSpPr>
            <a:spLocks xmlns:a="http://schemas.openxmlformats.org/drawingml/2006/main" noGrp="1"/>
          </p:cNvSpPr>
          <p:nvPr/>
        </p:nvSpPr>
        <p:spPr>
          <a:xfrm xmlns:a="http://schemas.openxmlformats.org/drawingml/2006/main">
            <a:off x="6457950" y="4400550"/>
            <a:ext cx="76200" cy="76200"/>
          </a:xfrm>
          <a:prstGeom xmlns:a="http://schemas.openxmlformats.org/drawingml/2006/main" prst="rect">
            <a:avLst/>
          </a:prstGeom>
          <a:solidFill xmlns:a="http://schemas.openxmlformats.org/drawingml/2006/main">
            <a:srgbClr val="C4553F"/>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C87930D2-98E0-4C44-B87B-A51CDF8A1A07}"/>
              </a:ext>
            </a:extLst>
          </p:cNvPr>
          <p:cNvSpPr>
            <a:spLocks xmlns:a="http://schemas.openxmlformats.org/drawingml/2006/main" noGrp="1"/>
          </p:cNvSpPr>
          <p:nvPr/>
        </p:nvSpPr>
        <p:spPr>
          <a:xfrm xmlns:a="http://schemas.openxmlformats.org/drawingml/2006/main">
            <a:off x="6667500" y="4333875"/>
            <a:ext cx="3905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If a login/API key blocks setup, stop and report.</a:t>
            </a:r>
          </a:p>
        </p:txBody>
      </p:sp>
      <p:sp>
        <p:nvSpPr>
          <p:cNvPr id="30" name="">
            <a:extLst xmlns:a="http://schemas.openxmlformats.org/drawingml/2006/main">
              <a:ext uri="{FF2B5EF4-FFF2-40B4-BE49-F238E27FC236}">
                <a16:creationId xmlns:a16="http://schemas.microsoft.com/office/drawing/2014/main" id="{2739B4A5-330B-4503-A2E3-2805E6B87841}"/>
              </a:ext>
            </a:extLst>
          </p:cNvPr>
          <p:cNvSpPr>
            <a:spLocks xmlns:a="http://schemas.openxmlformats.org/drawingml/2006/main" noGrp="1"/>
          </p:cNvSpPr>
          <p:nvPr/>
        </p:nvSpPr>
        <p:spPr>
          <a:xfrm xmlns:a="http://schemas.openxmlformats.org/drawingml/2006/main">
            <a:off x="647700" y="6362700"/>
            <a:ext cx="10363200" cy="9525"/>
          </a:xfrm>
          <a:prstGeom xmlns:a="http://schemas.openxmlformats.org/drawingml/2006/main" prst="rect">
            <a:avLst/>
          </a:prstGeom>
          <a:solidFill xmlns:a="http://schemas.openxmlformats.org/drawingml/2006/main">
            <a:srgbClr val="D9D4C7"/>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6796BB2A-A622-466A-91F8-D3B10F0F9150}"/>
              </a:ext>
            </a:extLst>
          </p:cNvPr>
          <p:cNvSpPr>
            <a:spLocks xmlns:a="http://schemas.openxmlformats.org/drawingml/2006/main" noGrp="1"/>
          </p:cNvSpPr>
          <p:nvPr/>
        </p:nvSpPr>
        <p:spPr>
          <a:xfrm xmlns:a="http://schemas.openxmlformats.org/drawingml/2006/main">
            <a:off x="647700" y="64579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673"/>
                </a:solidFill>
                <a:latin typeface="Aptos"/>
                <a:ea typeface="Aptos"/>
                <a:cs typeface="Aptos"/>
              </a:defRPr>
            </a:pPr>
            <a:r>
              <a:rPr sz="975" b="0">
                <a:solidFill>
                  <a:srgbClr val="5B6673"/>
                </a:solidFill>
                <a:latin typeface="Aptos"/>
                <a:ea typeface="Aptos"/>
                <a:cs typeface="Aptos"/>
              </a:rPr>
              <a:t>PearlPortal intern onboarding</a:t>
            </a:r>
          </a:p>
        </p:txBody>
      </p:sp>
      <p:sp>
        <p:nvSpPr>
          <p:cNvPr id="32" name="">
            <a:extLst xmlns:a="http://schemas.openxmlformats.org/drawingml/2006/main">
              <a:ext uri="{FF2B5EF4-FFF2-40B4-BE49-F238E27FC236}">
                <a16:creationId xmlns:a16="http://schemas.microsoft.com/office/drawing/2014/main" id="{6683735D-F714-4E38-A280-AC62DE782434}"/>
              </a:ext>
            </a:extLst>
          </p:cNvPr>
          <p:cNvSpPr>
            <a:spLocks xmlns:a="http://schemas.openxmlformats.org/drawingml/2006/main" noGrp="1"/>
          </p:cNvSpPr>
          <p:nvPr/>
        </p:nvSpPr>
        <p:spPr>
          <a:xfrm xmlns:a="http://schemas.openxmlformats.org/drawingml/2006/main">
            <a:off x="10382250" y="64579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673"/>
                </a:solidFill>
                <a:latin typeface="Aptos"/>
                <a:ea typeface="Aptos"/>
                <a:cs typeface="Aptos"/>
              </a:defRPr>
            </a:pPr>
            <a:r>
              <a:rPr sz="975" b="0">
                <a:solidFill>
                  <a:srgbClr val="5B6673"/>
                </a:solidFill>
                <a:latin typeface="Aptos"/>
                <a:ea typeface="Aptos"/>
                <a:cs typeface="Aptos"/>
              </a:rPr>
              <a:t>03</a:t>
            </a:r>
          </a:p>
        </p:txBody>
      </p:sp>
    </p:spTree>
    <p:extLst>
      <p:ext uri="{BB962C8B-B14F-4D97-AF65-F5344CB8AC3E}">
        <p14:creationId xmlns:p14="http://schemas.microsoft.com/office/powerpoint/2010/main" val="123681562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7B6F33-464A-4E68-B60C-AE62D1A7D63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6E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3C03BD9-546B-4C6D-B599-6F6FF7F4CAE9}"/>
              </a:ext>
            </a:extLst>
          </p:cNvPr>
          <p:cNvSpPr>
            <a:spLocks xmlns:a="http://schemas.openxmlformats.org/drawingml/2006/main" noGrp="1"/>
          </p:cNvSpPr>
          <p:nvPr/>
        </p:nvSpPr>
        <p:spPr>
          <a:xfrm xmlns:a="http://schemas.openxmlformats.org/drawingml/2006/main">
            <a:off x="419100" y="381000"/>
            <a:ext cx="47625" cy="876300"/>
          </a:xfrm>
          <a:prstGeom xmlns:a="http://schemas.openxmlformats.org/drawingml/2006/main" prst="rect">
            <a:avLst/>
          </a:prstGeom>
          <a:solidFill xmlns:a="http://schemas.openxmlformats.org/drawingml/2006/main">
            <a:srgbClr val="C4553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DF33784-FAA1-47B1-9E53-E146EB6DB2DA}"/>
              </a:ext>
            </a:extLst>
          </p:cNvPr>
          <p:cNvSpPr>
            <a:spLocks xmlns:a="http://schemas.openxmlformats.org/drawingml/2006/main" noGrp="1"/>
          </p:cNvSpPr>
          <p:nvPr/>
        </p:nvSpPr>
        <p:spPr>
          <a:xfrm xmlns:a="http://schemas.openxmlformats.org/drawingml/2006/main">
            <a:off x="647700" y="400050"/>
            <a:ext cx="704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C4553F"/>
                </a:solidFill>
                <a:latin typeface="Aptos"/>
                <a:ea typeface="Aptos"/>
                <a:cs typeface="Aptos"/>
              </a:defRPr>
            </a:pPr>
            <a:r>
              <a:rPr sz="1200" b="1">
                <a:solidFill>
                  <a:srgbClr val="C4553F"/>
                </a:solidFill>
                <a:latin typeface="Aptos"/>
                <a:ea typeface="Aptos"/>
                <a:cs typeface="Aptos"/>
              </a:rPr>
              <a:t>WHY PEARLPORTAL MATTERS</a:t>
            </a:r>
          </a:p>
        </p:txBody>
      </p:sp>
      <p:sp>
        <p:nvSpPr>
          <p:cNvPr id="4" name="">
            <a:extLst xmlns:a="http://schemas.openxmlformats.org/drawingml/2006/main">
              <a:ext uri="{FF2B5EF4-FFF2-40B4-BE49-F238E27FC236}">
                <a16:creationId xmlns:a16="http://schemas.microsoft.com/office/drawing/2014/main" id="{9B422EE1-6C71-4B3E-98FC-C63CF5BB6C41}"/>
              </a:ext>
            </a:extLst>
          </p:cNvPr>
          <p:cNvSpPr>
            <a:spLocks xmlns:a="http://schemas.openxmlformats.org/drawingml/2006/main" noGrp="1"/>
          </p:cNvSpPr>
          <p:nvPr/>
        </p:nvSpPr>
        <p:spPr>
          <a:xfrm xmlns:a="http://schemas.openxmlformats.org/drawingml/2006/main">
            <a:off x="647700" y="666750"/>
            <a:ext cx="7810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7202A"/>
                </a:solidFill>
                <a:latin typeface="Aptos"/>
                <a:ea typeface="Aptos"/>
                <a:cs typeface="Aptos"/>
              </a:defRPr>
            </a:pPr>
            <a:r>
              <a:rPr sz="2850" b="1">
                <a:solidFill>
                  <a:srgbClr val="17202A"/>
                </a:solidFill>
                <a:latin typeface="Aptos"/>
                <a:ea typeface="Aptos"/>
                <a:cs typeface="Aptos"/>
              </a:rPr>
              <a:t>Mortgage operations software, not a demo app</a:t>
            </a:r>
          </a:p>
        </p:txBody>
      </p:sp>
      <p:sp>
        <p:nvSpPr>
          <p:cNvPr id="5" name="">
            <a:extLst xmlns:a="http://schemas.openxmlformats.org/drawingml/2006/main">
              <a:ext uri="{FF2B5EF4-FFF2-40B4-BE49-F238E27FC236}">
                <a16:creationId xmlns:a16="http://schemas.microsoft.com/office/drawing/2014/main" id="{BC3D4FF2-AC28-4ABD-8A00-3C5D946E228C}"/>
              </a:ext>
            </a:extLst>
          </p:cNvPr>
          <p:cNvSpPr>
            <a:spLocks xmlns:a="http://schemas.openxmlformats.org/drawingml/2006/main" noGrp="1"/>
          </p:cNvSpPr>
          <p:nvPr/>
        </p:nvSpPr>
        <p:spPr>
          <a:xfrm xmlns:a="http://schemas.openxmlformats.org/drawingml/2006/main">
            <a:off x="10001250" y="419100"/>
            <a:ext cx="1657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B6673"/>
                </a:solidFill>
                <a:latin typeface="Aptos"/>
                <a:ea typeface="Aptos"/>
                <a:cs typeface="Aptos"/>
              </a:defRPr>
            </a:pPr>
            <a:r>
              <a:rPr sz="1125" b="0">
                <a:solidFill>
                  <a:srgbClr val="5B6673"/>
                </a:solidFill>
                <a:latin typeface="Aptos"/>
                <a:ea typeface="Aptos"/>
                <a:cs typeface="Aptos"/>
              </a:rPr>
              <a:t>2026-05-04</a:t>
            </a:r>
          </a:p>
        </p:txBody>
      </p:sp>
      <p:sp>
        <p:nvSpPr>
          <p:cNvPr id="6" name="">
            <a:extLst xmlns:a="http://schemas.openxmlformats.org/drawingml/2006/main">
              <a:ext uri="{FF2B5EF4-FFF2-40B4-BE49-F238E27FC236}">
                <a16:creationId xmlns:a16="http://schemas.microsoft.com/office/drawing/2014/main" id="{7B397062-B092-4080-8E82-F700A73939F1}"/>
              </a:ext>
            </a:extLst>
          </p:cNvPr>
          <p:cNvSpPr>
            <a:spLocks xmlns:a="http://schemas.openxmlformats.org/drawingml/2006/main" noGrp="1"/>
          </p:cNvSpPr>
          <p:nvPr/>
        </p:nvSpPr>
        <p:spPr>
          <a:xfrm xmlns:a="http://schemas.openxmlformats.org/drawingml/2006/main">
            <a:off x="647700" y="1381125"/>
            <a:ext cx="97155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17202A"/>
                </a:solidFill>
                <a:latin typeface="Aptos"/>
                <a:ea typeface="Aptos"/>
                <a:cs typeface="Aptos"/>
              </a:defRPr>
            </a:pPr>
            <a:r>
              <a:rPr sz="1875" b="0">
                <a:solidFill>
                  <a:srgbClr val="17202A"/>
                </a:solidFill>
                <a:latin typeface="Aptos"/>
                <a:ea typeface="Aptos"/>
                <a:cs typeface="Aptos"/>
              </a:rPr>
              <a:t>PearlPortal connects broker work, customer records, call intelligence, deal tracking, AML workflows, and external mortgage systems into one operating surface.</a:t>
            </a:r>
          </a:p>
        </p:txBody>
      </p:sp>
      <p:sp>
        <p:nvSpPr>
          <p:cNvPr id="7" name="">
            <a:extLst xmlns:a="http://schemas.openxmlformats.org/drawingml/2006/main">
              <a:ext uri="{FF2B5EF4-FFF2-40B4-BE49-F238E27FC236}">
                <a16:creationId xmlns:a16="http://schemas.microsoft.com/office/drawing/2014/main" id="{88E8D907-3B30-4613-AFF9-47D7C0CF38B6}"/>
              </a:ext>
            </a:extLst>
          </p:cNvPr>
          <p:cNvSpPr>
            <a:spLocks xmlns:a="http://schemas.openxmlformats.org/drawingml/2006/main" noGrp="1"/>
          </p:cNvSpPr>
          <p:nvPr/>
        </p:nvSpPr>
        <p:spPr>
          <a:xfrm xmlns:a="http://schemas.openxmlformats.org/drawingml/2006/main">
            <a:off x="647700" y="2524125"/>
            <a:ext cx="2476500" cy="1666875"/>
          </a:xfrm>
          <a:prstGeom xmlns:a="http://schemas.openxmlformats.org/drawingml/2006/main" prst="rect">
            <a:avLst/>
          </a:prstGeom>
          <a:solidFill xmlns:a="http://schemas.openxmlformats.org/drawingml/2006/main">
            <a:srgbClr val="D8F3EE"/>
          </a:solidFill>
          <a:ln xmlns:a="http://schemas.openxmlformats.org/drawingml/2006/main" w="9525">
            <a:solidFill>
              <a:srgbClr val="D9D4C7"/>
            </a:solidFill>
            <a:prstDash val="solid"/>
          </a:ln>
        </p:spPr>
      </p:sp>
      <p:sp>
        <p:nvSpPr>
          <p:cNvPr id="8" name="">
            <a:extLst xmlns:a="http://schemas.openxmlformats.org/drawingml/2006/main">
              <a:ext uri="{FF2B5EF4-FFF2-40B4-BE49-F238E27FC236}">
                <a16:creationId xmlns:a16="http://schemas.microsoft.com/office/drawing/2014/main" id="{4654648E-F0FA-4A34-99FE-DA3DDEA3D9FA}"/>
              </a:ext>
            </a:extLst>
          </p:cNvPr>
          <p:cNvSpPr>
            <a:spLocks xmlns:a="http://schemas.openxmlformats.org/drawingml/2006/main" noGrp="1"/>
          </p:cNvSpPr>
          <p:nvPr/>
        </p:nvSpPr>
        <p:spPr>
          <a:xfrm xmlns:a="http://schemas.openxmlformats.org/drawingml/2006/main">
            <a:off x="819150" y="2676525"/>
            <a:ext cx="21336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F766E"/>
                </a:solidFill>
                <a:latin typeface="Aptos"/>
                <a:ea typeface="Aptos"/>
                <a:cs typeface="Aptos"/>
              </a:defRPr>
            </a:pPr>
            <a:r>
              <a:rPr sz="2325" b="1">
                <a:solidFill>
                  <a:srgbClr val="0F766E"/>
                </a:solidFill>
                <a:latin typeface="Aptos"/>
                <a:ea typeface="Aptos"/>
                <a:cs typeface="Aptos"/>
              </a:rPr>
              <a:t>Users</a:t>
            </a:r>
          </a:p>
        </p:txBody>
      </p:sp>
      <p:sp>
        <p:nvSpPr>
          <p:cNvPr id="9" name="">
            <a:extLst xmlns:a="http://schemas.openxmlformats.org/drawingml/2006/main">
              <a:ext uri="{FF2B5EF4-FFF2-40B4-BE49-F238E27FC236}">
                <a16:creationId xmlns:a16="http://schemas.microsoft.com/office/drawing/2014/main" id="{5124E76A-6B85-4DAE-A9AF-9522580C24DC}"/>
              </a:ext>
            </a:extLst>
          </p:cNvPr>
          <p:cNvSpPr>
            <a:spLocks xmlns:a="http://schemas.openxmlformats.org/drawingml/2006/main" noGrp="1"/>
          </p:cNvSpPr>
          <p:nvPr/>
        </p:nvSpPr>
        <p:spPr>
          <a:xfrm xmlns:a="http://schemas.openxmlformats.org/drawingml/2006/main">
            <a:off x="819150" y="3095625"/>
            <a:ext cx="2133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brokers + admins</a:t>
            </a:r>
          </a:p>
        </p:txBody>
      </p:sp>
      <p:sp>
        <p:nvSpPr>
          <p:cNvPr id="10" name="">
            <a:extLst xmlns:a="http://schemas.openxmlformats.org/drawingml/2006/main">
              <a:ext uri="{FF2B5EF4-FFF2-40B4-BE49-F238E27FC236}">
                <a16:creationId xmlns:a16="http://schemas.microsoft.com/office/drawing/2014/main" id="{35FDAF5C-02B4-4E44-944C-9769642973D0}"/>
              </a:ext>
            </a:extLst>
          </p:cNvPr>
          <p:cNvSpPr>
            <a:spLocks xmlns:a="http://schemas.openxmlformats.org/drawingml/2006/main" noGrp="1"/>
          </p:cNvSpPr>
          <p:nvPr/>
        </p:nvSpPr>
        <p:spPr>
          <a:xfrm xmlns:a="http://schemas.openxmlformats.org/drawingml/2006/main">
            <a:off x="819150" y="3400425"/>
            <a:ext cx="2133600" cy="638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B6673"/>
                </a:solidFill>
                <a:latin typeface="Aptos"/>
                <a:ea typeface="Aptos"/>
                <a:cs typeface="Aptos"/>
              </a:defRPr>
            </a:pPr>
            <a:r>
              <a:rPr sz="1050" b="0">
                <a:solidFill>
                  <a:srgbClr val="5B6673"/>
                </a:solidFill>
                <a:latin typeface="Aptos"/>
                <a:ea typeface="Aptos"/>
                <a:cs typeface="Aptos"/>
              </a:rPr>
              <a:t>Role and ownership rules matter because the same UI means different permissions for different people.</a:t>
            </a:r>
          </a:p>
        </p:txBody>
      </p:sp>
      <p:sp>
        <p:nvSpPr>
          <p:cNvPr id="11" name="">
            <a:extLst xmlns:a="http://schemas.openxmlformats.org/drawingml/2006/main">
              <a:ext uri="{FF2B5EF4-FFF2-40B4-BE49-F238E27FC236}">
                <a16:creationId xmlns:a16="http://schemas.microsoft.com/office/drawing/2014/main" id="{EB8F4C6C-13EA-48F3-B81A-A7490926BC2F}"/>
              </a:ext>
            </a:extLst>
          </p:cNvPr>
          <p:cNvSpPr>
            <a:spLocks xmlns:a="http://schemas.openxmlformats.org/drawingml/2006/main" noGrp="1"/>
          </p:cNvSpPr>
          <p:nvPr/>
        </p:nvSpPr>
        <p:spPr>
          <a:xfrm xmlns:a="http://schemas.openxmlformats.org/drawingml/2006/main">
            <a:off x="3429000" y="2524125"/>
            <a:ext cx="2476500" cy="1666875"/>
          </a:xfrm>
          <a:prstGeom xmlns:a="http://schemas.openxmlformats.org/drawingml/2006/main" prst="rect">
            <a:avLst/>
          </a:prstGeom>
          <a:solidFill xmlns:a="http://schemas.openxmlformats.org/drawingml/2006/main">
            <a:srgbClr val="E4DFF4"/>
          </a:solidFill>
          <a:ln xmlns:a="http://schemas.openxmlformats.org/drawingml/2006/main" w="9525">
            <a:solidFill>
              <a:srgbClr val="D9D4C7"/>
            </a:solidFill>
            <a:prstDash val="solid"/>
          </a:ln>
        </p:spPr>
      </p:sp>
      <p:sp>
        <p:nvSpPr>
          <p:cNvPr id="12" name="">
            <a:extLst xmlns:a="http://schemas.openxmlformats.org/drawingml/2006/main">
              <a:ext uri="{FF2B5EF4-FFF2-40B4-BE49-F238E27FC236}">
                <a16:creationId xmlns:a16="http://schemas.microsoft.com/office/drawing/2014/main" id="{B872B6DC-F450-43F0-9DF1-119FE69A7AE4}"/>
              </a:ext>
            </a:extLst>
          </p:cNvPr>
          <p:cNvSpPr>
            <a:spLocks xmlns:a="http://schemas.openxmlformats.org/drawingml/2006/main" noGrp="1"/>
          </p:cNvSpPr>
          <p:nvPr/>
        </p:nvSpPr>
        <p:spPr>
          <a:xfrm xmlns:a="http://schemas.openxmlformats.org/drawingml/2006/main">
            <a:off x="3600450" y="2676525"/>
            <a:ext cx="21336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5B4B8A"/>
                </a:solidFill>
                <a:latin typeface="Aptos"/>
                <a:ea typeface="Aptos"/>
                <a:cs typeface="Aptos"/>
              </a:defRPr>
            </a:pPr>
            <a:r>
              <a:rPr sz="2325" b="1">
                <a:solidFill>
                  <a:srgbClr val="5B4B8A"/>
                </a:solidFill>
                <a:latin typeface="Aptos"/>
                <a:ea typeface="Aptos"/>
                <a:cs typeface="Aptos"/>
              </a:rPr>
              <a:t>Records</a:t>
            </a:r>
          </a:p>
        </p:txBody>
      </p:sp>
      <p:sp>
        <p:nvSpPr>
          <p:cNvPr id="13" name="">
            <a:extLst xmlns:a="http://schemas.openxmlformats.org/drawingml/2006/main">
              <a:ext uri="{FF2B5EF4-FFF2-40B4-BE49-F238E27FC236}">
                <a16:creationId xmlns:a16="http://schemas.microsoft.com/office/drawing/2014/main" id="{320A094C-F5C2-497A-828C-5A1C05FE2696}"/>
              </a:ext>
            </a:extLst>
          </p:cNvPr>
          <p:cNvSpPr>
            <a:spLocks xmlns:a="http://schemas.openxmlformats.org/drawingml/2006/main" noGrp="1"/>
          </p:cNvSpPr>
          <p:nvPr/>
        </p:nvSpPr>
        <p:spPr>
          <a:xfrm xmlns:a="http://schemas.openxmlformats.org/drawingml/2006/main">
            <a:off x="3600450" y="3095625"/>
            <a:ext cx="2133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leads + deals + clients</a:t>
            </a:r>
          </a:p>
        </p:txBody>
      </p:sp>
      <p:sp>
        <p:nvSpPr>
          <p:cNvPr id="14" name="">
            <a:extLst xmlns:a="http://schemas.openxmlformats.org/drawingml/2006/main">
              <a:ext uri="{FF2B5EF4-FFF2-40B4-BE49-F238E27FC236}">
                <a16:creationId xmlns:a16="http://schemas.microsoft.com/office/drawing/2014/main" id="{05C9D52B-48D2-49E6-84AA-501C7DAE6F7C}"/>
              </a:ext>
            </a:extLst>
          </p:cNvPr>
          <p:cNvSpPr>
            <a:spLocks xmlns:a="http://schemas.openxmlformats.org/drawingml/2006/main" noGrp="1"/>
          </p:cNvSpPr>
          <p:nvPr/>
        </p:nvSpPr>
        <p:spPr>
          <a:xfrm xmlns:a="http://schemas.openxmlformats.org/drawingml/2006/main">
            <a:off x="3600450" y="3400425"/>
            <a:ext cx="2133600" cy="638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B6673"/>
                </a:solidFill>
                <a:latin typeface="Aptos"/>
                <a:ea typeface="Aptos"/>
                <a:cs typeface="Aptos"/>
              </a:defRPr>
            </a:pPr>
            <a:r>
              <a:rPr sz="1050" b="0">
                <a:solidFill>
                  <a:srgbClr val="5B6673"/>
                </a:solidFill>
                <a:latin typeface="Aptos"/>
                <a:ea typeface="Aptos"/>
                <a:cs typeface="Aptos"/>
              </a:rPr>
              <a:t>Most bugs are relationship bugs: owner, contact, family, opportunity, activity, document, status.</a:t>
            </a:r>
          </a:p>
        </p:txBody>
      </p:sp>
      <p:sp>
        <p:nvSpPr>
          <p:cNvPr id="15" name="">
            <a:extLst xmlns:a="http://schemas.openxmlformats.org/drawingml/2006/main">
              <a:ext uri="{FF2B5EF4-FFF2-40B4-BE49-F238E27FC236}">
                <a16:creationId xmlns:a16="http://schemas.microsoft.com/office/drawing/2014/main" id="{730BFE52-369E-462E-B771-1303CB32B5FB}"/>
              </a:ext>
            </a:extLst>
          </p:cNvPr>
          <p:cNvSpPr>
            <a:spLocks xmlns:a="http://schemas.openxmlformats.org/drawingml/2006/main" noGrp="1"/>
          </p:cNvSpPr>
          <p:nvPr/>
        </p:nvSpPr>
        <p:spPr>
          <a:xfrm xmlns:a="http://schemas.openxmlformats.org/drawingml/2006/main">
            <a:off x="6210300" y="2524125"/>
            <a:ext cx="2476500" cy="1666875"/>
          </a:xfrm>
          <a:prstGeom xmlns:a="http://schemas.openxmlformats.org/drawingml/2006/main" prst="rect">
            <a:avLst/>
          </a:prstGeom>
          <a:solidFill xmlns:a="http://schemas.openxmlformats.org/drawingml/2006/main">
            <a:srgbClr val="F6E6BE"/>
          </a:solidFill>
          <a:ln xmlns:a="http://schemas.openxmlformats.org/drawingml/2006/main" w="9525">
            <a:solidFill>
              <a:srgbClr val="D9D4C7"/>
            </a:solidFill>
            <a:prstDash val="solid"/>
          </a:ln>
        </p:spPr>
      </p:sp>
      <p:sp>
        <p:nvSpPr>
          <p:cNvPr id="16" name="">
            <a:extLst xmlns:a="http://schemas.openxmlformats.org/drawingml/2006/main">
              <a:ext uri="{FF2B5EF4-FFF2-40B4-BE49-F238E27FC236}">
                <a16:creationId xmlns:a16="http://schemas.microsoft.com/office/drawing/2014/main" id="{03719BDF-AAD5-47D8-B41B-A383D4110465}"/>
              </a:ext>
            </a:extLst>
          </p:cNvPr>
          <p:cNvSpPr>
            <a:spLocks xmlns:a="http://schemas.openxmlformats.org/drawingml/2006/main" noGrp="1"/>
          </p:cNvSpPr>
          <p:nvPr/>
        </p:nvSpPr>
        <p:spPr>
          <a:xfrm xmlns:a="http://schemas.openxmlformats.org/drawingml/2006/main">
            <a:off x="6381750" y="2676525"/>
            <a:ext cx="21336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B7791F"/>
                </a:solidFill>
                <a:latin typeface="Aptos"/>
                <a:ea typeface="Aptos"/>
                <a:cs typeface="Aptos"/>
              </a:defRPr>
            </a:pPr>
            <a:r>
              <a:rPr sz="2325" b="1">
                <a:solidFill>
                  <a:srgbClr val="B7791F"/>
                </a:solidFill>
                <a:latin typeface="Aptos"/>
                <a:ea typeface="Aptos"/>
                <a:cs typeface="Aptos"/>
              </a:rPr>
              <a:t>Signals</a:t>
            </a:r>
          </a:p>
        </p:txBody>
      </p:sp>
      <p:sp>
        <p:nvSpPr>
          <p:cNvPr id="17" name="">
            <a:extLst xmlns:a="http://schemas.openxmlformats.org/drawingml/2006/main">
              <a:ext uri="{FF2B5EF4-FFF2-40B4-BE49-F238E27FC236}">
                <a16:creationId xmlns:a16="http://schemas.microsoft.com/office/drawing/2014/main" id="{0F6CF28E-B674-4A01-865D-AD6E2214098B}"/>
              </a:ext>
            </a:extLst>
          </p:cNvPr>
          <p:cNvSpPr>
            <a:spLocks xmlns:a="http://schemas.openxmlformats.org/drawingml/2006/main" noGrp="1"/>
          </p:cNvSpPr>
          <p:nvPr/>
        </p:nvSpPr>
        <p:spPr>
          <a:xfrm xmlns:a="http://schemas.openxmlformats.org/drawingml/2006/main">
            <a:off x="6381750" y="3095625"/>
            <a:ext cx="2133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calls + SMS + notes</a:t>
            </a:r>
          </a:p>
        </p:txBody>
      </p:sp>
      <p:sp>
        <p:nvSpPr>
          <p:cNvPr id="18" name="">
            <a:extLst xmlns:a="http://schemas.openxmlformats.org/drawingml/2006/main">
              <a:ext uri="{FF2B5EF4-FFF2-40B4-BE49-F238E27FC236}">
                <a16:creationId xmlns:a16="http://schemas.microsoft.com/office/drawing/2014/main" id="{417E8148-A6B6-4DA8-AB09-362BDCC07B3A}"/>
              </a:ext>
            </a:extLst>
          </p:cNvPr>
          <p:cNvSpPr>
            <a:spLocks xmlns:a="http://schemas.openxmlformats.org/drawingml/2006/main" noGrp="1"/>
          </p:cNvSpPr>
          <p:nvPr/>
        </p:nvSpPr>
        <p:spPr>
          <a:xfrm xmlns:a="http://schemas.openxmlformats.org/drawingml/2006/main">
            <a:off x="6381750" y="3400425"/>
            <a:ext cx="2133600" cy="638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B6673"/>
                </a:solidFill>
                <a:latin typeface="Aptos"/>
                <a:ea typeface="Aptos"/>
                <a:cs typeface="Aptos"/>
              </a:defRPr>
            </a:pPr>
            <a:r>
              <a:rPr sz="1050" b="0">
                <a:solidFill>
                  <a:srgbClr val="5B6673"/>
                </a:solidFill>
                <a:latin typeface="Aptos"/>
                <a:ea typeface="Aptos"/>
                <a:cs typeface="Aptos"/>
              </a:rPr>
              <a:t>The product is useful when communication history becomes searchable context, not loose fragments.</a:t>
            </a:r>
          </a:p>
        </p:txBody>
      </p:sp>
      <p:sp>
        <p:nvSpPr>
          <p:cNvPr id="19" name="">
            <a:extLst xmlns:a="http://schemas.openxmlformats.org/drawingml/2006/main">
              <a:ext uri="{FF2B5EF4-FFF2-40B4-BE49-F238E27FC236}">
                <a16:creationId xmlns:a16="http://schemas.microsoft.com/office/drawing/2014/main" id="{72DC65ED-0A4D-4D35-8BCD-DC81FB857F2C}"/>
              </a:ext>
            </a:extLst>
          </p:cNvPr>
          <p:cNvSpPr>
            <a:spLocks xmlns:a="http://schemas.openxmlformats.org/drawingml/2006/main" noGrp="1"/>
          </p:cNvSpPr>
          <p:nvPr/>
        </p:nvSpPr>
        <p:spPr>
          <a:xfrm xmlns:a="http://schemas.openxmlformats.org/drawingml/2006/main">
            <a:off x="8991600" y="2524125"/>
            <a:ext cx="2476500" cy="1666875"/>
          </a:xfrm>
          <a:prstGeom xmlns:a="http://schemas.openxmlformats.org/drawingml/2006/main" prst="rect">
            <a:avLst/>
          </a:prstGeom>
          <a:solidFill xmlns:a="http://schemas.openxmlformats.org/drawingml/2006/main">
            <a:srgbClr val="F5DDD5"/>
          </a:solidFill>
          <a:ln xmlns:a="http://schemas.openxmlformats.org/drawingml/2006/main" w="9525">
            <a:solidFill>
              <a:srgbClr val="D9D4C7"/>
            </a:solidFill>
            <a:prstDash val="solid"/>
          </a:ln>
        </p:spPr>
      </p:sp>
      <p:sp>
        <p:nvSpPr>
          <p:cNvPr id="20" name="">
            <a:extLst xmlns:a="http://schemas.openxmlformats.org/drawingml/2006/main">
              <a:ext uri="{FF2B5EF4-FFF2-40B4-BE49-F238E27FC236}">
                <a16:creationId xmlns:a16="http://schemas.microsoft.com/office/drawing/2014/main" id="{31B232AF-9DA6-4528-BAF8-66654B4FBDA2}"/>
              </a:ext>
            </a:extLst>
          </p:cNvPr>
          <p:cNvSpPr>
            <a:spLocks xmlns:a="http://schemas.openxmlformats.org/drawingml/2006/main" noGrp="1"/>
          </p:cNvSpPr>
          <p:nvPr/>
        </p:nvSpPr>
        <p:spPr>
          <a:xfrm xmlns:a="http://schemas.openxmlformats.org/drawingml/2006/main">
            <a:off x="9163050" y="2676525"/>
            <a:ext cx="21336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C4553F"/>
                </a:solidFill>
                <a:latin typeface="Aptos"/>
                <a:ea typeface="Aptos"/>
                <a:cs typeface="Aptos"/>
              </a:defRPr>
            </a:pPr>
            <a:r>
              <a:rPr sz="2325" b="1">
                <a:solidFill>
                  <a:srgbClr val="C4553F"/>
                </a:solidFill>
                <a:latin typeface="Aptos"/>
                <a:ea typeface="Aptos"/>
                <a:cs typeface="Aptos"/>
              </a:rPr>
              <a:t>AI</a:t>
            </a:r>
          </a:p>
        </p:txBody>
      </p:sp>
      <p:sp>
        <p:nvSpPr>
          <p:cNvPr id="21" name="">
            <a:extLst xmlns:a="http://schemas.openxmlformats.org/drawingml/2006/main">
              <a:ext uri="{FF2B5EF4-FFF2-40B4-BE49-F238E27FC236}">
                <a16:creationId xmlns:a16="http://schemas.microsoft.com/office/drawing/2014/main" id="{293B3D01-2F88-4A52-93E5-31473E72A218}"/>
              </a:ext>
            </a:extLst>
          </p:cNvPr>
          <p:cNvSpPr>
            <a:spLocks xmlns:a="http://schemas.openxmlformats.org/drawingml/2006/main" noGrp="1"/>
          </p:cNvSpPr>
          <p:nvPr/>
        </p:nvSpPr>
        <p:spPr>
          <a:xfrm xmlns:a="http://schemas.openxmlformats.org/drawingml/2006/main">
            <a:off x="9163050" y="3095625"/>
            <a:ext cx="2133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A"/>
                </a:solidFill>
                <a:latin typeface="Aptos"/>
                <a:ea typeface="Aptos"/>
                <a:cs typeface="Aptos"/>
              </a:defRPr>
            </a:pPr>
            <a:r>
              <a:rPr sz="1125" b="1">
                <a:solidFill>
                  <a:srgbClr val="17202A"/>
                </a:solidFill>
                <a:latin typeface="Aptos"/>
                <a:ea typeface="Aptos"/>
                <a:cs typeface="Aptos"/>
              </a:rPr>
              <a:t>summaries + AML + proposals</a:t>
            </a:r>
          </a:p>
        </p:txBody>
      </p:sp>
      <p:sp>
        <p:nvSpPr>
          <p:cNvPr id="22" name="">
            <a:extLst xmlns:a="http://schemas.openxmlformats.org/drawingml/2006/main">
              <a:ext uri="{FF2B5EF4-FFF2-40B4-BE49-F238E27FC236}">
                <a16:creationId xmlns:a16="http://schemas.microsoft.com/office/drawing/2014/main" id="{2AB9479A-F9A7-4650-9D72-2D29A60871E3}"/>
              </a:ext>
            </a:extLst>
          </p:cNvPr>
          <p:cNvSpPr>
            <a:spLocks xmlns:a="http://schemas.openxmlformats.org/drawingml/2006/main" noGrp="1"/>
          </p:cNvSpPr>
          <p:nvPr/>
        </p:nvSpPr>
        <p:spPr>
          <a:xfrm xmlns:a="http://schemas.openxmlformats.org/drawingml/2006/main">
            <a:off x="9163050" y="3400425"/>
            <a:ext cx="2133600" cy="6381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B6673"/>
                </a:solidFill>
                <a:latin typeface="Aptos"/>
                <a:ea typeface="Aptos"/>
                <a:cs typeface="Aptos"/>
              </a:defRPr>
            </a:pPr>
            <a:r>
              <a:rPr sz="1050" b="0">
                <a:solidFill>
                  <a:srgbClr val="5B6673"/>
                </a:solidFill>
                <a:latin typeface="Aptos"/>
                <a:ea typeface="Aptos"/>
                <a:cs typeface="Aptos"/>
              </a:rPr>
              <a:t>AI is only valuable when it lands inside a trusted workflow with tests and review.</a:t>
            </a:r>
          </a:p>
        </p:txBody>
      </p:sp>
      <p:sp>
        <p:nvSpPr>
          <p:cNvPr id="23" name="">
            <a:extLst xmlns:a="http://schemas.openxmlformats.org/drawingml/2006/main">
              <a:ext uri="{FF2B5EF4-FFF2-40B4-BE49-F238E27FC236}">
                <a16:creationId xmlns:a16="http://schemas.microsoft.com/office/drawing/2014/main" id="{CD9D61F3-6002-4FE6-B6F7-CACB9CBFE93C}"/>
              </a:ext>
            </a:extLst>
          </p:cNvPr>
          <p:cNvSpPr>
            <a:spLocks xmlns:a="http://schemas.openxmlformats.org/drawingml/2006/main" noGrp="1"/>
          </p:cNvSpPr>
          <p:nvPr/>
        </p:nvSpPr>
        <p:spPr>
          <a:xfrm xmlns:a="http://schemas.openxmlformats.org/drawingml/2006/main">
            <a:off x="647700" y="4714875"/>
            <a:ext cx="8572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7202A"/>
                </a:solidFill>
                <a:latin typeface="Aptos"/>
                <a:ea typeface="Aptos"/>
                <a:cs typeface="Aptos"/>
              </a:defRPr>
            </a:pPr>
            <a:r>
              <a:rPr sz="1725" b="1">
                <a:solidFill>
                  <a:srgbClr val="17202A"/>
                </a:solidFill>
                <a:latin typeface="Aptos"/>
                <a:ea typeface="Aptos"/>
                <a:cs typeface="Aptos"/>
              </a:rPr>
              <a:t>Intern rule: understand the workflow before judging the code. A line of code may encode a real brokerage constraint.</a:t>
            </a:r>
          </a:p>
        </p:txBody>
      </p:sp>
      <p:sp>
        <p:nvSpPr>
          <p:cNvPr id="24" name="">
            <a:extLst xmlns:a="http://schemas.openxmlformats.org/drawingml/2006/main">
              <a:ext uri="{FF2B5EF4-FFF2-40B4-BE49-F238E27FC236}">
                <a16:creationId xmlns:a16="http://schemas.microsoft.com/office/drawing/2014/main" id="{4E3EF227-624F-496B-BD17-CA2B0530E9E0}"/>
              </a:ext>
            </a:extLst>
          </p:cNvPr>
          <p:cNvSpPr>
            <a:spLocks xmlns:a="http://schemas.openxmlformats.org/drawingml/2006/main" noGrp="1"/>
          </p:cNvSpPr>
          <p:nvPr/>
        </p:nvSpPr>
        <p:spPr>
          <a:xfrm xmlns:a="http://schemas.openxmlformats.org/drawingml/2006/main">
            <a:off x="647700" y="6362700"/>
            <a:ext cx="10363200" cy="9525"/>
          </a:xfrm>
          <a:prstGeom xmlns:a="http://schemas.openxmlformats.org/drawingml/2006/main" prst="rect">
            <a:avLst/>
          </a:prstGeom>
          <a:solidFill xmlns:a="http://schemas.openxmlformats.org/drawingml/2006/main">
            <a:srgbClr val="D9D4C7"/>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761AF41E-910D-4D18-B54E-21A535E7CB8E}"/>
              </a:ext>
            </a:extLst>
          </p:cNvPr>
          <p:cNvSpPr>
            <a:spLocks xmlns:a="http://schemas.openxmlformats.org/drawingml/2006/main" noGrp="1"/>
          </p:cNvSpPr>
          <p:nvPr/>
        </p:nvSpPr>
        <p:spPr>
          <a:xfrm xmlns:a="http://schemas.openxmlformats.org/drawingml/2006/main">
            <a:off x="647700" y="64579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673"/>
                </a:solidFill>
                <a:latin typeface="Aptos"/>
                <a:ea typeface="Aptos"/>
                <a:cs typeface="Aptos"/>
              </a:defRPr>
            </a:pPr>
            <a:r>
              <a:rPr sz="975" b="0">
                <a:solidFill>
                  <a:srgbClr val="5B6673"/>
                </a:solidFill>
                <a:latin typeface="Aptos"/>
                <a:ea typeface="Aptos"/>
                <a:cs typeface="Aptos"/>
              </a:rPr>
              <a:t>PearlPortal intern onboarding</a:t>
            </a:r>
          </a:p>
        </p:txBody>
      </p:sp>
      <p:sp>
        <p:nvSpPr>
          <p:cNvPr id="26" name="">
            <a:extLst xmlns:a="http://schemas.openxmlformats.org/drawingml/2006/main">
              <a:ext uri="{FF2B5EF4-FFF2-40B4-BE49-F238E27FC236}">
                <a16:creationId xmlns:a16="http://schemas.microsoft.com/office/drawing/2014/main" id="{AD5CDE92-5BE2-4A4C-9B3E-789CC6A3FEAE}"/>
              </a:ext>
            </a:extLst>
          </p:cNvPr>
          <p:cNvSpPr>
            <a:spLocks xmlns:a="http://schemas.openxmlformats.org/drawingml/2006/main" noGrp="1"/>
          </p:cNvSpPr>
          <p:nvPr/>
        </p:nvSpPr>
        <p:spPr>
          <a:xfrm xmlns:a="http://schemas.openxmlformats.org/drawingml/2006/main">
            <a:off x="10382250" y="64579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673"/>
                </a:solidFill>
                <a:latin typeface="Aptos"/>
                <a:ea typeface="Aptos"/>
                <a:cs typeface="Aptos"/>
              </a:defRPr>
            </a:pPr>
            <a:r>
              <a:rPr sz="975" b="0">
                <a:solidFill>
                  <a:srgbClr val="5B6673"/>
                </a:solidFill>
                <a:latin typeface="Aptos"/>
                <a:ea typeface="Aptos"/>
                <a:cs typeface="Aptos"/>
              </a:rPr>
              <a:t>04</a:t>
            </a:r>
          </a:p>
        </p:txBody>
      </p:sp>
    </p:spTree>
    <p:extLst>
      <p:ext uri="{BB962C8B-B14F-4D97-AF65-F5344CB8AC3E}">
        <p14:creationId xmlns:p14="http://schemas.microsoft.com/office/powerpoint/2010/main" val="139843949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912AC89-C80D-425F-B7F7-957A5997BD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6E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0528F7F-34C9-4DF6-AC66-C5CA9145A0A3}"/>
              </a:ext>
            </a:extLst>
          </p:cNvPr>
          <p:cNvSpPr>
            <a:spLocks xmlns:a="http://schemas.openxmlformats.org/drawingml/2006/main" noGrp="1"/>
          </p:cNvSpPr>
          <p:nvPr/>
        </p:nvSpPr>
        <p:spPr>
          <a:xfrm xmlns:a="http://schemas.openxmlformats.org/drawingml/2006/main">
            <a:off x="419100" y="381000"/>
            <a:ext cx="47625" cy="876300"/>
          </a:xfrm>
          <a:prstGeom xmlns:a="http://schemas.openxmlformats.org/drawingml/2006/main" prst="rect">
            <a:avLst/>
          </a:prstGeom>
          <a:solidFill xmlns:a="http://schemas.openxmlformats.org/drawingml/2006/main">
            <a:srgbClr val="5B4B8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99F633B-B7A8-4BDC-8597-4AD99E580C1C}"/>
              </a:ext>
            </a:extLst>
          </p:cNvPr>
          <p:cNvSpPr>
            <a:spLocks xmlns:a="http://schemas.openxmlformats.org/drawingml/2006/main" noGrp="1"/>
          </p:cNvSpPr>
          <p:nvPr/>
        </p:nvSpPr>
        <p:spPr>
          <a:xfrm xmlns:a="http://schemas.openxmlformats.org/drawingml/2006/main">
            <a:off x="647700" y="400050"/>
            <a:ext cx="704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5B4B8A"/>
                </a:solidFill>
                <a:latin typeface="Aptos"/>
                <a:ea typeface="Aptos"/>
                <a:cs typeface="Aptos"/>
              </a:defRPr>
            </a:pPr>
            <a:r>
              <a:rPr sz="1200" b="1">
                <a:solidFill>
                  <a:srgbClr val="5B4B8A"/>
                </a:solidFill>
                <a:latin typeface="Aptos"/>
                <a:ea typeface="Aptos"/>
                <a:cs typeface="Aptos"/>
              </a:rPr>
              <a:t>ARCHITECTURE MAP</a:t>
            </a:r>
          </a:p>
        </p:txBody>
      </p:sp>
      <p:sp>
        <p:nvSpPr>
          <p:cNvPr id="4" name="">
            <a:extLst xmlns:a="http://schemas.openxmlformats.org/drawingml/2006/main">
              <a:ext uri="{FF2B5EF4-FFF2-40B4-BE49-F238E27FC236}">
                <a16:creationId xmlns:a16="http://schemas.microsoft.com/office/drawing/2014/main" id="{3EDE6AF7-94E0-4E2B-A52D-1D1E1ED43524}"/>
              </a:ext>
            </a:extLst>
          </p:cNvPr>
          <p:cNvSpPr>
            <a:spLocks xmlns:a="http://schemas.openxmlformats.org/drawingml/2006/main" noGrp="1"/>
          </p:cNvSpPr>
          <p:nvPr/>
        </p:nvSpPr>
        <p:spPr>
          <a:xfrm xmlns:a="http://schemas.openxmlformats.org/drawingml/2006/main">
            <a:off x="647700" y="666750"/>
            <a:ext cx="7810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7202A"/>
                </a:solidFill>
                <a:latin typeface="Aptos"/>
                <a:ea typeface="Aptos"/>
                <a:cs typeface="Aptos"/>
              </a:defRPr>
            </a:pPr>
            <a:r>
              <a:rPr sz="2850" b="1">
                <a:solidFill>
                  <a:srgbClr val="17202A"/>
                </a:solidFill>
                <a:latin typeface="Aptos"/>
                <a:ea typeface="Aptos"/>
                <a:cs typeface="Aptos"/>
              </a:rPr>
              <a:t>Two app repos plus Supabase and external systems</a:t>
            </a:r>
          </a:p>
        </p:txBody>
      </p:sp>
      <p:sp>
        <p:nvSpPr>
          <p:cNvPr id="5" name="">
            <a:extLst xmlns:a="http://schemas.openxmlformats.org/drawingml/2006/main">
              <a:ext uri="{FF2B5EF4-FFF2-40B4-BE49-F238E27FC236}">
                <a16:creationId xmlns:a16="http://schemas.microsoft.com/office/drawing/2014/main" id="{01DDCC03-60E2-46C3-9FBD-4F0F212D2C99}"/>
              </a:ext>
            </a:extLst>
          </p:cNvPr>
          <p:cNvSpPr>
            <a:spLocks xmlns:a="http://schemas.openxmlformats.org/drawingml/2006/main" noGrp="1"/>
          </p:cNvSpPr>
          <p:nvPr/>
        </p:nvSpPr>
        <p:spPr>
          <a:xfrm xmlns:a="http://schemas.openxmlformats.org/drawingml/2006/main">
            <a:off x="10001250" y="419100"/>
            <a:ext cx="1657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B6673"/>
                </a:solidFill>
                <a:latin typeface="Aptos"/>
                <a:ea typeface="Aptos"/>
                <a:cs typeface="Aptos"/>
              </a:defRPr>
            </a:pPr>
            <a:r>
              <a:rPr sz="1125" b="0">
                <a:solidFill>
                  <a:srgbClr val="5B6673"/>
                </a:solidFill>
                <a:latin typeface="Aptos"/>
                <a:ea typeface="Aptos"/>
                <a:cs typeface="Aptos"/>
              </a:rPr>
              <a:t>2026-05-04</a:t>
            </a:r>
          </a:p>
        </p:txBody>
      </p:sp>
      <p:sp>
        <p:nvSpPr>
          <p:cNvPr id="6" name="">
            <a:extLst xmlns:a="http://schemas.openxmlformats.org/drawingml/2006/main">
              <a:ext uri="{FF2B5EF4-FFF2-40B4-BE49-F238E27FC236}">
                <a16:creationId xmlns:a16="http://schemas.microsoft.com/office/drawing/2014/main" id="{54ABD0FD-184C-4C4B-8BA6-9C7F23F6CF88}"/>
              </a:ext>
            </a:extLst>
          </p:cNvPr>
          <p:cNvSpPr>
            <a:spLocks xmlns:a="http://schemas.openxmlformats.org/drawingml/2006/main" noGrp="1"/>
          </p:cNvSpPr>
          <p:nvPr/>
        </p:nvSpPr>
        <p:spPr>
          <a:xfrm xmlns:a="http://schemas.openxmlformats.org/drawingml/2006/main">
            <a:off x="552450" y="1619250"/>
            <a:ext cx="2000250" cy="3143250"/>
          </a:xfrm>
          <a:prstGeom xmlns:a="http://schemas.openxmlformats.org/drawingml/2006/main" prst="rect">
            <a:avLst/>
          </a:prstGeom>
          <a:solidFill xmlns:a="http://schemas.openxmlformats.org/drawingml/2006/main">
            <a:srgbClr val="D8F3EE"/>
          </a:solidFill>
          <a:ln xmlns:a="http://schemas.openxmlformats.org/drawingml/2006/main" w="9525">
            <a:solidFill>
              <a:srgbClr val="D9D4C7"/>
            </a:solidFill>
            <a:prstDash val="solid"/>
          </a:ln>
        </p:spPr>
      </p:sp>
      <p:sp>
        <p:nvSpPr>
          <p:cNvPr id="7" name="">
            <a:extLst xmlns:a="http://schemas.openxmlformats.org/drawingml/2006/main">
              <a:ext uri="{FF2B5EF4-FFF2-40B4-BE49-F238E27FC236}">
                <a16:creationId xmlns:a16="http://schemas.microsoft.com/office/drawing/2014/main" id="{1C8EFDA7-7411-4A26-BBD5-285FC7749467}"/>
              </a:ext>
            </a:extLst>
          </p:cNvPr>
          <p:cNvSpPr>
            <a:spLocks xmlns:a="http://schemas.openxmlformats.org/drawingml/2006/main" noGrp="1"/>
          </p:cNvSpPr>
          <p:nvPr/>
        </p:nvSpPr>
        <p:spPr>
          <a:xfrm xmlns:a="http://schemas.openxmlformats.org/drawingml/2006/main">
            <a:off x="704850" y="1752600"/>
            <a:ext cx="1695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766E"/>
                </a:solidFill>
                <a:latin typeface="Aptos"/>
                <a:ea typeface="Aptos"/>
                <a:cs typeface="Aptos"/>
              </a:defRPr>
            </a:pPr>
            <a:r>
              <a:rPr sz="1275" b="1">
                <a:solidFill>
                  <a:srgbClr val="0F766E"/>
                </a:solidFill>
                <a:latin typeface="Aptos"/>
                <a:ea typeface="Aptos"/>
                <a:cs typeface="Aptos"/>
              </a:rPr>
              <a:t>Frontend</a:t>
            </a:r>
          </a:p>
        </p:txBody>
      </p:sp>
      <p:sp>
        <p:nvSpPr>
          <p:cNvPr id="8" name="">
            <a:extLst xmlns:a="http://schemas.openxmlformats.org/drawingml/2006/main">
              <a:ext uri="{FF2B5EF4-FFF2-40B4-BE49-F238E27FC236}">
                <a16:creationId xmlns:a16="http://schemas.microsoft.com/office/drawing/2014/main" id="{D6D858A2-7405-4F14-B28B-CD31D8B8A195}"/>
              </a:ext>
            </a:extLst>
          </p:cNvPr>
          <p:cNvSpPr>
            <a:spLocks xmlns:a="http://schemas.openxmlformats.org/drawingml/2006/main" noGrp="1"/>
          </p:cNvSpPr>
          <p:nvPr/>
        </p:nvSpPr>
        <p:spPr>
          <a:xfrm xmlns:a="http://schemas.openxmlformats.org/drawingml/2006/main">
            <a:off x="704850" y="2114550"/>
            <a:ext cx="1695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9" name="">
            <a:extLst xmlns:a="http://schemas.openxmlformats.org/drawingml/2006/main">
              <a:ext uri="{FF2B5EF4-FFF2-40B4-BE49-F238E27FC236}">
                <a16:creationId xmlns:a16="http://schemas.microsoft.com/office/drawing/2014/main" id="{A186ACB5-5FCA-4E66-992B-2F37FF21259F}"/>
              </a:ext>
            </a:extLst>
          </p:cNvPr>
          <p:cNvSpPr>
            <a:spLocks xmlns:a="http://schemas.openxmlformats.org/drawingml/2006/main" noGrp="1"/>
          </p:cNvSpPr>
          <p:nvPr/>
        </p:nvSpPr>
        <p:spPr>
          <a:xfrm xmlns:a="http://schemas.openxmlformats.org/drawingml/2006/main">
            <a:off x="800100" y="2171700"/>
            <a:ext cx="1504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Next.js App Router</a:t>
            </a:r>
          </a:p>
        </p:txBody>
      </p:sp>
      <p:sp>
        <p:nvSpPr>
          <p:cNvPr id="10" name="">
            <a:extLst xmlns:a="http://schemas.openxmlformats.org/drawingml/2006/main">
              <a:ext uri="{FF2B5EF4-FFF2-40B4-BE49-F238E27FC236}">
                <a16:creationId xmlns:a16="http://schemas.microsoft.com/office/drawing/2014/main" id="{FE326019-944E-4CF0-BB0A-7FAD9B6FFCC6}"/>
              </a:ext>
            </a:extLst>
          </p:cNvPr>
          <p:cNvSpPr>
            <a:spLocks xmlns:a="http://schemas.openxmlformats.org/drawingml/2006/main" noGrp="1"/>
          </p:cNvSpPr>
          <p:nvPr/>
        </p:nvSpPr>
        <p:spPr>
          <a:xfrm xmlns:a="http://schemas.openxmlformats.org/drawingml/2006/main">
            <a:off x="704850" y="2514600"/>
            <a:ext cx="1695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11" name="">
            <a:extLst xmlns:a="http://schemas.openxmlformats.org/drawingml/2006/main">
              <a:ext uri="{FF2B5EF4-FFF2-40B4-BE49-F238E27FC236}">
                <a16:creationId xmlns:a16="http://schemas.microsoft.com/office/drawing/2014/main" id="{6E25677F-AAD1-4554-B9EC-AEED6D065DE4}"/>
              </a:ext>
            </a:extLst>
          </p:cNvPr>
          <p:cNvSpPr>
            <a:spLocks xmlns:a="http://schemas.openxmlformats.org/drawingml/2006/main" noGrp="1"/>
          </p:cNvSpPr>
          <p:nvPr/>
        </p:nvSpPr>
        <p:spPr>
          <a:xfrm xmlns:a="http://schemas.openxmlformats.org/drawingml/2006/main">
            <a:off x="800100" y="2571750"/>
            <a:ext cx="1504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React 19 + Tailwind</a:t>
            </a:r>
          </a:p>
        </p:txBody>
      </p:sp>
      <p:sp>
        <p:nvSpPr>
          <p:cNvPr id="12" name="">
            <a:extLst xmlns:a="http://schemas.openxmlformats.org/drawingml/2006/main">
              <a:ext uri="{FF2B5EF4-FFF2-40B4-BE49-F238E27FC236}">
                <a16:creationId xmlns:a16="http://schemas.microsoft.com/office/drawing/2014/main" id="{58E43923-417C-4AA1-96F3-C429BB171DEA}"/>
              </a:ext>
            </a:extLst>
          </p:cNvPr>
          <p:cNvSpPr>
            <a:spLocks xmlns:a="http://schemas.openxmlformats.org/drawingml/2006/main" noGrp="1"/>
          </p:cNvSpPr>
          <p:nvPr/>
        </p:nvSpPr>
        <p:spPr>
          <a:xfrm xmlns:a="http://schemas.openxmlformats.org/drawingml/2006/main">
            <a:off x="704850" y="2914650"/>
            <a:ext cx="1695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13" name="">
            <a:extLst xmlns:a="http://schemas.openxmlformats.org/drawingml/2006/main">
              <a:ext uri="{FF2B5EF4-FFF2-40B4-BE49-F238E27FC236}">
                <a16:creationId xmlns:a16="http://schemas.microsoft.com/office/drawing/2014/main" id="{AC617CC1-EB39-4633-A10B-49F9E3D8EEE9}"/>
              </a:ext>
            </a:extLst>
          </p:cNvPr>
          <p:cNvSpPr>
            <a:spLocks xmlns:a="http://schemas.openxmlformats.org/drawingml/2006/main" noGrp="1"/>
          </p:cNvSpPr>
          <p:nvPr/>
        </p:nvSpPr>
        <p:spPr>
          <a:xfrm xmlns:a="http://schemas.openxmlformats.org/drawingml/2006/main">
            <a:off x="800100" y="2971800"/>
            <a:ext cx="1504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Supabase SSR/auth</a:t>
            </a:r>
          </a:p>
        </p:txBody>
      </p:sp>
      <p:sp>
        <p:nvSpPr>
          <p:cNvPr id="14" name="">
            <a:extLst xmlns:a="http://schemas.openxmlformats.org/drawingml/2006/main">
              <a:ext uri="{FF2B5EF4-FFF2-40B4-BE49-F238E27FC236}">
                <a16:creationId xmlns:a16="http://schemas.microsoft.com/office/drawing/2014/main" id="{3C2CC8F1-6F64-4C78-A149-DACEC10845F9}"/>
              </a:ext>
            </a:extLst>
          </p:cNvPr>
          <p:cNvSpPr>
            <a:spLocks xmlns:a="http://schemas.openxmlformats.org/drawingml/2006/main" noGrp="1"/>
          </p:cNvSpPr>
          <p:nvPr/>
        </p:nvSpPr>
        <p:spPr>
          <a:xfrm xmlns:a="http://schemas.openxmlformats.org/drawingml/2006/main">
            <a:off x="704850" y="3314700"/>
            <a:ext cx="1695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15" name="">
            <a:extLst xmlns:a="http://schemas.openxmlformats.org/drawingml/2006/main">
              <a:ext uri="{FF2B5EF4-FFF2-40B4-BE49-F238E27FC236}">
                <a16:creationId xmlns:a16="http://schemas.microsoft.com/office/drawing/2014/main" id="{19131280-A309-4993-97BF-E159562D4018}"/>
              </a:ext>
            </a:extLst>
          </p:cNvPr>
          <p:cNvSpPr>
            <a:spLocks xmlns:a="http://schemas.openxmlformats.org/drawingml/2006/main" noGrp="1"/>
          </p:cNvSpPr>
          <p:nvPr/>
        </p:nvSpPr>
        <p:spPr>
          <a:xfrm xmlns:a="http://schemas.openxmlformats.org/drawingml/2006/main">
            <a:off x="800100" y="3371850"/>
            <a:ext cx="1504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Dashboard UI</a:t>
            </a:r>
          </a:p>
        </p:txBody>
      </p:sp>
      <p:sp>
        <p:nvSpPr>
          <p:cNvPr id="16" name="">
            <a:extLst xmlns:a="http://schemas.openxmlformats.org/drawingml/2006/main">
              <a:ext uri="{FF2B5EF4-FFF2-40B4-BE49-F238E27FC236}">
                <a16:creationId xmlns:a16="http://schemas.microsoft.com/office/drawing/2014/main" id="{3C742F99-8CF7-4451-8A29-2B5535F06593}"/>
              </a:ext>
            </a:extLst>
          </p:cNvPr>
          <p:cNvSpPr>
            <a:spLocks xmlns:a="http://schemas.openxmlformats.org/drawingml/2006/main" noGrp="1"/>
          </p:cNvSpPr>
          <p:nvPr/>
        </p:nvSpPr>
        <p:spPr>
          <a:xfrm xmlns:a="http://schemas.openxmlformats.org/drawingml/2006/main">
            <a:off x="2647950" y="295275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5B6673"/>
                </a:solidFill>
                <a:latin typeface="Aptos"/>
                <a:ea typeface="Aptos"/>
                <a:cs typeface="Aptos"/>
              </a:defRPr>
            </a:pPr>
            <a:r>
              <a:rPr sz="1350" b="1">
                <a:solidFill>
                  <a:srgbClr val="5B6673"/>
                </a:solidFill>
                <a:latin typeface="Aptos"/>
                <a:ea typeface="Aptos"/>
                <a:cs typeface="Aptos"/>
              </a:rPr>
              <a:t>&gt;&gt;</a:t>
            </a:r>
          </a:p>
        </p:txBody>
      </p:sp>
      <p:sp>
        <p:nvSpPr>
          <p:cNvPr id="17" name="">
            <a:extLst xmlns:a="http://schemas.openxmlformats.org/drawingml/2006/main">
              <a:ext uri="{FF2B5EF4-FFF2-40B4-BE49-F238E27FC236}">
                <a16:creationId xmlns:a16="http://schemas.microsoft.com/office/drawing/2014/main" id="{FC0200C5-7AAA-4880-873F-9101483465B1}"/>
              </a:ext>
            </a:extLst>
          </p:cNvPr>
          <p:cNvSpPr>
            <a:spLocks xmlns:a="http://schemas.openxmlformats.org/drawingml/2006/main" noGrp="1"/>
          </p:cNvSpPr>
          <p:nvPr/>
        </p:nvSpPr>
        <p:spPr>
          <a:xfrm xmlns:a="http://schemas.openxmlformats.org/drawingml/2006/main">
            <a:off x="3143250" y="1619250"/>
            <a:ext cx="2000250" cy="3143250"/>
          </a:xfrm>
          <a:prstGeom xmlns:a="http://schemas.openxmlformats.org/drawingml/2006/main" prst="rect">
            <a:avLst/>
          </a:prstGeom>
          <a:solidFill xmlns:a="http://schemas.openxmlformats.org/drawingml/2006/main">
            <a:srgbClr val="F5DDD5"/>
          </a:solidFill>
          <a:ln xmlns:a="http://schemas.openxmlformats.org/drawingml/2006/main" w="9525">
            <a:solidFill>
              <a:srgbClr val="D9D4C7"/>
            </a:solidFill>
            <a:prstDash val="solid"/>
          </a:ln>
        </p:spPr>
      </p:sp>
      <p:sp>
        <p:nvSpPr>
          <p:cNvPr id="18" name="">
            <a:extLst xmlns:a="http://schemas.openxmlformats.org/drawingml/2006/main">
              <a:ext uri="{FF2B5EF4-FFF2-40B4-BE49-F238E27FC236}">
                <a16:creationId xmlns:a16="http://schemas.microsoft.com/office/drawing/2014/main" id="{8E717973-A4A7-466C-965B-EDAF08613D6C}"/>
              </a:ext>
            </a:extLst>
          </p:cNvPr>
          <p:cNvSpPr>
            <a:spLocks xmlns:a="http://schemas.openxmlformats.org/drawingml/2006/main" noGrp="1"/>
          </p:cNvSpPr>
          <p:nvPr/>
        </p:nvSpPr>
        <p:spPr>
          <a:xfrm xmlns:a="http://schemas.openxmlformats.org/drawingml/2006/main">
            <a:off x="3295650" y="1752600"/>
            <a:ext cx="1695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C4553F"/>
                </a:solidFill>
                <a:latin typeface="Aptos"/>
                <a:ea typeface="Aptos"/>
                <a:cs typeface="Aptos"/>
              </a:defRPr>
            </a:pPr>
            <a:r>
              <a:rPr sz="1275" b="1">
                <a:solidFill>
                  <a:srgbClr val="C4553F"/>
                </a:solidFill>
                <a:latin typeface="Aptos"/>
                <a:ea typeface="Aptos"/>
                <a:cs typeface="Aptos"/>
              </a:rPr>
              <a:t>Backend API</a:t>
            </a:r>
          </a:p>
        </p:txBody>
      </p:sp>
      <p:sp>
        <p:nvSpPr>
          <p:cNvPr id="19" name="">
            <a:extLst xmlns:a="http://schemas.openxmlformats.org/drawingml/2006/main">
              <a:ext uri="{FF2B5EF4-FFF2-40B4-BE49-F238E27FC236}">
                <a16:creationId xmlns:a16="http://schemas.microsoft.com/office/drawing/2014/main" id="{12384168-BF69-4FFE-8954-E16FD7FA03AB}"/>
              </a:ext>
            </a:extLst>
          </p:cNvPr>
          <p:cNvSpPr>
            <a:spLocks xmlns:a="http://schemas.openxmlformats.org/drawingml/2006/main" noGrp="1"/>
          </p:cNvSpPr>
          <p:nvPr/>
        </p:nvSpPr>
        <p:spPr>
          <a:xfrm xmlns:a="http://schemas.openxmlformats.org/drawingml/2006/main">
            <a:off x="3295650" y="2114550"/>
            <a:ext cx="1695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20" name="">
            <a:extLst xmlns:a="http://schemas.openxmlformats.org/drawingml/2006/main">
              <a:ext uri="{FF2B5EF4-FFF2-40B4-BE49-F238E27FC236}">
                <a16:creationId xmlns:a16="http://schemas.microsoft.com/office/drawing/2014/main" id="{F7A9C875-2ECE-4B27-9857-D2D94F99E6DD}"/>
              </a:ext>
            </a:extLst>
          </p:cNvPr>
          <p:cNvSpPr>
            <a:spLocks xmlns:a="http://schemas.openxmlformats.org/drawingml/2006/main" noGrp="1"/>
          </p:cNvSpPr>
          <p:nvPr/>
        </p:nvSpPr>
        <p:spPr>
          <a:xfrm xmlns:a="http://schemas.openxmlformats.org/drawingml/2006/main">
            <a:off x="3390900" y="2171700"/>
            <a:ext cx="1504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Express + TypeScript</a:t>
            </a:r>
          </a:p>
        </p:txBody>
      </p:sp>
      <p:sp>
        <p:nvSpPr>
          <p:cNvPr id="21" name="">
            <a:extLst xmlns:a="http://schemas.openxmlformats.org/drawingml/2006/main">
              <a:ext uri="{FF2B5EF4-FFF2-40B4-BE49-F238E27FC236}">
                <a16:creationId xmlns:a16="http://schemas.microsoft.com/office/drawing/2014/main" id="{2D57DE45-DFDD-452A-9106-CA601B63A28A}"/>
              </a:ext>
            </a:extLst>
          </p:cNvPr>
          <p:cNvSpPr>
            <a:spLocks xmlns:a="http://schemas.openxmlformats.org/drawingml/2006/main" noGrp="1"/>
          </p:cNvSpPr>
          <p:nvPr/>
        </p:nvSpPr>
        <p:spPr>
          <a:xfrm xmlns:a="http://schemas.openxmlformats.org/drawingml/2006/main">
            <a:off x="3295650" y="2514600"/>
            <a:ext cx="1695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22" name="">
            <a:extLst xmlns:a="http://schemas.openxmlformats.org/drawingml/2006/main">
              <a:ext uri="{FF2B5EF4-FFF2-40B4-BE49-F238E27FC236}">
                <a16:creationId xmlns:a16="http://schemas.microsoft.com/office/drawing/2014/main" id="{1E78B721-9B1F-488C-B36C-B01DC2B86279}"/>
              </a:ext>
            </a:extLst>
          </p:cNvPr>
          <p:cNvSpPr>
            <a:spLocks xmlns:a="http://schemas.openxmlformats.org/drawingml/2006/main" noGrp="1"/>
          </p:cNvSpPr>
          <p:nvPr/>
        </p:nvSpPr>
        <p:spPr>
          <a:xfrm xmlns:a="http://schemas.openxmlformats.org/drawingml/2006/main">
            <a:off x="3390900" y="2571750"/>
            <a:ext cx="1504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API key gate</a:t>
            </a:r>
          </a:p>
        </p:txBody>
      </p:sp>
      <p:sp>
        <p:nvSpPr>
          <p:cNvPr id="23" name="">
            <a:extLst xmlns:a="http://schemas.openxmlformats.org/drawingml/2006/main">
              <a:ext uri="{FF2B5EF4-FFF2-40B4-BE49-F238E27FC236}">
                <a16:creationId xmlns:a16="http://schemas.microsoft.com/office/drawing/2014/main" id="{4D0870C4-48ED-4431-BAE1-E461FC8BC859}"/>
              </a:ext>
            </a:extLst>
          </p:cNvPr>
          <p:cNvSpPr>
            <a:spLocks xmlns:a="http://schemas.openxmlformats.org/drawingml/2006/main" noGrp="1"/>
          </p:cNvSpPr>
          <p:nvPr/>
        </p:nvSpPr>
        <p:spPr>
          <a:xfrm xmlns:a="http://schemas.openxmlformats.org/drawingml/2006/main">
            <a:off x="3295650" y="2914650"/>
            <a:ext cx="1695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24" name="">
            <a:extLst xmlns:a="http://schemas.openxmlformats.org/drawingml/2006/main">
              <a:ext uri="{FF2B5EF4-FFF2-40B4-BE49-F238E27FC236}">
                <a16:creationId xmlns:a16="http://schemas.microsoft.com/office/drawing/2014/main" id="{4B3E7215-5BAC-4FC4-BC09-CE9899379462}"/>
              </a:ext>
            </a:extLst>
          </p:cNvPr>
          <p:cNvSpPr>
            <a:spLocks xmlns:a="http://schemas.openxmlformats.org/drawingml/2006/main" noGrp="1"/>
          </p:cNvSpPr>
          <p:nvPr/>
        </p:nvSpPr>
        <p:spPr>
          <a:xfrm xmlns:a="http://schemas.openxmlformats.org/drawingml/2006/main">
            <a:off x="3390900" y="2971800"/>
            <a:ext cx="1504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Routes by domain</a:t>
            </a:r>
          </a:p>
        </p:txBody>
      </p:sp>
      <p:sp>
        <p:nvSpPr>
          <p:cNvPr id="25" name="">
            <a:extLst xmlns:a="http://schemas.openxmlformats.org/drawingml/2006/main">
              <a:ext uri="{FF2B5EF4-FFF2-40B4-BE49-F238E27FC236}">
                <a16:creationId xmlns:a16="http://schemas.microsoft.com/office/drawing/2014/main" id="{BB3A5166-47DB-4D61-9D98-6EAEF22463E9}"/>
              </a:ext>
            </a:extLst>
          </p:cNvPr>
          <p:cNvSpPr>
            <a:spLocks xmlns:a="http://schemas.openxmlformats.org/drawingml/2006/main" noGrp="1"/>
          </p:cNvSpPr>
          <p:nvPr/>
        </p:nvSpPr>
        <p:spPr>
          <a:xfrm xmlns:a="http://schemas.openxmlformats.org/drawingml/2006/main">
            <a:off x="3295650" y="3314700"/>
            <a:ext cx="1695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26" name="">
            <a:extLst xmlns:a="http://schemas.openxmlformats.org/drawingml/2006/main">
              <a:ext uri="{FF2B5EF4-FFF2-40B4-BE49-F238E27FC236}">
                <a16:creationId xmlns:a16="http://schemas.microsoft.com/office/drawing/2014/main" id="{AE72E344-6799-4AC7-BACB-3B4F92C3DCA2}"/>
              </a:ext>
            </a:extLst>
          </p:cNvPr>
          <p:cNvSpPr>
            <a:spLocks xmlns:a="http://schemas.openxmlformats.org/drawingml/2006/main" noGrp="1"/>
          </p:cNvSpPr>
          <p:nvPr/>
        </p:nvSpPr>
        <p:spPr>
          <a:xfrm xmlns:a="http://schemas.openxmlformats.org/drawingml/2006/main">
            <a:off x="3390900" y="3371850"/>
            <a:ext cx="1504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Scheduler endpoints</a:t>
            </a:r>
          </a:p>
        </p:txBody>
      </p:sp>
      <p:sp>
        <p:nvSpPr>
          <p:cNvPr id="27" name="">
            <a:extLst xmlns:a="http://schemas.openxmlformats.org/drawingml/2006/main">
              <a:ext uri="{FF2B5EF4-FFF2-40B4-BE49-F238E27FC236}">
                <a16:creationId xmlns:a16="http://schemas.microsoft.com/office/drawing/2014/main" id="{795784B8-5852-405E-AEA9-FEB6A091C38F}"/>
              </a:ext>
            </a:extLst>
          </p:cNvPr>
          <p:cNvSpPr>
            <a:spLocks xmlns:a="http://schemas.openxmlformats.org/drawingml/2006/main" noGrp="1"/>
          </p:cNvSpPr>
          <p:nvPr/>
        </p:nvSpPr>
        <p:spPr>
          <a:xfrm xmlns:a="http://schemas.openxmlformats.org/drawingml/2006/main">
            <a:off x="5238750" y="295275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5B6673"/>
                </a:solidFill>
                <a:latin typeface="Aptos"/>
                <a:ea typeface="Aptos"/>
                <a:cs typeface="Aptos"/>
              </a:defRPr>
            </a:pPr>
            <a:r>
              <a:rPr sz="1350" b="1">
                <a:solidFill>
                  <a:srgbClr val="5B6673"/>
                </a:solidFill>
                <a:latin typeface="Aptos"/>
                <a:ea typeface="Aptos"/>
                <a:cs typeface="Aptos"/>
              </a:rPr>
              <a:t>&gt;&gt;</a:t>
            </a:r>
          </a:p>
        </p:txBody>
      </p:sp>
      <p:sp>
        <p:nvSpPr>
          <p:cNvPr id="28" name="">
            <a:extLst xmlns:a="http://schemas.openxmlformats.org/drawingml/2006/main">
              <a:ext uri="{FF2B5EF4-FFF2-40B4-BE49-F238E27FC236}">
                <a16:creationId xmlns:a16="http://schemas.microsoft.com/office/drawing/2014/main" id="{9D226CC4-ADB0-46D6-A796-018AE30AA0F9}"/>
              </a:ext>
            </a:extLst>
          </p:cNvPr>
          <p:cNvSpPr>
            <a:spLocks xmlns:a="http://schemas.openxmlformats.org/drawingml/2006/main" noGrp="1"/>
          </p:cNvSpPr>
          <p:nvPr/>
        </p:nvSpPr>
        <p:spPr>
          <a:xfrm xmlns:a="http://schemas.openxmlformats.org/drawingml/2006/main">
            <a:off x="5734050" y="1619250"/>
            <a:ext cx="2000250" cy="3143250"/>
          </a:xfrm>
          <a:prstGeom xmlns:a="http://schemas.openxmlformats.org/drawingml/2006/main" prst="rect">
            <a:avLst/>
          </a:prstGeom>
          <a:solidFill xmlns:a="http://schemas.openxmlformats.org/drawingml/2006/main">
            <a:srgbClr val="E6EBD2"/>
          </a:solidFill>
          <a:ln xmlns:a="http://schemas.openxmlformats.org/drawingml/2006/main" w="9525">
            <a:solidFill>
              <a:srgbClr val="D9D4C7"/>
            </a:solidFill>
            <a:prstDash val="solid"/>
          </a:ln>
        </p:spPr>
      </p:sp>
      <p:sp>
        <p:nvSpPr>
          <p:cNvPr id="29" name="">
            <a:extLst xmlns:a="http://schemas.openxmlformats.org/drawingml/2006/main">
              <a:ext uri="{FF2B5EF4-FFF2-40B4-BE49-F238E27FC236}">
                <a16:creationId xmlns:a16="http://schemas.microsoft.com/office/drawing/2014/main" id="{83C9ED27-050A-4854-88AC-30FCFCC1AEC6}"/>
              </a:ext>
            </a:extLst>
          </p:cNvPr>
          <p:cNvSpPr>
            <a:spLocks xmlns:a="http://schemas.openxmlformats.org/drawingml/2006/main" noGrp="1"/>
          </p:cNvSpPr>
          <p:nvPr/>
        </p:nvSpPr>
        <p:spPr>
          <a:xfrm xmlns:a="http://schemas.openxmlformats.org/drawingml/2006/main">
            <a:off x="5886450" y="1752600"/>
            <a:ext cx="1695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56B2F"/>
                </a:solidFill>
                <a:latin typeface="Aptos"/>
                <a:ea typeface="Aptos"/>
                <a:cs typeface="Aptos"/>
              </a:defRPr>
            </a:pPr>
            <a:r>
              <a:rPr sz="1275" b="1">
                <a:solidFill>
                  <a:srgbClr val="556B2F"/>
                </a:solidFill>
                <a:latin typeface="Aptos"/>
                <a:ea typeface="Aptos"/>
                <a:cs typeface="Aptos"/>
              </a:rPr>
              <a:t>Supabase</a:t>
            </a:r>
          </a:p>
        </p:txBody>
      </p:sp>
      <p:sp>
        <p:nvSpPr>
          <p:cNvPr id="30" name="">
            <a:extLst xmlns:a="http://schemas.openxmlformats.org/drawingml/2006/main">
              <a:ext uri="{FF2B5EF4-FFF2-40B4-BE49-F238E27FC236}">
                <a16:creationId xmlns:a16="http://schemas.microsoft.com/office/drawing/2014/main" id="{6CCBA012-7498-4629-89B3-406549E486CC}"/>
              </a:ext>
            </a:extLst>
          </p:cNvPr>
          <p:cNvSpPr>
            <a:spLocks xmlns:a="http://schemas.openxmlformats.org/drawingml/2006/main" noGrp="1"/>
          </p:cNvSpPr>
          <p:nvPr/>
        </p:nvSpPr>
        <p:spPr>
          <a:xfrm xmlns:a="http://schemas.openxmlformats.org/drawingml/2006/main">
            <a:off x="5886450" y="2114550"/>
            <a:ext cx="1695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31" name="">
            <a:extLst xmlns:a="http://schemas.openxmlformats.org/drawingml/2006/main">
              <a:ext uri="{FF2B5EF4-FFF2-40B4-BE49-F238E27FC236}">
                <a16:creationId xmlns:a16="http://schemas.microsoft.com/office/drawing/2014/main" id="{EF293CD6-D872-4616-8166-747757F30930}"/>
              </a:ext>
            </a:extLst>
          </p:cNvPr>
          <p:cNvSpPr>
            <a:spLocks xmlns:a="http://schemas.openxmlformats.org/drawingml/2006/main" noGrp="1"/>
          </p:cNvSpPr>
          <p:nvPr/>
        </p:nvSpPr>
        <p:spPr>
          <a:xfrm xmlns:a="http://schemas.openxmlformats.org/drawingml/2006/main">
            <a:off x="5981700" y="2171700"/>
            <a:ext cx="1504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Postgres</a:t>
            </a:r>
          </a:p>
        </p:txBody>
      </p:sp>
      <p:sp>
        <p:nvSpPr>
          <p:cNvPr id="32" name="">
            <a:extLst xmlns:a="http://schemas.openxmlformats.org/drawingml/2006/main">
              <a:ext uri="{FF2B5EF4-FFF2-40B4-BE49-F238E27FC236}">
                <a16:creationId xmlns:a16="http://schemas.microsoft.com/office/drawing/2014/main" id="{632EBEDA-8FBF-4F0C-9A3C-ED8B937E1F73}"/>
              </a:ext>
            </a:extLst>
          </p:cNvPr>
          <p:cNvSpPr>
            <a:spLocks xmlns:a="http://schemas.openxmlformats.org/drawingml/2006/main" noGrp="1"/>
          </p:cNvSpPr>
          <p:nvPr/>
        </p:nvSpPr>
        <p:spPr>
          <a:xfrm xmlns:a="http://schemas.openxmlformats.org/drawingml/2006/main">
            <a:off x="5886450" y="2514600"/>
            <a:ext cx="1695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33" name="">
            <a:extLst xmlns:a="http://schemas.openxmlformats.org/drawingml/2006/main">
              <a:ext uri="{FF2B5EF4-FFF2-40B4-BE49-F238E27FC236}">
                <a16:creationId xmlns:a16="http://schemas.microsoft.com/office/drawing/2014/main" id="{657A7C2B-0749-4F61-A02B-55C67B5C7D04}"/>
              </a:ext>
            </a:extLst>
          </p:cNvPr>
          <p:cNvSpPr>
            <a:spLocks xmlns:a="http://schemas.openxmlformats.org/drawingml/2006/main" noGrp="1"/>
          </p:cNvSpPr>
          <p:nvPr/>
        </p:nvSpPr>
        <p:spPr>
          <a:xfrm xmlns:a="http://schemas.openxmlformats.org/drawingml/2006/main">
            <a:off x="5981700" y="2571750"/>
            <a:ext cx="1504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Auth</a:t>
            </a:r>
          </a:p>
        </p:txBody>
      </p:sp>
      <p:sp>
        <p:nvSpPr>
          <p:cNvPr id="34" name="">
            <a:extLst xmlns:a="http://schemas.openxmlformats.org/drawingml/2006/main">
              <a:ext uri="{FF2B5EF4-FFF2-40B4-BE49-F238E27FC236}">
                <a16:creationId xmlns:a16="http://schemas.microsoft.com/office/drawing/2014/main" id="{FC5A44DD-0E1E-4BBA-9F17-2E30FD754D03}"/>
              </a:ext>
            </a:extLst>
          </p:cNvPr>
          <p:cNvSpPr>
            <a:spLocks xmlns:a="http://schemas.openxmlformats.org/drawingml/2006/main" noGrp="1"/>
          </p:cNvSpPr>
          <p:nvPr/>
        </p:nvSpPr>
        <p:spPr>
          <a:xfrm xmlns:a="http://schemas.openxmlformats.org/drawingml/2006/main">
            <a:off x="5886450" y="2914650"/>
            <a:ext cx="1695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35" name="">
            <a:extLst xmlns:a="http://schemas.openxmlformats.org/drawingml/2006/main">
              <a:ext uri="{FF2B5EF4-FFF2-40B4-BE49-F238E27FC236}">
                <a16:creationId xmlns:a16="http://schemas.microsoft.com/office/drawing/2014/main" id="{A2E94B01-F53C-45AF-9B4C-EC4E966559D4}"/>
              </a:ext>
            </a:extLst>
          </p:cNvPr>
          <p:cNvSpPr>
            <a:spLocks xmlns:a="http://schemas.openxmlformats.org/drawingml/2006/main" noGrp="1"/>
          </p:cNvSpPr>
          <p:nvPr/>
        </p:nvSpPr>
        <p:spPr>
          <a:xfrm xmlns:a="http://schemas.openxmlformats.org/drawingml/2006/main">
            <a:off x="5981700" y="2971800"/>
            <a:ext cx="1504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RLS policies</a:t>
            </a:r>
          </a:p>
        </p:txBody>
      </p:sp>
      <p:sp>
        <p:nvSpPr>
          <p:cNvPr id="36" name="">
            <a:extLst xmlns:a="http://schemas.openxmlformats.org/drawingml/2006/main">
              <a:ext uri="{FF2B5EF4-FFF2-40B4-BE49-F238E27FC236}">
                <a16:creationId xmlns:a16="http://schemas.microsoft.com/office/drawing/2014/main" id="{1EABE562-2A09-4C17-A3E1-952E7F138125}"/>
              </a:ext>
            </a:extLst>
          </p:cNvPr>
          <p:cNvSpPr>
            <a:spLocks xmlns:a="http://schemas.openxmlformats.org/drawingml/2006/main" noGrp="1"/>
          </p:cNvSpPr>
          <p:nvPr/>
        </p:nvSpPr>
        <p:spPr>
          <a:xfrm xmlns:a="http://schemas.openxmlformats.org/drawingml/2006/main">
            <a:off x="5886450" y="3314700"/>
            <a:ext cx="1695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37" name="">
            <a:extLst xmlns:a="http://schemas.openxmlformats.org/drawingml/2006/main">
              <a:ext uri="{FF2B5EF4-FFF2-40B4-BE49-F238E27FC236}">
                <a16:creationId xmlns:a16="http://schemas.microsoft.com/office/drawing/2014/main" id="{9ABDCFB3-73CD-41CD-B15F-D4B0427E8C4A}"/>
              </a:ext>
            </a:extLst>
          </p:cNvPr>
          <p:cNvSpPr>
            <a:spLocks xmlns:a="http://schemas.openxmlformats.org/drawingml/2006/main" noGrp="1"/>
          </p:cNvSpPr>
          <p:nvPr/>
        </p:nvSpPr>
        <p:spPr>
          <a:xfrm xmlns:a="http://schemas.openxmlformats.org/drawingml/2006/main">
            <a:off x="5981700" y="3371850"/>
            <a:ext cx="1504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Storage + Realtime</a:t>
            </a:r>
          </a:p>
        </p:txBody>
      </p:sp>
      <p:sp>
        <p:nvSpPr>
          <p:cNvPr id="38" name="">
            <a:extLst xmlns:a="http://schemas.openxmlformats.org/drawingml/2006/main">
              <a:ext uri="{FF2B5EF4-FFF2-40B4-BE49-F238E27FC236}">
                <a16:creationId xmlns:a16="http://schemas.microsoft.com/office/drawing/2014/main" id="{B1293A0E-0FF0-44B1-B0B7-8865AF12DE78}"/>
              </a:ext>
            </a:extLst>
          </p:cNvPr>
          <p:cNvSpPr>
            <a:spLocks xmlns:a="http://schemas.openxmlformats.org/drawingml/2006/main" noGrp="1"/>
          </p:cNvSpPr>
          <p:nvPr/>
        </p:nvSpPr>
        <p:spPr>
          <a:xfrm xmlns:a="http://schemas.openxmlformats.org/drawingml/2006/main">
            <a:off x="7829550" y="295275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5B6673"/>
                </a:solidFill>
                <a:latin typeface="Aptos"/>
                <a:ea typeface="Aptos"/>
                <a:cs typeface="Aptos"/>
              </a:defRPr>
            </a:pPr>
            <a:r>
              <a:rPr sz="1350" b="1">
                <a:solidFill>
                  <a:srgbClr val="5B6673"/>
                </a:solidFill>
                <a:latin typeface="Aptos"/>
                <a:ea typeface="Aptos"/>
                <a:cs typeface="Aptos"/>
              </a:rPr>
              <a:t>&gt;&gt;</a:t>
            </a:r>
          </a:p>
        </p:txBody>
      </p:sp>
      <p:sp>
        <p:nvSpPr>
          <p:cNvPr id="39" name="">
            <a:extLst xmlns:a="http://schemas.openxmlformats.org/drawingml/2006/main">
              <a:ext uri="{FF2B5EF4-FFF2-40B4-BE49-F238E27FC236}">
                <a16:creationId xmlns:a16="http://schemas.microsoft.com/office/drawing/2014/main" id="{CAEF8972-1B5F-4799-9BA9-24349D77EAD6}"/>
              </a:ext>
            </a:extLst>
          </p:cNvPr>
          <p:cNvSpPr>
            <a:spLocks xmlns:a="http://schemas.openxmlformats.org/drawingml/2006/main" noGrp="1"/>
          </p:cNvSpPr>
          <p:nvPr/>
        </p:nvSpPr>
        <p:spPr>
          <a:xfrm xmlns:a="http://schemas.openxmlformats.org/drawingml/2006/main">
            <a:off x="8324850" y="1619250"/>
            <a:ext cx="3143250" cy="3143250"/>
          </a:xfrm>
          <a:prstGeom xmlns:a="http://schemas.openxmlformats.org/drawingml/2006/main" prst="rect">
            <a:avLst/>
          </a:prstGeom>
          <a:solidFill xmlns:a="http://schemas.openxmlformats.org/drawingml/2006/main">
            <a:srgbClr val="F6E6BE"/>
          </a:solidFill>
          <a:ln xmlns:a="http://schemas.openxmlformats.org/drawingml/2006/main" w="9525">
            <a:solidFill>
              <a:srgbClr val="D9D4C7"/>
            </a:solidFill>
            <a:prstDash val="solid"/>
          </a:ln>
        </p:spPr>
      </p:sp>
      <p:sp>
        <p:nvSpPr>
          <p:cNvPr id="40" name="">
            <a:extLst xmlns:a="http://schemas.openxmlformats.org/drawingml/2006/main">
              <a:ext uri="{FF2B5EF4-FFF2-40B4-BE49-F238E27FC236}">
                <a16:creationId xmlns:a16="http://schemas.microsoft.com/office/drawing/2014/main" id="{A2BF14E7-7408-4846-884C-72F1514CCCA3}"/>
              </a:ext>
            </a:extLst>
          </p:cNvPr>
          <p:cNvSpPr>
            <a:spLocks xmlns:a="http://schemas.openxmlformats.org/drawingml/2006/main" noGrp="1"/>
          </p:cNvSpPr>
          <p:nvPr/>
        </p:nvSpPr>
        <p:spPr>
          <a:xfrm xmlns:a="http://schemas.openxmlformats.org/drawingml/2006/main">
            <a:off x="8477250" y="1752600"/>
            <a:ext cx="2838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B7791F"/>
                </a:solidFill>
                <a:latin typeface="Aptos"/>
                <a:ea typeface="Aptos"/>
                <a:cs typeface="Aptos"/>
              </a:defRPr>
            </a:pPr>
            <a:r>
              <a:rPr sz="1275" b="1">
                <a:solidFill>
                  <a:srgbClr val="B7791F"/>
                </a:solidFill>
                <a:latin typeface="Aptos"/>
                <a:ea typeface="Aptos"/>
                <a:cs typeface="Aptos"/>
              </a:rPr>
              <a:t>External systems</a:t>
            </a:r>
          </a:p>
        </p:txBody>
      </p:sp>
      <p:sp>
        <p:nvSpPr>
          <p:cNvPr id="41" name="">
            <a:extLst xmlns:a="http://schemas.openxmlformats.org/drawingml/2006/main">
              <a:ext uri="{FF2B5EF4-FFF2-40B4-BE49-F238E27FC236}">
                <a16:creationId xmlns:a16="http://schemas.microsoft.com/office/drawing/2014/main" id="{E9C466FC-AA3A-42E9-BD2A-14105618B072}"/>
              </a:ext>
            </a:extLst>
          </p:cNvPr>
          <p:cNvSpPr>
            <a:spLocks xmlns:a="http://schemas.openxmlformats.org/drawingml/2006/main" noGrp="1"/>
          </p:cNvSpPr>
          <p:nvPr/>
        </p:nvSpPr>
        <p:spPr>
          <a:xfrm xmlns:a="http://schemas.openxmlformats.org/drawingml/2006/main">
            <a:off x="8477250" y="2114550"/>
            <a:ext cx="2838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42" name="">
            <a:extLst xmlns:a="http://schemas.openxmlformats.org/drawingml/2006/main">
              <a:ext uri="{FF2B5EF4-FFF2-40B4-BE49-F238E27FC236}">
                <a16:creationId xmlns:a16="http://schemas.microsoft.com/office/drawing/2014/main" id="{B7EE1B43-CFE6-45A0-8686-120EA9479C5B}"/>
              </a:ext>
            </a:extLst>
          </p:cNvPr>
          <p:cNvSpPr>
            <a:spLocks xmlns:a="http://schemas.openxmlformats.org/drawingml/2006/main" noGrp="1"/>
          </p:cNvSpPr>
          <p:nvPr/>
        </p:nvSpPr>
        <p:spPr>
          <a:xfrm xmlns:a="http://schemas.openxmlformats.org/drawingml/2006/main">
            <a:off x="8572500" y="2171700"/>
            <a:ext cx="2647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Salesforce sync</a:t>
            </a:r>
          </a:p>
        </p:txBody>
      </p:sp>
      <p:sp>
        <p:nvSpPr>
          <p:cNvPr id="43" name="">
            <a:extLst xmlns:a="http://schemas.openxmlformats.org/drawingml/2006/main">
              <a:ext uri="{FF2B5EF4-FFF2-40B4-BE49-F238E27FC236}">
                <a16:creationId xmlns:a16="http://schemas.microsoft.com/office/drawing/2014/main" id="{4BB4A8DC-EBFE-458D-8148-825A2937DBCF}"/>
              </a:ext>
            </a:extLst>
          </p:cNvPr>
          <p:cNvSpPr>
            <a:spLocks xmlns:a="http://schemas.openxmlformats.org/drawingml/2006/main" noGrp="1"/>
          </p:cNvSpPr>
          <p:nvPr/>
        </p:nvSpPr>
        <p:spPr>
          <a:xfrm xmlns:a="http://schemas.openxmlformats.org/drawingml/2006/main">
            <a:off x="8477250" y="2514600"/>
            <a:ext cx="2838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44" name="">
            <a:extLst xmlns:a="http://schemas.openxmlformats.org/drawingml/2006/main">
              <a:ext uri="{FF2B5EF4-FFF2-40B4-BE49-F238E27FC236}">
                <a16:creationId xmlns:a16="http://schemas.microsoft.com/office/drawing/2014/main" id="{F2CE802D-9641-4283-85D1-98AC4EFDE74E}"/>
              </a:ext>
            </a:extLst>
          </p:cNvPr>
          <p:cNvSpPr>
            <a:spLocks xmlns:a="http://schemas.openxmlformats.org/drawingml/2006/main" noGrp="1"/>
          </p:cNvSpPr>
          <p:nvPr/>
        </p:nvSpPr>
        <p:spPr>
          <a:xfrm xmlns:a="http://schemas.openxmlformats.org/drawingml/2006/main">
            <a:off x="8572500" y="2571750"/>
            <a:ext cx="2647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RingCentral calls/SMS</a:t>
            </a:r>
          </a:p>
        </p:txBody>
      </p:sp>
      <p:sp>
        <p:nvSpPr>
          <p:cNvPr id="45" name="">
            <a:extLst xmlns:a="http://schemas.openxmlformats.org/drawingml/2006/main">
              <a:ext uri="{FF2B5EF4-FFF2-40B4-BE49-F238E27FC236}">
                <a16:creationId xmlns:a16="http://schemas.microsoft.com/office/drawing/2014/main" id="{8161071D-C2E4-4E15-A641-BD2D132D1357}"/>
              </a:ext>
            </a:extLst>
          </p:cNvPr>
          <p:cNvSpPr>
            <a:spLocks xmlns:a="http://schemas.openxmlformats.org/drawingml/2006/main" noGrp="1"/>
          </p:cNvSpPr>
          <p:nvPr/>
        </p:nvSpPr>
        <p:spPr>
          <a:xfrm xmlns:a="http://schemas.openxmlformats.org/drawingml/2006/main">
            <a:off x="8477250" y="2914650"/>
            <a:ext cx="2838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46" name="">
            <a:extLst xmlns:a="http://schemas.openxmlformats.org/drawingml/2006/main">
              <a:ext uri="{FF2B5EF4-FFF2-40B4-BE49-F238E27FC236}">
                <a16:creationId xmlns:a16="http://schemas.microsoft.com/office/drawing/2014/main" id="{04352E17-FF1D-48E5-A01D-F175B45C06AC}"/>
              </a:ext>
            </a:extLst>
          </p:cNvPr>
          <p:cNvSpPr>
            <a:spLocks xmlns:a="http://schemas.openxmlformats.org/drawingml/2006/main" noGrp="1"/>
          </p:cNvSpPr>
          <p:nvPr/>
        </p:nvSpPr>
        <p:spPr>
          <a:xfrm xmlns:a="http://schemas.openxmlformats.org/drawingml/2006/main">
            <a:off x="8572500" y="2971800"/>
            <a:ext cx="2647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Velocity/HOLP + AML</a:t>
            </a:r>
          </a:p>
        </p:txBody>
      </p:sp>
      <p:sp>
        <p:nvSpPr>
          <p:cNvPr id="47" name="">
            <a:extLst xmlns:a="http://schemas.openxmlformats.org/drawingml/2006/main">
              <a:ext uri="{FF2B5EF4-FFF2-40B4-BE49-F238E27FC236}">
                <a16:creationId xmlns:a16="http://schemas.microsoft.com/office/drawing/2014/main" id="{5210B2C8-41EB-4C6B-8FAE-6A5603392F97}"/>
              </a:ext>
            </a:extLst>
          </p:cNvPr>
          <p:cNvSpPr>
            <a:spLocks xmlns:a="http://schemas.openxmlformats.org/drawingml/2006/main" noGrp="1"/>
          </p:cNvSpPr>
          <p:nvPr/>
        </p:nvSpPr>
        <p:spPr>
          <a:xfrm xmlns:a="http://schemas.openxmlformats.org/drawingml/2006/main">
            <a:off x="8477250" y="3314700"/>
            <a:ext cx="283845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48" name="">
            <a:extLst xmlns:a="http://schemas.openxmlformats.org/drawingml/2006/main">
              <a:ext uri="{FF2B5EF4-FFF2-40B4-BE49-F238E27FC236}">
                <a16:creationId xmlns:a16="http://schemas.microsoft.com/office/drawing/2014/main" id="{E21E90F4-1B68-4CF5-8CE8-BB0C94141F21}"/>
              </a:ext>
            </a:extLst>
          </p:cNvPr>
          <p:cNvSpPr>
            <a:spLocks xmlns:a="http://schemas.openxmlformats.org/drawingml/2006/main" noGrp="1"/>
          </p:cNvSpPr>
          <p:nvPr/>
        </p:nvSpPr>
        <p:spPr>
          <a:xfrm xmlns:a="http://schemas.openxmlformats.org/drawingml/2006/main">
            <a:off x="8572500" y="3371850"/>
            <a:ext cx="2647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AWS Bedrock/S3/Inngest/Kixie</a:t>
            </a:r>
          </a:p>
        </p:txBody>
      </p:sp>
      <p:sp>
        <p:nvSpPr>
          <p:cNvPr id="49" name="">
            <a:extLst xmlns:a="http://schemas.openxmlformats.org/drawingml/2006/main">
              <a:ext uri="{FF2B5EF4-FFF2-40B4-BE49-F238E27FC236}">
                <a16:creationId xmlns:a16="http://schemas.microsoft.com/office/drawing/2014/main" id="{6491CB8A-543D-42AB-A669-9D97BC25DF3E}"/>
              </a:ext>
            </a:extLst>
          </p:cNvPr>
          <p:cNvSpPr>
            <a:spLocks xmlns:a="http://schemas.openxmlformats.org/drawingml/2006/main" noGrp="1"/>
          </p:cNvSpPr>
          <p:nvPr/>
        </p:nvSpPr>
        <p:spPr>
          <a:xfrm xmlns:a="http://schemas.openxmlformats.org/drawingml/2006/main">
            <a:off x="762000" y="5143500"/>
            <a:ext cx="10001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7202A"/>
                </a:solidFill>
                <a:latin typeface="Aptos"/>
                <a:ea typeface="Aptos"/>
                <a:cs typeface="Aptos"/>
              </a:defRPr>
            </a:pPr>
            <a:r>
              <a:rPr sz="1575" b="1">
                <a:solidFill>
                  <a:srgbClr val="17202A"/>
                </a:solidFill>
                <a:latin typeface="Aptos"/>
                <a:ea typeface="Aptos"/>
                <a:cs typeface="Aptos"/>
              </a:rPr>
              <a:t>Diagram rule: every arrow must name data direction, auth boundary, and failure mode. If you cannot label the edge, you do not understand it yet.</a:t>
            </a:r>
          </a:p>
        </p:txBody>
      </p:sp>
      <p:sp>
        <p:nvSpPr>
          <p:cNvPr id="50" name="">
            <a:extLst xmlns:a="http://schemas.openxmlformats.org/drawingml/2006/main">
              <a:ext uri="{FF2B5EF4-FFF2-40B4-BE49-F238E27FC236}">
                <a16:creationId xmlns:a16="http://schemas.microsoft.com/office/drawing/2014/main" id="{7EBD9B4A-F94B-4796-8D30-AD6075442AD3}"/>
              </a:ext>
            </a:extLst>
          </p:cNvPr>
          <p:cNvSpPr>
            <a:spLocks xmlns:a="http://schemas.openxmlformats.org/drawingml/2006/main" noGrp="1"/>
          </p:cNvSpPr>
          <p:nvPr/>
        </p:nvSpPr>
        <p:spPr>
          <a:xfrm xmlns:a="http://schemas.openxmlformats.org/drawingml/2006/main">
            <a:off x="647700" y="6362700"/>
            <a:ext cx="10363200" cy="9525"/>
          </a:xfrm>
          <a:prstGeom xmlns:a="http://schemas.openxmlformats.org/drawingml/2006/main" prst="rect">
            <a:avLst/>
          </a:prstGeom>
          <a:solidFill xmlns:a="http://schemas.openxmlformats.org/drawingml/2006/main">
            <a:srgbClr val="D9D4C7"/>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0F320C42-6DB3-4C6C-8B49-18E9D26EF899}"/>
              </a:ext>
            </a:extLst>
          </p:cNvPr>
          <p:cNvSpPr>
            <a:spLocks xmlns:a="http://schemas.openxmlformats.org/drawingml/2006/main" noGrp="1"/>
          </p:cNvSpPr>
          <p:nvPr/>
        </p:nvSpPr>
        <p:spPr>
          <a:xfrm xmlns:a="http://schemas.openxmlformats.org/drawingml/2006/main">
            <a:off x="647700" y="64579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673"/>
                </a:solidFill>
                <a:latin typeface="Aptos"/>
                <a:ea typeface="Aptos"/>
                <a:cs typeface="Aptos"/>
              </a:defRPr>
            </a:pPr>
            <a:r>
              <a:rPr sz="975" b="0">
                <a:solidFill>
                  <a:srgbClr val="5B6673"/>
                </a:solidFill>
                <a:latin typeface="Aptos"/>
                <a:ea typeface="Aptos"/>
                <a:cs typeface="Aptos"/>
              </a:rPr>
              <a:t>PearlPortal intern onboarding</a:t>
            </a:r>
          </a:p>
        </p:txBody>
      </p:sp>
      <p:sp>
        <p:nvSpPr>
          <p:cNvPr id="52" name="">
            <a:extLst xmlns:a="http://schemas.openxmlformats.org/drawingml/2006/main">
              <a:ext uri="{FF2B5EF4-FFF2-40B4-BE49-F238E27FC236}">
                <a16:creationId xmlns:a16="http://schemas.microsoft.com/office/drawing/2014/main" id="{654797DD-BD30-4A1F-95D3-14284EAD1999}"/>
              </a:ext>
            </a:extLst>
          </p:cNvPr>
          <p:cNvSpPr>
            <a:spLocks xmlns:a="http://schemas.openxmlformats.org/drawingml/2006/main" noGrp="1"/>
          </p:cNvSpPr>
          <p:nvPr/>
        </p:nvSpPr>
        <p:spPr>
          <a:xfrm xmlns:a="http://schemas.openxmlformats.org/drawingml/2006/main">
            <a:off x="10382250" y="64579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673"/>
                </a:solidFill>
                <a:latin typeface="Aptos"/>
                <a:ea typeface="Aptos"/>
                <a:cs typeface="Aptos"/>
              </a:defRPr>
            </a:pPr>
            <a:r>
              <a:rPr sz="975" b="0">
                <a:solidFill>
                  <a:srgbClr val="5B6673"/>
                </a:solidFill>
                <a:latin typeface="Aptos"/>
                <a:ea typeface="Aptos"/>
                <a:cs typeface="Aptos"/>
              </a:rPr>
              <a:t>05</a:t>
            </a:r>
          </a:p>
        </p:txBody>
      </p:sp>
    </p:spTree>
    <p:extLst>
      <p:ext uri="{BB962C8B-B14F-4D97-AF65-F5344CB8AC3E}">
        <p14:creationId xmlns:p14="http://schemas.microsoft.com/office/powerpoint/2010/main" val="176934858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C491E7E-F71C-4C5D-B74C-8E8398E4C4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6E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7A7D8FE-5664-48C2-ADCE-8198C0D97BFC}"/>
              </a:ext>
            </a:extLst>
          </p:cNvPr>
          <p:cNvSpPr>
            <a:spLocks xmlns:a="http://schemas.openxmlformats.org/drawingml/2006/main" noGrp="1"/>
          </p:cNvSpPr>
          <p:nvPr/>
        </p:nvSpPr>
        <p:spPr>
          <a:xfrm xmlns:a="http://schemas.openxmlformats.org/drawingml/2006/main">
            <a:off x="419100" y="381000"/>
            <a:ext cx="47625" cy="8763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93E78A8-3CC2-45E1-B2EA-0F97F9D279E0}"/>
              </a:ext>
            </a:extLst>
          </p:cNvPr>
          <p:cNvSpPr>
            <a:spLocks xmlns:a="http://schemas.openxmlformats.org/drawingml/2006/main" noGrp="1"/>
          </p:cNvSpPr>
          <p:nvPr/>
        </p:nvSpPr>
        <p:spPr>
          <a:xfrm xmlns:a="http://schemas.openxmlformats.org/drawingml/2006/main">
            <a:off x="647700" y="400050"/>
            <a:ext cx="704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766E"/>
                </a:solidFill>
                <a:latin typeface="Aptos"/>
                <a:ea typeface="Aptos"/>
                <a:cs typeface="Aptos"/>
              </a:defRPr>
            </a:pPr>
            <a:r>
              <a:rPr sz="1200" b="1">
                <a:solidFill>
                  <a:srgbClr val="0F766E"/>
                </a:solidFill>
                <a:latin typeface="Aptos"/>
                <a:ea typeface="Aptos"/>
                <a:cs typeface="Aptos"/>
              </a:rPr>
              <a:t>PRODUCT SURFACE</a:t>
            </a:r>
          </a:p>
        </p:txBody>
      </p:sp>
      <p:sp>
        <p:nvSpPr>
          <p:cNvPr id="4" name="">
            <a:extLst xmlns:a="http://schemas.openxmlformats.org/drawingml/2006/main">
              <a:ext uri="{FF2B5EF4-FFF2-40B4-BE49-F238E27FC236}">
                <a16:creationId xmlns:a16="http://schemas.microsoft.com/office/drawing/2014/main" id="{99871CA3-538A-4539-8227-94AC141E222C}"/>
              </a:ext>
            </a:extLst>
          </p:cNvPr>
          <p:cNvSpPr>
            <a:spLocks xmlns:a="http://schemas.openxmlformats.org/drawingml/2006/main" noGrp="1"/>
          </p:cNvSpPr>
          <p:nvPr/>
        </p:nvSpPr>
        <p:spPr>
          <a:xfrm xmlns:a="http://schemas.openxmlformats.org/drawingml/2006/main">
            <a:off x="647700" y="666750"/>
            <a:ext cx="7810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A"/>
                </a:solidFill>
                <a:latin typeface="Aptos"/>
                <a:ea typeface="Aptos"/>
                <a:cs typeface="Aptos"/>
              </a:defRPr>
            </a:pPr>
            <a:r>
              <a:rPr sz="3000" b="1">
                <a:solidFill>
                  <a:srgbClr val="17202A"/>
                </a:solidFill>
                <a:latin typeface="Aptos"/>
                <a:ea typeface="Aptos"/>
                <a:cs typeface="Aptos"/>
              </a:rPr>
              <a:t>Click through before reading code</a:t>
            </a:r>
          </a:p>
        </p:txBody>
      </p:sp>
      <p:sp>
        <p:nvSpPr>
          <p:cNvPr id="5" name="">
            <a:extLst xmlns:a="http://schemas.openxmlformats.org/drawingml/2006/main">
              <a:ext uri="{FF2B5EF4-FFF2-40B4-BE49-F238E27FC236}">
                <a16:creationId xmlns:a16="http://schemas.microsoft.com/office/drawing/2014/main" id="{B9A75812-F474-4D60-85C9-3024612CD14C}"/>
              </a:ext>
            </a:extLst>
          </p:cNvPr>
          <p:cNvSpPr>
            <a:spLocks xmlns:a="http://schemas.openxmlformats.org/drawingml/2006/main" noGrp="1"/>
          </p:cNvSpPr>
          <p:nvPr/>
        </p:nvSpPr>
        <p:spPr>
          <a:xfrm xmlns:a="http://schemas.openxmlformats.org/drawingml/2006/main">
            <a:off x="10001250" y="419100"/>
            <a:ext cx="1657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B6673"/>
                </a:solidFill>
                <a:latin typeface="Aptos"/>
                <a:ea typeface="Aptos"/>
                <a:cs typeface="Aptos"/>
              </a:defRPr>
            </a:pPr>
            <a:r>
              <a:rPr sz="1125" b="0">
                <a:solidFill>
                  <a:srgbClr val="5B6673"/>
                </a:solidFill>
                <a:latin typeface="Aptos"/>
                <a:ea typeface="Aptos"/>
                <a:cs typeface="Aptos"/>
              </a:rPr>
              <a:t>2026-05-04</a:t>
            </a:r>
          </a:p>
        </p:txBody>
      </p:sp>
      <p:sp>
        <p:nvSpPr>
          <p:cNvPr id="6" name="">
            <a:extLst xmlns:a="http://schemas.openxmlformats.org/drawingml/2006/main">
              <a:ext uri="{FF2B5EF4-FFF2-40B4-BE49-F238E27FC236}">
                <a16:creationId xmlns:a16="http://schemas.microsoft.com/office/drawing/2014/main" id="{9CAAA948-5588-4ACA-8F24-6824C11EB6B2}"/>
              </a:ext>
            </a:extLst>
          </p:cNvPr>
          <p:cNvSpPr>
            <a:spLocks xmlns:a="http://schemas.openxmlformats.org/drawingml/2006/main" noGrp="1"/>
          </p:cNvSpPr>
          <p:nvPr/>
        </p:nvSpPr>
        <p:spPr>
          <a:xfrm xmlns:a="http://schemas.openxmlformats.org/drawingml/2006/main">
            <a:off x="685800" y="1619250"/>
            <a:ext cx="3219450" cy="1409700"/>
          </a:xfrm>
          <a:prstGeom xmlns:a="http://schemas.openxmlformats.org/drawingml/2006/main" prst="rect">
            <a:avLst/>
          </a:prstGeom>
          <a:solidFill xmlns:a="http://schemas.openxmlformats.org/drawingml/2006/main">
            <a:srgbClr val="D8F3EE"/>
          </a:solidFill>
          <a:ln xmlns:a="http://schemas.openxmlformats.org/drawingml/2006/main" w="9525">
            <a:solidFill>
              <a:srgbClr val="D9D4C7"/>
            </a:solidFill>
            <a:prstDash val="solid"/>
          </a:ln>
        </p:spPr>
      </p:sp>
      <p:sp>
        <p:nvSpPr>
          <p:cNvPr id="7" name="">
            <a:extLst xmlns:a="http://schemas.openxmlformats.org/drawingml/2006/main">
              <a:ext uri="{FF2B5EF4-FFF2-40B4-BE49-F238E27FC236}">
                <a16:creationId xmlns:a16="http://schemas.microsoft.com/office/drawing/2014/main" id="{955E21E9-EB70-4B36-9717-92FB5670F1AB}"/>
              </a:ext>
            </a:extLst>
          </p:cNvPr>
          <p:cNvSpPr>
            <a:spLocks xmlns:a="http://schemas.openxmlformats.org/drawingml/2006/main" noGrp="1"/>
          </p:cNvSpPr>
          <p:nvPr/>
        </p:nvSpPr>
        <p:spPr>
          <a:xfrm xmlns:a="http://schemas.openxmlformats.org/drawingml/2006/main">
            <a:off x="685800" y="1619250"/>
            <a:ext cx="47625" cy="140970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8" name="">
            <a:extLst xmlns:a="http://schemas.openxmlformats.org/drawingml/2006/main">
              <a:ext uri="{FF2B5EF4-FFF2-40B4-BE49-F238E27FC236}">
                <a16:creationId xmlns:a16="http://schemas.microsoft.com/office/drawing/2014/main" id="{358BE651-1807-4CF8-8AF6-1FD0BDFCEE9F}"/>
              </a:ext>
            </a:extLst>
          </p:cNvPr>
          <p:cNvSpPr>
            <a:spLocks xmlns:a="http://schemas.openxmlformats.org/drawingml/2006/main" noGrp="1"/>
          </p:cNvSpPr>
          <p:nvPr/>
        </p:nvSpPr>
        <p:spPr>
          <a:xfrm xmlns:a="http://schemas.openxmlformats.org/drawingml/2006/main">
            <a:off x="895350" y="1790700"/>
            <a:ext cx="2800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Dashboard</a:t>
            </a:r>
          </a:p>
        </p:txBody>
      </p:sp>
      <p:sp>
        <p:nvSpPr>
          <p:cNvPr id="9" name="">
            <a:extLst xmlns:a="http://schemas.openxmlformats.org/drawingml/2006/main">
              <a:ext uri="{FF2B5EF4-FFF2-40B4-BE49-F238E27FC236}">
                <a16:creationId xmlns:a16="http://schemas.microsoft.com/office/drawing/2014/main" id="{201EDE7A-9773-4AAA-BAC8-A740D8177613}"/>
              </a:ext>
            </a:extLst>
          </p:cNvPr>
          <p:cNvSpPr>
            <a:spLocks xmlns:a="http://schemas.openxmlformats.org/drawingml/2006/main" noGrp="1"/>
          </p:cNvSpPr>
          <p:nvPr/>
        </p:nvSpPr>
        <p:spPr>
          <a:xfrm xmlns:a="http://schemas.openxmlformats.org/drawingml/2006/main">
            <a:off x="895350" y="2152650"/>
            <a:ext cx="28003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Overview, stats, tasks, broker day view, search, lead/deal entry points.</a:t>
            </a:r>
          </a:p>
        </p:txBody>
      </p:sp>
      <p:sp>
        <p:nvSpPr>
          <p:cNvPr id="10" name="">
            <a:extLst xmlns:a="http://schemas.openxmlformats.org/drawingml/2006/main">
              <a:ext uri="{FF2B5EF4-FFF2-40B4-BE49-F238E27FC236}">
                <a16:creationId xmlns:a16="http://schemas.microsoft.com/office/drawing/2014/main" id="{C438787D-9FB5-4379-9860-071FBDFE379B}"/>
              </a:ext>
            </a:extLst>
          </p:cNvPr>
          <p:cNvSpPr>
            <a:spLocks xmlns:a="http://schemas.openxmlformats.org/drawingml/2006/main" noGrp="1"/>
          </p:cNvSpPr>
          <p:nvPr/>
        </p:nvSpPr>
        <p:spPr>
          <a:xfrm xmlns:a="http://schemas.openxmlformats.org/drawingml/2006/main">
            <a:off x="4476750" y="1619250"/>
            <a:ext cx="3219450" cy="1409700"/>
          </a:xfrm>
          <a:prstGeom xmlns:a="http://schemas.openxmlformats.org/drawingml/2006/main" prst="rect">
            <a:avLst/>
          </a:prstGeom>
          <a:solidFill xmlns:a="http://schemas.openxmlformats.org/drawingml/2006/main">
            <a:srgbClr val="E4DFF4"/>
          </a:solidFill>
          <a:ln xmlns:a="http://schemas.openxmlformats.org/drawingml/2006/main" w="9525">
            <a:solidFill>
              <a:srgbClr val="D9D4C7"/>
            </a:solidFill>
            <a:prstDash val="solid"/>
          </a:ln>
        </p:spPr>
      </p:sp>
      <p:sp>
        <p:nvSpPr>
          <p:cNvPr id="11" name="">
            <a:extLst xmlns:a="http://schemas.openxmlformats.org/drawingml/2006/main">
              <a:ext uri="{FF2B5EF4-FFF2-40B4-BE49-F238E27FC236}">
                <a16:creationId xmlns:a16="http://schemas.microsoft.com/office/drawing/2014/main" id="{430317CF-D8E1-4561-95CE-B1380CE91CBD}"/>
              </a:ext>
            </a:extLst>
          </p:cNvPr>
          <p:cNvSpPr>
            <a:spLocks xmlns:a="http://schemas.openxmlformats.org/drawingml/2006/main" noGrp="1"/>
          </p:cNvSpPr>
          <p:nvPr/>
        </p:nvSpPr>
        <p:spPr>
          <a:xfrm xmlns:a="http://schemas.openxmlformats.org/drawingml/2006/main">
            <a:off x="4476750" y="1619250"/>
            <a:ext cx="47625" cy="1409700"/>
          </a:xfrm>
          <a:prstGeom xmlns:a="http://schemas.openxmlformats.org/drawingml/2006/main" prst="rect">
            <a:avLst/>
          </a:prstGeom>
          <a:solidFill xmlns:a="http://schemas.openxmlformats.org/drawingml/2006/main">
            <a:srgbClr val="5B4B8A"/>
          </a:solidFill>
          <a:ln xmlns:a="http://schemas.openxmlformats.org/drawingml/2006/main" w="9525">
            <a:solidFill>
              <a:srgbClr val="5B4B8A"/>
            </a:solidFill>
            <a:prstDash val="solid"/>
          </a:ln>
        </p:spPr>
      </p:sp>
      <p:sp>
        <p:nvSpPr>
          <p:cNvPr id="12" name="">
            <a:extLst xmlns:a="http://schemas.openxmlformats.org/drawingml/2006/main">
              <a:ext uri="{FF2B5EF4-FFF2-40B4-BE49-F238E27FC236}">
                <a16:creationId xmlns:a16="http://schemas.microsoft.com/office/drawing/2014/main" id="{57217DEC-A3D3-48A2-9881-55A2E0F4B6F9}"/>
              </a:ext>
            </a:extLst>
          </p:cNvPr>
          <p:cNvSpPr>
            <a:spLocks xmlns:a="http://schemas.openxmlformats.org/drawingml/2006/main" noGrp="1"/>
          </p:cNvSpPr>
          <p:nvPr/>
        </p:nvSpPr>
        <p:spPr>
          <a:xfrm xmlns:a="http://schemas.openxmlformats.org/drawingml/2006/main">
            <a:off x="4686300" y="1790700"/>
            <a:ext cx="2800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Leads + Deals</a:t>
            </a:r>
          </a:p>
        </p:txBody>
      </p:sp>
      <p:sp>
        <p:nvSpPr>
          <p:cNvPr id="13" name="">
            <a:extLst xmlns:a="http://schemas.openxmlformats.org/drawingml/2006/main">
              <a:ext uri="{FF2B5EF4-FFF2-40B4-BE49-F238E27FC236}">
                <a16:creationId xmlns:a16="http://schemas.microsoft.com/office/drawing/2014/main" id="{B2B593B4-1F4E-4530-8336-DB3DE021B39D}"/>
              </a:ext>
            </a:extLst>
          </p:cNvPr>
          <p:cNvSpPr>
            <a:spLocks xmlns:a="http://schemas.openxmlformats.org/drawingml/2006/main" noGrp="1"/>
          </p:cNvSpPr>
          <p:nvPr/>
        </p:nvSpPr>
        <p:spPr>
          <a:xfrm xmlns:a="http://schemas.openxmlformats.org/drawingml/2006/main">
            <a:off x="4686300" y="2152650"/>
            <a:ext cx="28003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Status/stage, ownership, follow-up, related people, notes, activities, documents.</a:t>
            </a:r>
          </a:p>
        </p:txBody>
      </p:sp>
      <p:sp>
        <p:nvSpPr>
          <p:cNvPr id="14" name="">
            <a:extLst xmlns:a="http://schemas.openxmlformats.org/drawingml/2006/main">
              <a:ext uri="{FF2B5EF4-FFF2-40B4-BE49-F238E27FC236}">
                <a16:creationId xmlns:a16="http://schemas.microsoft.com/office/drawing/2014/main" id="{5DE89B68-265A-4ED0-BAD1-7C8A5D4ED1FC}"/>
              </a:ext>
            </a:extLst>
          </p:cNvPr>
          <p:cNvSpPr>
            <a:spLocks xmlns:a="http://schemas.openxmlformats.org/drawingml/2006/main" noGrp="1"/>
          </p:cNvSpPr>
          <p:nvPr/>
        </p:nvSpPr>
        <p:spPr>
          <a:xfrm xmlns:a="http://schemas.openxmlformats.org/drawingml/2006/main">
            <a:off x="8267700" y="1619250"/>
            <a:ext cx="3219450" cy="1409700"/>
          </a:xfrm>
          <a:prstGeom xmlns:a="http://schemas.openxmlformats.org/drawingml/2006/main" prst="rect">
            <a:avLst/>
          </a:prstGeom>
          <a:solidFill xmlns:a="http://schemas.openxmlformats.org/drawingml/2006/main">
            <a:srgbClr val="F5DDD5"/>
          </a:solidFill>
          <a:ln xmlns:a="http://schemas.openxmlformats.org/drawingml/2006/main" w="9525">
            <a:solidFill>
              <a:srgbClr val="D9D4C7"/>
            </a:solidFill>
            <a:prstDash val="solid"/>
          </a:ln>
        </p:spPr>
      </p:sp>
      <p:sp>
        <p:nvSpPr>
          <p:cNvPr id="15" name="">
            <a:extLst xmlns:a="http://schemas.openxmlformats.org/drawingml/2006/main">
              <a:ext uri="{FF2B5EF4-FFF2-40B4-BE49-F238E27FC236}">
                <a16:creationId xmlns:a16="http://schemas.microsoft.com/office/drawing/2014/main" id="{2B860959-0614-415A-AC39-125D377A4F4F}"/>
              </a:ext>
            </a:extLst>
          </p:cNvPr>
          <p:cNvSpPr>
            <a:spLocks xmlns:a="http://schemas.openxmlformats.org/drawingml/2006/main" noGrp="1"/>
          </p:cNvSpPr>
          <p:nvPr/>
        </p:nvSpPr>
        <p:spPr>
          <a:xfrm xmlns:a="http://schemas.openxmlformats.org/drawingml/2006/main">
            <a:off x="8267700" y="1619250"/>
            <a:ext cx="47625" cy="1409700"/>
          </a:xfrm>
          <a:prstGeom xmlns:a="http://schemas.openxmlformats.org/drawingml/2006/main" prst="rect">
            <a:avLst/>
          </a:prstGeom>
          <a:solidFill xmlns:a="http://schemas.openxmlformats.org/drawingml/2006/main">
            <a:srgbClr val="C4553F"/>
          </a:solidFill>
          <a:ln xmlns:a="http://schemas.openxmlformats.org/drawingml/2006/main" w="9525">
            <a:solidFill>
              <a:srgbClr val="C4553F"/>
            </a:solidFill>
            <a:prstDash val="solid"/>
          </a:ln>
        </p:spPr>
      </p:sp>
      <p:sp>
        <p:nvSpPr>
          <p:cNvPr id="16" name="">
            <a:extLst xmlns:a="http://schemas.openxmlformats.org/drawingml/2006/main">
              <a:ext uri="{FF2B5EF4-FFF2-40B4-BE49-F238E27FC236}">
                <a16:creationId xmlns:a16="http://schemas.microsoft.com/office/drawing/2014/main" id="{6E834AF5-55F5-4B89-B314-DE1FE33CB649}"/>
              </a:ext>
            </a:extLst>
          </p:cNvPr>
          <p:cNvSpPr>
            <a:spLocks xmlns:a="http://schemas.openxmlformats.org/drawingml/2006/main" noGrp="1"/>
          </p:cNvSpPr>
          <p:nvPr/>
        </p:nvSpPr>
        <p:spPr>
          <a:xfrm xmlns:a="http://schemas.openxmlformats.org/drawingml/2006/main">
            <a:off x="8477250" y="1790700"/>
            <a:ext cx="2800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Calls + SMS</a:t>
            </a:r>
          </a:p>
        </p:txBody>
      </p:sp>
      <p:sp>
        <p:nvSpPr>
          <p:cNvPr id="17" name="">
            <a:extLst xmlns:a="http://schemas.openxmlformats.org/drawingml/2006/main">
              <a:ext uri="{FF2B5EF4-FFF2-40B4-BE49-F238E27FC236}">
                <a16:creationId xmlns:a16="http://schemas.microsoft.com/office/drawing/2014/main" id="{E01CB36B-BECA-4925-B4FE-C6BD31E51E6F}"/>
              </a:ext>
            </a:extLst>
          </p:cNvPr>
          <p:cNvSpPr>
            <a:spLocks xmlns:a="http://schemas.openxmlformats.org/drawingml/2006/main" noGrp="1"/>
          </p:cNvSpPr>
          <p:nvPr/>
        </p:nvSpPr>
        <p:spPr>
          <a:xfrm xmlns:a="http://schemas.openxmlformats.org/drawingml/2006/main">
            <a:off x="8477250" y="2152650"/>
            <a:ext cx="28003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RingCentral/Kixie context, call actions, recordings, transcription, situation summaries.</a:t>
            </a:r>
          </a:p>
        </p:txBody>
      </p:sp>
      <p:sp>
        <p:nvSpPr>
          <p:cNvPr id="18" name="">
            <a:extLst xmlns:a="http://schemas.openxmlformats.org/drawingml/2006/main">
              <a:ext uri="{FF2B5EF4-FFF2-40B4-BE49-F238E27FC236}">
                <a16:creationId xmlns:a16="http://schemas.microsoft.com/office/drawing/2014/main" id="{D18DC3D2-C7CD-4C45-9F1B-283A24004DA1}"/>
              </a:ext>
            </a:extLst>
          </p:cNvPr>
          <p:cNvSpPr>
            <a:spLocks xmlns:a="http://schemas.openxmlformats.org/drawingml/2006/main" noGrp="1"/>
          </p:cNvSpPr>
          <p:nvPr/>
        </p:nvSpPr>
        <p:spPr>
          <a:xfrm xmlns:a="http://schemas.openxmlformats.org/drawingml/2006/main">
            <a:off x="685800" y="3476625"/>
            <a:ext cx="3219450" cy="1409700"/>
          </a:xfrm>
          <a:prstGeom xmlns:a="http://schemas.openxmlformats.org/drawingml/2006/main" prst="rect">
            <a:avLst/>
          </a:prstGeom>
          <a:solidFill xmlns:a="http://schemas.openxmlformats.org/drawingml/2006/main">
            <a:srgbClr val="F6E6BE"/>
          </a:solidFill>
          <a:ln xmlns:a="http://schemas.openxmlformats.org/drawingml/2006/main" w="9525">
            <a:solidFill>
              <a:srgbClr val="D9D4C7"/>
            </a:solidFill>
            <a:prstDash val="solid"/>
          </a:ln>
        </p:spPr>
      </p:sp>
      <p:sp>
        <p:nvSpPr>
          <p:cNvPr id="19" name="">
            <a:extLst xmlns:a="http://schemas.openxmlformats.org/drawingml/2006/main">
              <a:ext uri="{FF2B5EF4-FFF2-40B4-BE49-F238E27FC236}">
                <a16:creationId xmlns:a16="http://schemas.microsoft.com/office/drawing/2014/main" id="{B80C48BB-DDA5-4B88-8422-39633067029A}"/>
              </a:ext>
            </a:extLst>
          </p:cNvPr>
          <p:cNvSpPr>
            <a:spLocks xmlns:a="http://schemas.openxmlformats.org/drawingml/2006/main" noGrp="1"/>
          </p:cNvSpPr>
          <p:nvPr/>
        </p:nvSpPr>
        <p:spPr>
          <a:xfrm xmlns:a="http://schemas.openxmlformats.org/drawingml/2006/main">
            <a:off x="685800" y="3476625"/>
            <a:ext cx="47625" cy="1409700"/>
          </a:xfrm>
          <a:prstGeom xmlns:a="http://schemas.openxmlformats.org/drawingml/2006/main" prst="rect">
            <a:avLst/>
          </a:prstGeom>
          <a:solidFill xmlns:a="http://schemas.openxmlformats.org/drawingml/2006/main">
            <a:srgbClr val="B7791F"/>
          </a:solidFill>
          <a:ln xmlns:a="http://schemas.openxmlformats.org/drawingml/2006/main" w="9525">
            <a:solidFill>
              <a:srgbClr val="B7791F"/>
            </a:solidFill>
            <a:prstDash val="solid"/>
          </a:ln>
        </p:spPr>
      </p:sp>
      <p:sp>
        <p:nvSpPr>
          <p:cNvPr id="20" name="">
            <a:extLst xmlns:a="http://schemas.openxmlformats.org/drawingml/2006/main">
              <a:ext uri="{FF2B5EF4-FFF2-40B4-BE49-F238E27FC236}">
                <a16:creationId xmlns:a16="http://schemas.microsoft.com/office/drawing/2014/main" id="{8AB250E1-50C9-49E0-B71F-C69209A7E750}"/>
              </a:ext>
            </a:extLst>
          </p:cNvPr>
          <p:cNvSpPr>
            <a:spLocks xmlns:a="http://schemas.openxmlformats.org/drawingml/2006/main" noGrp="1"/>
          </p:cNvSpPr>
          <p:nvPr/>
        </p:nvSpPr>
        <p:spPr>
          <a:xfrm xmlns:a="http://schemas.openxmlformats.org/drawingml/2006/main">
            <a:off x="895350" y="3648075"/>
            <a:ext cx="2800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HOLP / Velocity</a:t>
            </a:r>
          </a:p>
        </p:txBody>
      </p:sp>
      <p:sp>
        <p:nvSpPr>
          <p:cNvPr id="21" name="">
            <a:extLst xmlns:a="http://schemas.openxmlformats.org/drawingml/2006/main">
              <a:ext uri="{FF2B5EF4-FFF2-40B4-BE49-F238E27FC236}">
                <a16:creationId xmlns:a16="http://schemas.microsoft.com/office/drawing/2014/main" id="{DDFEF8F1-E2C6-430C-AF29-E67D4FE1E65E}"/>
              </a:ext>
            </a:extLst>
          </p:cNvPr>
          <p:cNvSpPr>
            <a:spLocks xmlns:a="http://schemas.openxmlformats.org/drawingml/2006/main" noGrp="1"/>
          </p:cNvSpPr>
          <p:nvPr/>
        </p:nvSpPr>
        <p:spPr>
          <a:xfrm xmlns:a="http://schemas.openxmlformats.org/drawingml/2006/main">
            <a:off x="895350" y="4010025"/>
            <a:ext cx="28003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Loan code workflows, AML upload/extraction, proposal PDF, sync back to CRM.</a:t>
            </a:r>
          </a:p>
        </p:txBody>
      </p:sp>
      <p:sp>
        <p:nvSpPr>
          <p:cNvPr id="22" name="">
            <a:extLst xmlns:a="http://schemas.openxmlformats.org/drawingml/2006/main">
              <a:ext uri="{FF2B5EF4-FFF2-40B4-BE49-F238E27FC236}">
                <a16:creationId xmlns:a16="http://schemas.microsoft.com/office/drawing/2014/main" id="{D60E218B-822D-485F-8A77-7B9765E54215}"/>
              </a:ext>
            </a:extLst>
          </p:cNvPr>
          <p:cNvSpPr>
            <a:spLocks xmlns:a="http://schemas.openxmlformats.org/drawingml/2006/main" noGrp="1"/>
          </p:cNvSpPr>
          <p:nvPr/>
        </p:nvSpPr>
        <p:spPr>
          <a:xfrm xmlns:a="http://schemas.openxmlformats.org/drawingml/2006/main">
            <a:off x="4476750" y="3476625"/>
            <a:ext cx="3219450" cy="1409700"/>
          </a:xfrm>
          <a:prstGeom xmlns:a="http://schemas.openxmlformats.org/drawingml/2006/main" prst="rect">
            <a:avLst/>
          </a:prstGeom>
          <a:solidFill xmlns:a="http://schemas.openxmlformats.org/drawingml/2006/main">
            <a:srgbClr val="E6EBD2"/>
          </a:solidFill>
          <a:ln xmlns:a="http://schemas.openxmlformats.org/drawingml/2006/main" w="9525">
            <a:solidFill>
              <a:srgbClr val="D9D4C7"/>
            </a:solidFill>
            <a:prstDash val="solid"/>
          </a:ln>
        </p:spPr>
      </p:sp>
      <p:sp>
        <p:nvSpPr>
          <p:cNvPr id="23" name="">
            <a:extLst xmlns:a="http://schemas.openxmlformats.org/drawingml/2006/main">
              <a:ext uri="{FF2B5EF4-FFF2-40B4-BE49-F238E27FC236}">
                <a16:creationId xmlns:a16="http://schemas.microsoft.com/office/drawing/2014/main" id="{F9DF6502-4ED8-44CB-A06B-69716480C7C8}"/>
              </a:ext>
            </a:extLst>
          </p:cNvPr>
          <p:cNvSpPr>
            <a:spLocks xmlns:a="http://schemas.openxmlformats.org/drawingml/2006/main" noGrp="1"/>
          </p:cNvSpPr>
          <p:nvPr/>
        </p:nvSpPr>
        <p:spPr>
          <a:xfrm xmlns:a="http://schemas.openxmlformats.org/drawingml/2006/main">
            <a:off x="4476750" y="3476625"/>
            <a:ext cx="47625" cy="1409700"/>
          </a:xfrm>
          <a:prstGeom xmlns:a="http://schemas.openxmlformats.org/drawingml/2006/main" prst="rect">
            <a:avLst/>
          </a:prstGeom>
          <a:solidFill xmlns:a="http://schemas.openxmlformats.org/drawingml/2006/main">
            <a:srgbClr val="556B2F"/>
          </a:solidFill>
          <a:ln xmlns:a="http://schemas.openxmlformats.org/drawingml/2006/main" w="9525">
            <a:solidFill>
              <a:srgbClr val="556B2F"/>
            </a:solidFill>
            <a:prstDash val="solid"/>
          </a:ln>
        </p:spPr>
      </p:sp>
      <p:sp>
        <p:nvSpPr>
          <p:cNvPr id="24" name="">
            <a:extLst xmlns:a="http://schemas.openxmlformats.org/drawingml/2006/main">
              <a:ext uri="{FF2B5EF4-FFF2-40B4-BE49-F238E27FC236}">
                <a16:creationId xmlns:a16="http://schemas.microsoft.com/office/drawing/2014/main" id="{1D811F31-09CC-4B10-8DA8-6884429AF2C0}"/>
              </a:ext>
            </a:extLst>
          </p:cNvPr>
          <p:cNvSpPr>
            <a:spLocks xmlns:a="http://schemas.openxmlformats.org/drawingml/2006/main" noGrp="1"/>
          </p:cNvSpPr>
          <p:nvPr/>
        </p:nvSpPr>
        <p:spPr>
          <a:xfrm xmlns:a="http://schemas.openxmlformats.org/drawingml/2006/main">
            <a:off x="4686300" y="3648075"/>
            <a:ext cx="2800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Admin</a:t>
            </a:r>
          </a:p>
        </p:txBody>
      </p:sp>
      <p:sp>
        <p:nvSpPr>
          <p:cNvPr id="25" name="">
            <a:extLst xmlns:a="http://schemas.openxmlformats.org/drawingml/2006/main">
              <a:ext uri="{FF2B5EF4-FFF2-40B4-BE49-F238E27FC236}">
                <a16:creationId xmlns:a16="http://schemas.microsoft.com/office/drawing/2014/main" id="{790802D4-C59F-491D-82E1-56B653897D1B}"/>
              </a:ext>
            </a:extLst>
          </p:cNvPr>
          <p:cNvSpPr>
            <a:spLocks xmlns:a="http://schemas.openxmlformats.org/drawingml/2006/main" noGrp="1"/>
          </p:cNvSpPr>
          <p:nvPr/>
        </p:nvSpPr>
        <p:spPr>
          <a:xfrm xmlns:a="http://schemas.openxmlformats.org/drawingml/2006/main">
            <a:off x="4686300" y="4010025"/>
            <a:ext cx="28003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Impersonation, broker identities, lead distribution, monitoring, migration tools.</a:t>
            </a:r>
          </a:p>
        </p:txBody>
      </p:sp>
      <p:sp>
        <p:nvSpPr>
          <p:cNvPr id="26" name="">
            <a:extLst xmlns:a="http://schemas.openxmlformats.org/drawingml/2006/main">
              <a:ext uri="{FF2B5EF4-FFF2-40B4-BE49-F238E27FC236}">
                <a16:creationId xmlns:a16="http://schemas.microsoft.com/office/drawing/2014/main" id="{B30A536C-E283-44AA-81B6-DCA50E9DB082}"/>
              </a:ext>
            </a:extLst>
          </p:cNvPr>
          <p:cNvSpPr>
            <a:spLocks xmlns:a="http://schemas.openxmlformats.org/drawingml/2006/main" noGrp="1"/>
          </p:cNvSpPr>
          <p:nvPr/>
        </p:nvSpPr>
        <p:spPr>
          <a:xfrm xmlns:a="http://schemas.openxmlformats.org/drawingml/2006/main">
            <a:off x="8267700" y="3476625"/>
            <a:ext cx="32194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D9D4C7"/>
            </a:solidFill>
            <a:prstDash val="solid"/>
          </a:ln>
        </p:spPr>
      </p:sp>
      <p:sp>
        <p:nvSpPr>
          <p:cNvPr id="27" name="">
            <a:extLst xmlns:a="http://schemas.openxmlformats.org/drawingml/2006/main">
              <a:ext uri="{FF2B5EF4-FFF2-40B4-BE49-F238E27FC236}">
                <a16:creationId xmlns:a16="http://schemas.microsoft.com/office/drawing/2014/main" id="{53DDC6BB-B49F-4DA0-8395-108582037827}"/>
              </a:ext>
            </a:extLst>
          </p:cNvPr>
          <p:cNvSpPr>
            <a:spLocks xmlns:a="http://schemas.openxmlformats.org/drawingml/2006/main" noGrp="1"/>
          </p:cNvSpPr>
          <p:nvPr/>
        </p:nvSpPr>
        <p:spPr>
          <a:xfrm xmlns:a="http://schemas.openxmlformats.org/drawingml/2006/main">
            <a:off x="8267700" y="3476625"/>
            <a:ext cx="47625" cy="140970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28" name="">
            <a:extLst xmlns:a="http://schemas.openxmlformats.org/drawingml/2006/main">
              <a:ext uri="{FF2B5EF4-FFF2-40B4-BE49-F238E27FC236}">
                <a16:creationId xmlns:a16="http://schemas.microsoft.com/office/drawing/2014/main" id="{2FC327CC-EC27-4BEF-B76E-6D7E317B4CC5}"/>
              </a:ext>
            </a:extLst>
          </p:cNvPr>
          <p:cNvSpPr>
            <a:spLocks xmlns:a="http://schemas.openxmlformats.org/drawingml/2006/main" noGrp="1"/>
          </p:cNvSpPr>
          <p:nvPr/>
        </p:nvSpPr>
        <p:spPr>
          <a:xfrm xmlns:a="http://schemas.openxmlformats.org/drawingml/2006/main">
            <a:off x="8477250" y="3648075"/>
            <a:ext cx="2800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Reports</a:t>
            </a:r>
          </a:p>
        </p:txBody>
      </p:sp>
      <p:sp>
        <p:nvSpPr>
          <p:cNvPr id="29" name="">
            <a:extLst xmlns:a="http://schemas.openxmlformats.org/drawingml/2006/main">
              <a:ext uri="{FF2B5EF4-FFF2-40B4-BE49-F238E27FC236}">
                <a16:creationId xmlns:a16="http://schemas.microsoft.com/office/drawing/2014/main" id="{509638C4-D1FA-4DE8-9F1A-4D4BC6A2E8A9}"/>
              </a:ext>
            </a:extLst>
          </p:cNvPr>
          <p:cNvSpPr>
            <a:spLocks xmlns:a="http://schemas.openxmlformats.org/drawingml/2006/main" noGrp="1"/>
          </p:cNvSpPr>
          <p:nvPr/>
        </p:nvSpPr>
        <p:spPr>
          <a:xfrm xmlns:a="http://schemas.openxmlformats.org/drawingml/2006/main">
            <a:off x="8477250" y="4010025"/>
            <a:ext cx="28003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Forecasts, call analysis, coverage, exports, audit-oriented views.</a:t>
            </a:r>
          </a:p>
        </p:txBody>
      </p:sp>
      <p:sp>
        <p:nvSpPr>
          <p:cNvPr id="30" name="">
            <a:extLst xmlns:a="http://schemas.openxmlformats.org/drawingml/2006/main">
              <a:ext uri="{FF2B5EF4-FFF2-40B4-BE49-F238E27FC236}">
                <a16:creationId xmlns:a16="http://schemas.microsoft.com/office/drawing/2014/main" id="{17AA3C6C-65B6-4339-9068-3595632188E2}"/>
              </a:ext>
            </a:extLst>
          </p:cNvPr>
          <p:cNvSpPr>
            <a:spLocks xmlns:a="http://schemas.openxmlformats.org/drawingml/2006/main" noGrp="1"/>
          </p:cNvSpPr>
          <p:nvPr/>
        </p:nvSpPr>
        <p:spPr>
          <a:xfrm xmlns:a="http://schemas.openxmlformats.org/drawingml/2006/main">
            <a:off x="647700" y="6362700"/>
            <a:ext cx="10363200" cy="9525"/>
          </a:xfrm>
          <a:prstGeom xmlns:a="http://schemas.openxmlformats.org/drawingml/2006/main" prst="rect">
            <a:avLst/>
          </a:prstGeom>
          <a:solidFill xmlns:a="http://schemas.openxmlformats.org/drawingml/2006/main">
            <a:srgbClr val="D9D4C7"/>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0B6D4FA4-A4B9-48AB-B819-F514891D2B52}"/>
              </a:ext>
            </a:extLst>
          </p:cNvPr>
          <p:cNvSpPr>
            <a:spLocks xmlns:a="http://schemas.openxmlformats.org/drawingml/2006/main" noGrp="1"/>
          </p:cNvSpPr>
          <p:nvPr/>
        </p:nvSpPr>
        <p:spPr>
          <a:xfrm xmlns:a="http://schemas.openxmlformats.org/drawingml/2006/main">
            <a:off x="647700" y="64579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673"/>
                </a:solidFill>
                <a:latin typeface="Aptos"/>
                <a:ea typeface="Aptos"/>
                <a:cs typeface="Aptos"/>
              </a:defRPr>
            </a:pPr>
            <a:r>
              <a:rPr sz="975" b="0">
                <a:solidFill>
                  <a:srgbClr val="5B6673"/>
                </a:solidFill>
                <a:latin typeface="Aptos"/>
                <a:ea typeface="Aptos"/>
                <a:cs typeface="Aptos"/>
              </a:rPr>
              <a:t>PearlPortal intern onboarding</a:t>
            </a:r>
          </a:p>
        </p:txBody>
      </p:sp>
      <p:sp>
        <p:nvSpPr>
          <p:cNvPr id="32" name="">
            <a:extLst xmlns:a="http://schemas.openxmlformats.org/drawingml/2006/main">
              <a:ext uri="{FF2B5EF4-FFF2-40B4-BE49-F238E27FC236}">
                <a16:creationId xmlns:a16="http://schemas.microsoft.com/office/drawing/2014/main" id="{0C40712B-DE36-47B4-B3FD-90032FF01811}"/>
              </a:ext>
            </a:extLst>
          </p:cNvPr>
          <p:cNvSpPr>
            <a:spLocks xmlns:a="http://schemas.openxmlformats.org/drawingml/2006/main" noGrp="1"/>
          </p:cNvSpPr>
          <p:nvPr/>
        </p:nvSpPr>
        <p:spPr>
          <a:xfrm xmlns:a="http://schemas.openxmlformats.org/drawingml/2006/main">
            <a:off x="10382250" y="64579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673"/>
                </a:solidFill>
                <a:latin typeface="Aptos"/>
                <a:ea typeface="Aptos"/>
                <a:cs typeface="Aptos"/>
              </a:defRPr>
            </a:pPr>
            <a:r>
              <a:rPr sz="975" b="0">
                <a:solidFill>
                  <a:srgbClr val="5B6673"/>
                </a:solidFill>
                <a:latin typeface="Aptos"/>
                <a:ea typeface="Aptos"/>
                <a:cs typeface="Aptos"/>
              </a:rPr>
              <a:t>06</a:t>
            </a:r>
          </a:p>
        </p:txBody>
      </p:sp>
    </p:spTree>
    <p:extLst>
      <p:ext uri="{BB962C8B-B14F-4D97-AF65-F5344CB8AC3E}">
        <p14:creationId xmlns:p14="http://schemas.microsoft.com/office/powerpoint/2010/main" val="133908810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866377-5068-4721-B5BA-47CA39E95A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6E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7CB8CD4-66E2-4DE6-888E-E44AA251DE7F}"/>
              </a:ext>
            </a:extLst>
          </p:cNvPr>
          <p:cNvSpPr>
            <a:spLocks xmlns:a="http://schemas.openxmlformats.org/drawingml/2006/main" noGrp="1"/>
          </p:cNvSpPr>
          <p:nvPr/>
        </p:nvSpPr>
        <p:spPr>
          <a:xfrm xmlns:a="http://schemas.openxmlformats.org/drawingml/2006/main">
            <a:off x="419100" y="381000"/>
            <a:ext cx="47625" cy="876300"/>
          </a:xfrm>
          <a:prstGeom xmlns:a="http://schemas.openxmlformats.org/drawingml/2006/main" prst="rect">
            <a:avLst/>
          </a:prstGeom>
          <a:solidFill xmlns:a="http://schemas.openxmlformats.org/drawingml/2006/main">
            <a:srgbClr val="B7791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8FD1D13-27BD-4B78-B8D8-256F4D5EC7DB}"/>
              </a:ext>
            </a:extLst>
          </p:cNvPr>
          <p:cNvSpPr>
            <a:spLocks xmlns:a="http://schemas.openxmlformats.org/drawingml/2006/main" noGrp="1"/>
          </p:cNvSpPr>
          <p:nvPr/>
        </p:nvSpPr>
        <p:spPr>
          <a:xfrm xmlns:a="http://schemas.openxmlformats.org/drawingml/2006/main">
            <a:off x="647700" y="400050"/>
            <a:ext cx="704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B7791F"/>
                </a:solidFill>
                <a:latin typeface="Aptos"/>
                <a:ea typeface="Aptos"/>
                <a:cs typeface="Aptos"/>
              </a:defRPr>
            </a:pPr>
            <a:r>
              <a:rPr sz="1200" b="1">
                <a:solidFill>
                  <a:srgbClr val="B7791F"/>
                </a:solidFill>
                <a:latin typeface="Aptos"/>
                <a:ea typeface="Aptos"/>
                <a:cs typeface="Aptos"/>
              </a:rPr>
              <a:t>DATA MODEL</a:t>
            </a:r>
          </a:p>
        </p:txBody>
      </p:sp>
      <p:sp>
        <p:nvSpPr>
          <p:cNvPr id="4" name="">
            <a:extLst xmlns:a="http://schemas.openxmlformats.org/drawingml/2006/main">
              <a:ext uri="{FF2B5EF4-FFF2-40B4-BE49-F238E27FC236}">
                <a16:creationId xmlns:a16="http://schemas.microsoft.com/office/drawing/2014/main" id="{031C6062-3983-49D7-9BE8-FAC55E49DEFC}"/>
              </a:ext>
            </a:extLst>
          </p:cNvPr>
          <p:cNvSpPr>
            <a:spLocks xmlns:a="http://schemas.openxmlformats.org/drawingml/2006/main" noGrp="1"/>
          </p:cNvSpPr>
          <p:nvPr/>
        </p:nvSpPr>
        <p:spPr>
          <a:xfrm xmlns:a="http://schemas.openxmlformats.org/drawingml/2006/main">
            <a:off x="647700" y="666750"/>
            <a:ext cx="7810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A"/>
                </a:solidFill>
                <a:latin typeface="Aptos"/>
                <a:ea typeface="Aptos"/>
                <a:cs typeface="Aptos"/>
              </a:defRPr>
            </a:pPr>
            <a:r>
              <a:rPr sz="3000" b="1">
                <a:solidFill>
                  <a:srgbClr val="17202A"/>
                </a:solidFill>
                <a:latin typeface="Aptos"/>
                <a:ea typeface="Aptos"/>
                <a:cs typeface="Aptos"/>
              </a:rPr>
              <a:t>Most bugs are relationship bugs</a:t>
            </a:r>
          </a:p>
        </p:txBody>
      </p:sp>
      <p:sp>
        <p:nvSpPr>
          <p:cNvPr id="5" name="">
            <a:extLst xmlns:a="http://schemas.openxmlformats.org/drawingml/2006/main">
              <a:ext uri="{FF2B5EF4-FFF2-40B4-BE49-F238E27FC236}">
                <a16:creationId xmlns:a16="http://schemas.microsoft.com/office/drawing/2014/main" id="{25DC36FB-02E3-4289-87AF-5C034A8298D2}"/>
              </a:ext>
            </a:extLst>
          </p:cNvPr>
          <p:cNvSpPr>
            <a:spLocks xmlns:a="http://schemas.openxmlformats.org/drawingml/2006/main" noGrp="1"/>
          </p:cNvSpPr>
          <p:nvPr/>
        </p:nvSpPr>
        <p:spPr>
          <a:xfrm xmlns:a="http://schemas.openxmlformats.org/drawingml/2006/main">
            <a:off x="10001250" y="419100"/>
            <a:ext cx="1657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B6673"/>
                </a:solidFill>
                <a:latin typeface="Aptos"/>
                <a:ea typeface="Aptos"/>
                <a:cs typeface="Aptos"/>
              </a:defRPr>
            </a:pPr>
            <a:r>
              <a:rPr sz="1125" b="0">
                <a:solidFill>
                  <a:srgbClr val="5B6673"/>
                </a:solidFill>
                <a:latin typeface="Aptos"/>
                <a:ea typeface="Aptos"/>
                <a:cs typeface="Aptos"/>
              </a:rPr>
              <a:t>2026-05-04</a:t>
            </a:r>
          </a:p>
        </p:txBody>
      </p:sp>
      <p:sp>
        <p:nvSpPr>
          <p:cNvPr id="6" name="">
            <a:extLst xmlns:a="http://schemas.openxmlformats.org/drawingml/2006/main">
              <a:ext uri="{FF2B5EF4-FFF2-40B4-BE49-F238E27FC236}">
                <a16:creationId xmlns:a16="http://schemas.microsoft.com/office/drawing/2014/main" id="{CB841024-93D8-4EC7-B6C3-C116A21865A0}"/>
              </a:ext>
            </a:extLst>
          </p:cNvPr>
          <p:cNvSpPr>
            <a:spLocks xmlns:a="http://schemas.openxmlformats.org/drawingml/2006/main" noGrp="1"/>
          </p:cNvSpPr>
          <p:nvPr/>
        </p:nvSpPr>
        <p:spPr>
          <a:xfrm xmlns:a="http://schemas.openxmlformats.org/drawingml/2006/main">
            <a:off x="666750" y="1619250"/>
            <a:ext cx="2476500" cy="3238500"/>
          </a:xfrm>
          <a:prstGeom xmlns:a="http://schemas.openxmlformats.org/drawingml/2006/main" prst="rect">
            <a:avLst/>
          </a:prstGeom>
          <a:solidFill xmlns:a="http://schemas.openxmlformats.org/drawingml/2006/main">
            <a:srgbClr val="D8F3EE"/>
          </a:solidFill>
          <a:ln xmlns:a="http://schemas.openxmlformats.org/drawingml/2006/main" w="9525">
            <a:solidFill>
              <a:srgbClr val="D9D4C7"/>
            </a:solidFill>
            <a:prstDash val="solid"/>
          </a:ln>
        </p:spPr>
      </p:sp>
      <p:sp>
        <p:nvSpPr>
          <p:cNvPr id="7" name="">
            <a:extLst xmlns:a="http://schemas.openxmlformats.org/drawingml/2006/main">
              <a:ext uri="{FF2B5EF4-FFF2-40B4-BE49-F238E27FC236}">
                <a16:creationId xmlns:a16="http://schemas.microsoft.com/office/drawing/2014/main" id="{B6A879EC-A468-4F26-A7E7-F2E1CB7501D3}"/>
              </a:ext>
            </a:extLst>
          </p:cNvPr>
          <p:cNvSpPr>
            <a:spLocks xmlns:a="http://schemas.openxmlformats.org/drawingml/2006/main" noGrp="1"/>
          </p:cNvSpPr>
          <p:nvPr/>
        </p:nvSpPr>
        <p:spPr>
          <a:xfrm xmlns:a="http://schemas.openxmlformats.org/drawingml/2006/main">
            <a:off x="819150" y="175260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766E"/>
                </a:solidFill>
                <a:latin typeface="Aptos"/>
                <a:ea typeface="Aptos"/>
                <a:cs typeface="Aptos"/>
              </a:defRPr>
            </a:pPr>
            <a:r>
              <a:rPr sz="1275" b="1">
                <a:solidFill>
                  <a:srgbClr val="0F766E"/>
                </a:solidFill>
                <a:latin typeface="Aptos"/>
                <a:ea typeface="Aptos"/>
                <a:cs typeface="Aptos"/>
              </a:rPr>
              <a:t>People</a:t>
            </a:r>
          </a:p>
        </p:txBody>
      </p:sp>
      <p:sp>
        <p:nvSpPr>
          <p:cNvPr id="8" name="">
            <a:extLst xmlns:a="http://schemas.openxmlformats.org/drawingml/2006/main">
              <a:ext uri="{FF2B5EF4-FFF2-40B4-BE49-F238E27FC236}">
                <a16:creationId xmlns:a16="http://schemas.microsoft.com/office/drawing/2014/main" id="{36C59AF3-5359-430A-98AE-BDE063ECB5B4}"/>
              </a:ext>
            </a:extLst>
          </p:cNvPr>
          <p:cNvSpPr>
            <a:spLocks xmlns:a="http://schemas.openxmlformats.org/drawingml/2006/main" noGrp="1"/>
          </p:cNvSpPr>
          <p:nvPr/>
        </p:nvSpPr>
        <p:spPr>
          <a:xfrm xmlns:a="http://schemas.openxmlformats.org/drawingml/2006/main">
            <a:off x="819150" y="211455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9" name="">
            <a:extLst xmlns:a="http://schemas.openxmlformats.org/drawingml/2006/main">
              <a:ext uri="{FF2B5EF4-FFF2-40B4-BE49-F238E27FC236}">
                <a16:creationId xmlns:a16="http://schemas.microsoft.com/office/drawing/2014/main" id="{E83A2F7E-B0AD-400E-AC98-2178F1A31EEB}"/>
              </a:ext>
            </a:extLst>
          </p:cNvPr>
          <p:cNvSpPr>
            <a:spLocks xmlns:a="http://schemas.openxmlformats.org/drawingml/2006/main" noGrp="1"/>
          </p:cNvSpPr>
          <p:nvPr/>
        </p:nvSpPr>
        <p:spPr>
          <a:xfrm xmlns:a="http://schemas.openxmlformats.org/drawingml/2006/main">
            <a:off x="914400" y="217170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users</a:t>
            </a:r>
          </a:p>
        </p:txBody>
      </p:sp>
      <p:sp>
        <p:nvSpPr>
          <p:cNvPr id="10" name="">
            <a:extLst xmlns:a="http://schemas.openxmlformats.org/drawingml/2006/main">
              <a:ext uri="{FF2B5EF4-FFF2-40B4-BE49-F238E27FC236}">
                <a16:creationId xmlns:a16="http://schemas.microsoft.com/office/drawing/2014/main" id="{D26701F7-8077-4EAE-BAE9-7C5542DFBD11}"/>
              </a:ext>
            </a:extLst>
          </p:cNvPr>
          <p:cNvSpPr>
            <a:spLocks xmlns:a="http://schemas.openxmlformats.org/drawingml/2006/main" noGrp="1"/>
          </p:cNvSpPr>
          <p:nvPr/>
        </p:nvSpPr>
        <p:spPr>
          <a:xfrm xmlns:a="http://schemas.openxmlformats.org/drawingml/2006/main">
            <a:off x="819150" y="251460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11" name="">
            <a:extLst xmlns:a="http://schemas.openxmlformats.org/drawingml/2006/main">
              <a:ext uri="{FF2B5EF4-FFF2-40B4-BE49-F238E27FC236}">
                <a16:creationId xmlns:a16="http://schemas.microsoft.com/office/drawing/2014/main" id="{3D6B56E6-2ECA-40AA-873B-57192E2FE555}"/>
              </a:ext>
            </a:extLst>
          </p:cNvPr>
          <p:cNvSpPr>
            <a:spLocks xmlns:a="http://schemas.openxmlformats.org/drawingml/2006/main" noGrp="1"/>
          </p:cNvSpPr>
          <p:nvPr/>
        </p:nvSpPr>
        <p:spPr>
          <a:xfrm xmlns:a="http://schemas.openxmlformats.org/drawingml/2006/main">
            <a:off x="914400" y="257175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clients</a:t>
            </a:r>
          </a:p>
        </p:txBody>
      </p:sp>
      <p:sp>
        <p:nvSpPr>
          <p:cNvPr id="12" name="">
            <a:extLst xmlns:a="http://schemas.openxmlformats.org/drawingml/2006/main">
              <a:ext uri="{FF2B5EF4-FFF2-40B4-BE49-F238E27FC236}">
                <a16:creationId xmlns:a16="http://schemas.microsoft.com/office/drawing/2014/main" id="{40FA5ED7-08F4-4C80-80A6-2E7843A37452}"/>
              </a:ext>
            </a:extLst>
          </p:cNvPr>
          <p:cNvSpPr>
            <a:spLocks xmlns:a="http://schemas.openxmlformats.org/drawingml/2006/main" noGrp="1"/>
          </p:cNvSpPr>
          <p:nvPr/>
        </p:nvSpPr>
        <p:spPr>
          <a:xfrm xmlns:a="http://schemas.openxmlformats.org/drawingml/2006/main">
            <a:off x="819150" y="291465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13" name="">
            <a:extLst xmlns:a="http://schemas.openxmlformats.org/drawingml/2006/main">
              <a:ext uri="{FF2B5EF4-FFF2-40B4-BE49-F238E27FC236}">
                <a16:creationId xmlns:a16="http://schemas.microsoft.com/office/drawing/2014/main" id="{CAFF4B4C-81B1-484F-B656-6A879B3A92B8}"/>
              </a:ext>
            </a:extLst>
          </p:cNvPr>
          <p:cNvSpPr>
            <a:spLocks xmlns:a="http://schemas.openxmlformats.org/drawingml/2006/main" noGrp="1"/>
          </p:cNvSpPr>
          <p:nvPr/>
        </p:nvSpPr>
        <p:spPr>
          <a:xfrm xmlns:a="http://schemas.openxmlformats.org/drawingml/2006/main">
            <a:off x="914400" y="297180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family accounts</a:t>
            </a:r>
          </a:p>
        </p:txBody>
      </p:sp>
      <p:sp>
        <p:nvSpPr>
          <p:cNvPr id="14" name="">
            <a:extLst xmlns:a="http://schemas.openxmlformats.org/drawingml/2006/main">
              <a:ext uri="{FF2B5EF4-FFF2-40B4-BE49-F238E27FC236}">
                <a16:creationId xmlns:a16="http://schemas.microsoft.com/office/drawing/2014/main" id="{FD3B7A17-A5DC-4A52-AAE0-6FFEDD8B4FD5}"/>
              </a:ext>
            </a:extLst>
          </p:cNvPr>
          <p:cNvSpPr>
            <a:spLocks xmlns:a="http://schemas.openxmlformats.org/drawingml/2006/main" noGrp="1"/>
          </p:cNvSpPr>
          <p:nvPr/>
        </p:nvSpPr>
        <p:spPr>
          <a:xfrm xmlns:a="http://schemas.openxmlformats.org/drawingml/2006/main">
            <a:off x="819150" y="331470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15" name="">
            <a:extLst xmlns:a="http://schemas.openxmlformats.org/drawingml/2006/main">
              <a:ext uri="{FF2B5EF4-FFF2-40B4-BE49-F238E27FC236}">
                <a16:creationId xmlns:a16="http://schemas.microsoft.com/office/drawing/2014/main" id="{F0C73A60-B163-4A70-B3EF-1C40DF5E4510}"/>
              </a:ext>
            </a:extLst>
          </p:cNvPr>
          <p:cNvSpPr>
            <a:spLocks xmlns:a="http://schemas.openxmlformats.org/drawingml/2006/main" noGrp="1"/>
          </p:cNvSpPr>
          <p:nvPr/>
        </p:nvSpPr>
        <p:spPr>
          <a:xfrm xmlns:a="http://schemas.openxmlformats.org/drawingml/2006/main">
            <a:off x="914400" y="337185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broker identities</a:t>
            </a:r>
          </a:p>
        </p:txBody>
      </p:sp>
      <p:sp>
        <p:nvSpPr>
          <p:cNvPr id="16" name="">
            <a:extLst xmlns:a="http://schemas.openxmlformats.org/drawingml/2006/main">
              <a:ext uri="{FF2B5EF4-FFF2-40B4-BE49-F238E27FC236}">
                <a16:creationId xmlns:a16="http://schemas.microsoft.com/office/drawing/2014/main" id="{6F0768C7-5366-46B0-B28F-F240F848833A}"/>
              </a:ext>
            </a:extLst>
          </p:cNvPr>
          <p:cNvSpPr>
            <a:spLocks xmlns:a="http://schemas.openxmlformats.org/drawingml/2006/main" noGrp="1"/>
          </p:cNvSpPr>
          <p:nvPr/>
        </p:nvSpPr>
        <p:spPr>
          <a:xfrm xmlns:a="http://schemas.openxmlformats.org/drawingml/2006/main">
            <a:off x="819150" y="371475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17" name="">
            <a:extLst xmlns:a="http://schemas.openxmlformats.org/drawingml/2006/main">
              <a:ext uri="{FF2B5EF4-FFF2-40B4-BE49-F238E27FC236}">
                <a16:creationId xmlns:a16="http://schemas.microsoft.com/office/drawing/2014/main" id="{F83C81BA-8794-4BF4-BBA8-7E6ED046DBE0}"/>
              </a:ext>
            </a:extLst>
          </p:cNvPr>
          <p:cNvSpPr>
            <a:spLocks xmlns:a="http://schemas.openxmlformats.org/drawingml/2006/main" noGrp="1"/>
          </p:cNvSpPr>
          <p:nvPr/>
        </p:nvSpPr>
        <p:spPr>
          <a:xfrm xmlns:a="http://schemas.openxmlformats.org/drawingml/2006/main">
            <a:off x="914400" y="377190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impersonation</a:t>
            </a:r>
          </a:p>
        </p:txBody>
      </p:sp>
      <p:sp>
        <p:nvSpPr>
          <p:cNvPr id="18" name="">
            <a:extLst xmlns:a="http://schemas.openxmlformats.org/drawingml/2006/main">
              <a:ext uri="{FF2B5EF4-FFF2-40B4-BE49-F238E27FC236}">
                <a16:creationId xmlns:a16="http://schemas.microsoft.com/office/drawing/2014/main" id="{3061D1CC-17AA-4D99-8ADC-214180D88251}"/>
              </a:ext>
            </a:extLst>
          </p:cNvPr>
          <p:cNvSpPr>
            <a:spLocks xmlns:a="http://schemas.openxmlformats.org/drawingml/2006/main" noGrp="1"/>
          </p:cNvSpPr>
          <p:nvPr/>
        </p:nvSpPr>
        <p:spPr>
          <a:xfrm xmlns:a="http://schemas.openxmlformats.org/drawingml/2006/main">
            <a:off x="3476625" y="1619250"/>
            <a:ext cx="2476500" cy="3238500"/>
          </a:xfrm>
          <a:prstGeom xmlns:a="http://schemas.openxmlformats.org/drawingml/2006/main" prst="rect">
            <a:avLst/>
          </a:prstGeom>
          <a:solidFill xmlns:a="http://schemas.openxmlformats.org/drawingml/2006/main">
            <a:srgbClr val="F5DDD5"/>
          </a:solidFill>
          <a:ln xmlns:a="http://schemas.openxmlformats.org/drawingml/2006/main" w="9525">
            <a:solidFill>
              <a:srgbClr val="D9D4C7"/>
            </a:solidFill>
            <a:prstDash val="solid"/>
          </a:ln>
        </p:spPr>
      </p:sp>
      <p:sp>
        <p:nvSpPr>
          <p:cNvPr id="19" name="">
            <a:extLst xmlns:a="http://schemas.openxmlformats.org/drawingml/2006/main">
              <a:ext uri="{FF2B5EF4-FFF2-40B4-BE49-F238E27FC236}">
                <a16:creationId xmlns:a16="http://schemas.microsoft.com/office/drawing/2014/main" id="{68641202-ADB4-46A0-B02B-40F9A71E655B}"/>
              </a:ext>
            </a:extLst>
          </p:cNvPr>
          <p:cNvSpPr>
            <a:spLocks xmlns:a="http://schemas.openxmlformats.org/drawingml/2006/main" noGrp="1"/>
          </p:cNvSpPr>
          <p:nvPr/>
        </p:nvSpPr>
        <p:spPr>
          <a:xfrm xmlns:a="http://schemas.openxmlformats.org/drawingml/2006/main">
            <a:off x="3629025" y="175260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C4553F"/>
                </a:solidFill>
                <a:latin typeface="Aptos"/>
                <a:ea typeface="Aptos"/>
                <a:cs typeface="Aptos"/>
              </a:defRPr>
            </a:pPr>
            <a:r>
              <a:rPr sz="1275" b="1">
                <a:solidFill>
                  <a:srgbClr val="C4553F"/>
                </a:solidFill>
                <a:latin typeface="Aptos"/>
                <a:ea typeface="Aptos"/>
                <a:cs typeface="Aptos"/>
              </a:rPr>
              <a:t>Mortgage work</a:t>
            </a:r>
          </a:p>
        </p:txBody>
      </p:sp>
      <p:sp>
        <p:nvSpPr>
          <p:cNvPr id="20" name="">
            <a:extLst xmlns:a="http://schemas.openxmlformats.org/drawingml/2006/main">
              <a:ext uri="{FF2B5EF4-FFF2-40B4-BE49-F238E27FC236}">
                <a16:creationId xmlns:a16="http://schemas.microsoft.com/office/drawing/2014/main" id="{4A464070-339F-424B-A18F-3AD59E125F87}"/>
              </a:ext>
            </a:extLst>
          </p:cNvPr>
          <p:cNvSpPr>
            <a:spLocks xmlns:a="http://schemas.openxmlformats.org/drawingml/2006/main" noGrp="1"/>
          </p:cNvSpPr>
          <p:nvPr/>
        </p:nvSpPr>
        <p:spPr>
          <a:xfrm xmlns:a="http://schemas.openxmlformats.org/drawingml/2006/main">
            <a:off x="3629025" y="211455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21" name="">
            <a:extLst xmlns:a="http://schemas.openxmlformats.org/drawingml/2006/main">
              <a:ext uri="{FF2B5EF4-FFF2-40B4-BE49-F238E27FC236}">
                <a16:creationId xmlns:a16="http://schemas.microsoft.com/office/drawing/2014/main" id="{8B4B6BC6-7977-4EB1-81D7-08366B1CA71A}"/>
              </a:ext>
            </a:extLst>
          </p:cNvPr>
          <p:cNvSpPr>
            <a:spLocks xmlns:a="http://schemas.openxmlformats.org/drawingml/2006/main" noGrp="1"/>
          </p:cNvSpPr>
          <p:nvPr/>
        </p:nvSpPr>
        <p:spPr>
          <a:xfrm xmlns:a="http://schemas.openxmlformats.org/drawingml/2006/main">
            <a:off x="3724275" y="217170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leads</a:t>
            </a:r>
          </a:p>
        </p:txBody>
      </p:sp>
      <p:sp>
        <p:nvSpPr>
          <p:cNvPr id="22" name="">
            <a:extLst xmlns:a="http://schemas.openxmlformats.org/drawingml/2006/main">
              <a:ext uri="{FF2B5EF4-FFF2-40B4-BE49-F238E27FC236}">
                <a16:creationId xmlns:a16="http://schemas.microsoft.com/office/drawing/2014/main" id="{369C58CF-C563-49C9-912A-4B6F82D5F3EA}"/>
              </a:ext>
            </a:extLst>
          </p:cNvPr>
          <p:cNvSpPr>
            <a:spLocks xmlns:a="http://schemas.openxmlformats.org/drawingml/2006/main" noGrp="1"/>
          </p:cNvSpPr>
          <p:nvPr/>
        </p:nvSpPr>
        <p:spPr>
          <a:xfrm xmlns:a="http://schemas.openxmlformats.org/drawingml/2006/main">
            <a:off x="3629025" y="251460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23" name="">
            <a:extLst xmlns:a="http://schemas.openxmlformats.org/drawingml/2006/main">
              <a:ext uri="{FF2B5EF4-FFF2-40B4-BE49-F238E27FC236}">
                <a16:creationId xmlns:a16="http://schemas.microsoft.com/office/drawing/2014/main" id="{FBF49A9B-EC70-40E2-94A8-6F2AC63BA333}"/>
              </a:ext>
            </a:extLst>
          </p:cNvPr>
          <p:cNvSpPr>
            <a:spLocks xmlns:a="http://schemas.openxmlformats.org/drawingml/2006/main" noGrp="1"/>
          </p:cNvSpPr>
          <p:nvPr/>
        </p:nvSpPr>
        <p:spPr>
          <a:xfrm xmlns:a="http://schemas.openxmlformats.org/drawingml/2006/main">
            <a:off x="3724275" y="257175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deals</a:t>
            </a:r>
          </a:p>
        </p:txBody>
      </p:sp>
      <p:sp>
        <p:nvSpPr>
          <p:cNvPr id="24" name="">
            <a:extLst xmlns:a="http://schemas.openxmlformats.org/drawingml/2006/main">
              <a:ext uri="{FF2B5EF4-FFF2-40B4-BE49-F238E27FC236}">
                <a16:creationId xmlns:a16="http://schemas.microsoft.com/office/drawing/2014/main" id="{A85F7CB3-1492-4FBC-9512-B19CB75947FD}"/>
              </a:ext>
            </a:extLst>
          </p:cNvPr>
          <p:cNvSpPr>
            <a:spLocks xmlns:a="http://schemas.openxmlformats.org/drawingml/2006/main" noGrp="1"/>
          </p:cNvSpPr>
          <p:nvPr/>
        </p:nvSpPr>
        <p:spPr>
          <a:xfrm xmlns:a="http://schemas.openxmlformats.org/drawingml/2006/main">
            <a:off x="3629025" y="291465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25" name="">
            <a:extLst xmlns:a="http://schemas.openxmlformats.org/drawingml/2006/main">
              <a:ext uri="{FF2B5EF4-FFF2-40B4-BE49-F238E27FC236}">
                <a16:creationId xmlns:a16="http://schemas.microsoft.com/office/drawing/2014/main" id="{10C3CB80-6F34-483E-AB01-D33654D3C176}"/>
              </a:ext>
            </a:extLst>
          </p:cNvPr>
          <p:cNvSpPr>
            <a:spLocks xmlns:a="http://schemas.openxmlformats.org/drawingml/2006/main" noGrp="1"/>
          </p:cNvSpPr>
          <p:nvPr/>
        </p:nvSpPr>
        <p:spPr>
          <a:xfrm xmlns:a="http://schemas.openxmlformats.org/drawingml/2006/main">
            <a:off x="3724275" y="297180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opportunity products</a:t>
            </a:r>
          </a:p>
        </p:txBody>
      </p:sp>
      <p:sp>
        <p:nvSpPr>
          <p:cNvPr id="26" name="">
            <a:extLst xmlns:a="http://schemas.openxmlformats.org/drawingml/2006/main">
              <a:ext uri="{FF2B5EF4-FFF2-40B4-BE49-F238E27FC236}">
                <a16:creationId xmlns:a16="http://schemas.microsoft.com/office/drawing/2014/main" id="{AC9CAD49-EB16-44F3-9A96-B0DC7B17D046}"/>
              </a:ext>
            </a:extLst>
          </p:cNvPr>
          <p:cNvSpPr>
            <a:spLocks xmlns:a="http://schemas.openxmlformats.org/drawingml/2006/main" noGrp="1"/>
          </p:cNvSpPr>
          <p:nvPr/>
        </p:nvSpPr>
        <p:spPr>
          <a:xfrm xmlns:a="http://schemas.openxmlformats.org/drawingml/2006/main">
            <a:off x="3629025" y="331470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27" name="">
            <a:extLst xmlns:a="http://schemas.openxmlformats.org/drawingml/2006/main">
              <a:ext uri="{FF2B5EF4-FFF2-40B4-BE49-F238E27FC236}">
                <a16:creationId xmlns:a16="http://schemas.microsoft.com/office/drawing/2014/main" id="{8BBC315B-2287-4B4B-848E-293F739D8431}"/>
              </a:ext>
            </a:extLst>
          </p:cNvPr>
          <p:cNvSpPr>
            <a:spLocks xmlns:a="http://schemas.openxmlformats.org/drawingml/2006/main" noGrp="1"/>
          </p:cNvSpPr>
          <p:nvPr/>
        </p:nvSpPr>
        <p:spPr>
          <a:xfrm xmlns:a="http://schemas.openxmlformats.org/drawingml/2006/main">
            <a:off x="3724275" y="337185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AML reports</a:t>
            </a:r>
          </a:p>
        </p:txBody>
      </p:sp>
      <p:sp>
        <p:nvSpPr>
          <p:cNvPr id="28" name="">
            <a:extLst xmlns:a="http://schemas.openxmlformats.org/drawingml/2006/main">
              <a:ext uri="{FF2B5EF4-FFF2-40B4-BE49-F238E27FC236}">
                <a16:creationId xmlns:a16="http://schemas.microsoft.com/office/drawing/2014/main" id="{1F5CCE1E-2EDB-4F38-BCA9-02E360CA32DB}"/>
              </a:ext>
            </a:extLst>
          </p:cNvPr>
          <p:cNvSpPr>
            <a:spLocks xmlns:a="http://schemas.openxmlformats.org/drawingml/2006/main" noGrp="1"/>
          </p:cNvSpPr>
          <p:nvPr/>
        </p:nvSpPr>
        <p:spPr>
          <a:xfrm xmlns:a="http://schemas.openxmlformats.org/drawingml/2006/main">
            <a:off x="3629025" y="371475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29" name="">
            <a:extLst xmlns:a="http://schemas.openxmlformats.org/drawingml/2006/main">
              <a:ext uri="{FF2B5EF4-FFF2-40B4-BE49-F238E27FC236}">
                <a16:creationId xmlns:a16="http://schemas.microsoft.com/office/drawing/2014/main" id="{0FD62D16-06E1-4DDC-BCFD-CAEA9C53C8E8}"/>
              </a:ext>
            </a:extLst>
          </p:cNvPr>
          <p:cNvSpPr>
            <a:spLocks xmlns:a="http://schemas.openxmlformats.org/drawingml/2006/main" noGrp="1"/>
          </p:cNvSpPr>
          <p:nvPr/>
        </p:nvSpPr>
        <p:spPr>
          <a:xfrm xmlns:a="http://schemas.openxmlformats.org/drawingml/2006/main">
            <a:off x="3724275" y="377190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new transactions</a:t>
            </a:r>
          </a:p>
        </p:txBody>
      </p:sp>
      <p:sp>
        <p:nvSpPr>
          <p:cNvPr id="30" name="">
            <a:extLst xmlns:a="http://schemas.openxmlformats.org/drawingml/2006/main">
              <a:ext uri="{FF2B5EF4-FFF2-40B4-BE49-F238E27FC236}">
                <a16:creationId xmlns:a16="http://schemas.microsoft.com/office/drawing/2014/main" id="{9767D829-8937-443D-90E3-06A0A549731F}"/>
              </a:ext>
            </a:extLst>
          </p:cNvPr>
          <p:cNvSpPr>
            <a:spLocks xmlns:a="http://schemas.openxmlformats.org/drawingml/2006/main" noGrp="1"/>
          </p:cNvSpPr>
          <p:nvPr/>
        </p:nvSpPr>
        <p:spPr>
          <a:xfrm xmlns:a="http://schemas.openxmlformats.org/drawingml/2006/main">
            <a:off x="6286500" y="1619250"/>
            <a:ext cx="2476500" cy="3238500"/>
          </a:xfrm>
          <a:prstGeom xmlns:a="http://schemas.openxmlformats.org/drawingml/2006/main" prst="rect">
            <a:avLst/>
          </a:prstGeom>
          <a:solidFill xmlns:a="http://schemas.openxmlformats.org/drawingml/2006/main">
            <a:srgbClr val="E4DFF4"/>
          </a:solidFill>
          <a:ln xmlns:a="http://schemas.openxmlformats.org/drawingml/2006/main" w="9525">
            <a:solidFill>
              <a:srgbClr val="D9D4C7"/>
            </a:solidFill>
            <a:prstDash val="solid"/>
          </a:ln>
        </p:spPr>
      </p:sp>
      <p:sp>
        <p:nvSpPr>
          <p:cNvPr id="31" name="">
            <a:extLst xmlns:a="http://schemas.openxmlformats.org/drawingml/2006/main">
              <a:ext uri="{FF2B5EF4-FFF2-40B4-BE49-F238E27FC236}">
                <a16:creationId xmlns:a16="http://schemas.microsoft.com/office/drawing/2014/main" id="{FE4A3BB3-C35D-473A-8864-135A3CD043D0}"/>
              </a:ext>
            </a:extLst>
          </p:cNvPr>
          <p:cNvSpPr>
            <a:spLocks xmlns:a="http://schemas.openxmlformats.org/drawingml/2006/main" noGrp="1"/>
          </p:cNvSpPr>
          <p:nvPr/>
        </p:nvSpPr>
        <p:spPr>
          <a:xfrm xmlns:a="http://schemas.openxmlformats.org/drawingml/2006/main">
            <a:off x="6438900" y="175260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B4B8A"/>
                </a:solidFill>
                <a:latin typeface="Aptos"/>
                <a:ea typeface="Aptos"/>
                <a:cs typeface="Aptos"/>
              </a:defRPr>
            </a:pPr>
            <a:r>
              <a:rPr sz="1275" b="1">
                <a:solidFill>
                  <a:srgbClr val="5B4B8A"/>
                </a:solidFill>
                <a:latin typeface="Aptos"/>
                <a:ea typeface="Aptos"/>
                <a:cs typeface="Aptos"/>
              </a:rPr>
              <a:t>Activity context</a:t>
            </a:r>
          </a:p>
        </p:txBody>
      </p:sp>
      <p:sp>
        <p:nvSpPr>
          <p:cNvPr id="32" name="">
            <a:extLst xmlns:a="http://schemas.openxmlformats.org/drawingml/2006/main">
              <a:ext uri="{FF2B5EF4-FFF2-40B4-BE49-F238E27FC236}">
                <a16:creationId xmlns:a16="http://schemas.microsoft.com/office/drawing/2014/main" id="{27446B73-1258-4926-A684-F994BD51E41E}"/>
              </a:ext>
            </a:extLst>
          </p:cNvPr>
          <p:cNvSpPr>
            <a:spLocks xmlns:a="http://schemas.openxmlformats.org/drawingml/2006/main" noGrp="1"/>
          </p:cNvSpPr>
          <p:nvPr/>
        </p:nvSpPr>
        <p:spPr>
          <a:xfrm xmlns:a="http://schemas.openxmlformats.org/drawingml/2006/main">
            <a:off x="6438900" y="211455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33" name="">
            <a:extLst xmlns:a="http://schemas.openxmlformats.org/drawingml/2006/main">
              <a:ext uri="{FF2B5EF4-FFF2-40B4-BE49-F238E27FC236}">
                <a16:creationId xmlns:a16="http://schemas.microsoft.com/office/drawing/2014/main" id="{053E7124-E73C-458D-B3F5-24C1CCFD16CE}"/>
              </a:ext>
            </a:extLst>
          </p:cNvPr>
          <p:cNvSpPr>
            <a:spLocks xmlns:a="http://schemas.openxmlformats.org/drawingml/2006/main" noGrp="1"/>
          </p:cNvSpPr>
          <p:nvPr/>
        </p:nvSpPr>
        <p:spPr>
          <a:xfrm xmlns:a="http://schemas.openxmlformats.org/drawingml/2006/main">
            <a:off x="6534150" y="217170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activities</a:t>
            </a:r>
          </a:p>
        </p:txBody>
      </p:sp>
      <p:sp>
        <p:nvSpPr>
          <p:cNvPr id="34" name="">
            <a:extLst xmlns:a="http://schemas.openxmlformats.org/drawingml/2006/main">
              <a:ext uri="{FF2B5EF4-FFF2-40B4-BE49-F238E27FC236}">
                <a16:creationId xmlns:a16="http://schemas.microsoft.com/office/drawing/2014/main" id="{C8F14596-1144-486C-8667-18C4E5A90862}"/>
              </a:ext>
            </a:extLst>
          </p:cNvPr>
          <p:cNvSpPr>
            <a:spLocks xmlns:a="http://schemas.openxmlformats.org/drawingml/2006/main" noGrp="1"/>
          </p:cNvSpPr>
          <p:nvPr/>
        </p:nvSpPr>
        <p:spPr>
          <a:xfrm xmlns:a="http://schemas.openxmlformats.org/drawingml/2006/main">
            <a:off x="6438900" y="251460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35" name="">
            <a:extLst xmlns:a="http://schemas.openxmlformats.org/drawingml/2006/main">
              <a:ext uri="{FF2B5EF4-FFF2-40B4-BE49-F238E27FC236}">
                <a16:creationId xmlns:a16="http://schemas.microsoft.com/office/drawing/2014/main" id="{7E4625F7-1A7B-4E9B-9A33-4E981D5B7160}"/>
              </a:ext>
            </a:extLst>
          </p:cNvPr>
          <p:cNvSpPr>
            <a:spLocks xmlns:a="http://schemas.openxmlformats.org/drawingml/2006/main" noGrp="1"/>
          </p:cNvSpPr>
          <p:nvPr/>
        </p:nvSpPr>
        <p:spPr>
          <a:xfrm xmlns:a="http://schemas.openxmlformats.org/drawingml/2006/main">
            <a:off x="6534150" y="257175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calls</a:t>
            </a:r>
          </a:p>
        </p:txBody>
      </p:sp>
      <p:sp>
        <p:nvSpPr>
          <p:cNvPr id="36" name="">
            <a:extLst xmlns:a="http://schemas.openxmlformats.org/drawingml/2006/main">
              <a:ext uri="{FF2B5EF4-FFF2-40B4-BE49-F238E27FC236}">
                <a16:creationId xmlns:a16="http://schemas.microsoft.com/office/drawing/2014/main" id="{0E98FAEF-4CB4-4467-8B74-E0E3F28A2A46}"/>
              </a:ext>
            </a:extLst>
          </p:cNvPr>
          <p:cNvSpPr>
            <a:spLocks xmlns:a="http://schemas.openxmlformats.org/drawingml/2006/main" noGrp="1"/>
          </p:cNvSpPr>
          <p:nvPr/>
        </p:nvSpPr>
        <p:spPr>
          <a:xfrm xmlns:a="http://schemas.openxmlformats.org/drawingml/2006/main">
            <a:off x="6438900" y="291465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37" name="">
            <a:extLst xmlns:a="http://schemas.openxmlformats.org/drawingml/2006/main">
              <a:ext uri="{FF2B5EF4-FFF2-40B4-BE49-F238E27FC236}">
                <a16:creationId xmlns:a16="http://schemas.microsoft.com/office/drawing/2014/main" id="{66A9ED45-9975-4DB7-A6EF-C4FD64FFA097}"/>
              </a:ext>
            </a:extLst>
          </p:cNvPr>
          <p:cNvSpPr>
            <a:spLocks xmlns:a="http://schemas.openxmlformats.org/drawingml/2006/main" noGrp="1"/>
          </p:cNvSpPr>
          <p:nvPr/>
        </p:nvSpPr>
        <p:spPr>
          <a:xfrm xmlns:a="http://schemas.openxmlformats.org/drawingml/2006/main">
            <a:off x="6534150" y="297180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SMS</a:t>
            </a:r>
          </a:p>
        </p:txBody>
      </p:sp>
      <p:sp>
        <p:nvSpPr>
          <p:cNvPr id="38" name="">
            <a:extLst xmlns:a="http://schemas.openxmlformats.org/drawingml/2006/main">
              <a:ext uri="{FF2B5EF4-FFF2-40B4-BE49-F238E27FC236}">
                <a16:creationId xmlns:a16="http://schemas.microsoft.com/office/drawing/2014/main" id="{A5FBCD15-B69A-4AFB-AD9E-4F914F2C2D8B}"/>
              </a:ext>
            </a:extLst>
          </p:cNvPr>
          <p:cNvSpPr>
            <a:spLocks xmlns:a="http://schemas.openxmlformats.org/drawingml/2006/main" noGrp="1"/>
          </p:cNvSpPr>
          <p:nvPr/>
        </p:nvSpPr>
        <p:spPr>
          <a:xfrm xmlns:a="http://schemas.openxmlformats.org/drawingml/2006/main">
            <a:off x="6438900" y="331470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39" name="">
            <a:extLst xmlns:a="http://schemas.openxmlformats.org/drawingml/2006/main">
              <a:ext uri="{FF2B5EF4-FFF2-40B4-BE49-F238E27FC236}">
                <a16:creationId xmlns:a16="http://schemas.microsoft.com/office/drawing/2014/main" id="{D202B541-3618-48DE-965E-7188385951A4}"/>
              </a:ext>
            </a:extLst>
          </p:cNvPr>
          <p:cNvSpPr>
            <a:spLocks xmlns:a="http://schemas.openxmlformats.org/drawingml/2006/main" noGrp="1"/>
          </p:cNvSpPr>
          <p:nvPr/>
        </p:nvSpPr>
        <p:spPr>
          <a:xfrm xmlns:a="http://schemas.openxmlformats.org/drawingml/2006/main">
            <a:off x="6534150" y="337185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notes</a:t>
            </a:r>
          </a:p>
        </p:txBody>
      </p:sp>
      <p:sp>
        <p:nvSpPr>
          <p:cNvPr id="40" name="">
            <a:extLst xmlns:a="http://schemas.openxmlformats.org/drawingml/2006/main">
              <a:ext uri="{FF2B5EF4-FFF2-40B4-BE49-F238E27FC236}">
                <a16:creationId xmlns:a16="http://schemas.microsoft.com/office/drawing/2014/main" id="{8DED7D9F-9295-4C85-AF04-163CC90615A8}"/>
              </a:ext>
            </a:extLst>
          </p:cNvPr>
          <p:cNvSpPr>
            <a:spLocks xmlns:a="http://schemas.openxmlformats.org/drawingml/2006/main" noGrp="1"/>
          </p:cNvSpPr>
          <p:nvPr/>
        </p:nvSpPr>
        <p:spPr>
          <a:xfrm xmlns:a="http://schemas.openxmlformats.org/drawingml/2006/main">
            <a:off x="6438900" y="3714750"/>
            <a:ext cx="2171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41" name="">
            <a:extLst xmlns:a="http://schemas.openxmlformats.org/drawingml/2006/main">
              <a:ext uri="{FF2B5EF4-FFF2-40B4-BE49-F238E27FC236}">
                <a16:creationId xmlns:a16="http://schemas.microsoft.com/office/drawing/2014/main" id="{C36028F3-59CC-4098-8282-48D22DC3D2AB}"/>
              </a:ext>
            </a:extLst>
          </p:cNvPr>
          <p:cNvSpPr>
            <a:spLocks xmlns:a="http://schemas.openxmlformats.org/drawingml/2006/main" noGrp="1"/>
          </p:cNvSpPr>
          <p:nvPr/>
        </p:nvSpPr>
        <p:spPr>
          <a:xfrm xmlns:a="http://schemas.openxmlformats.org/drawingml/2006/main">
            <a:off x="6534150" y="3771900"/>
            <a:ext cx="1981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documents</a:t>
            </a:r>
          </a:p>
        </p:txBody>
      </p:sp>
      <p:sp>
        <p:nvSpPr>
          <p:cNvPr id="42" name="">
            <a:extLst xmlns:a="http://schemas.openxmlformats.org/drawingml/2006/main">
              <a:ext uri="{FF2B5EF4-FFF2-40B4-BE49-F238E27FC236}">
                <a16:creationId xmlns:a16="http://schemas.microsoft.com/office/drawing/2014/main" id="{DACD60F6-E2FD-4043-8B63-AE973E6C1271}"/>
              </a:ext>
            </a:extLst>
          </p:cNvPr>
          <p:cNvSpPr>
            <a:spLocks xmlns:a="http://schemas.openxmlformats.org/drawingml/2006/main" noGrp="1"/>
          </p:cNvSpPr>
          <p:nvPr/>
        </p:nvSpPr>
        <p:spPr>
          <a:xfrm xmlns:a="http://schemas.openxmlformats.org/drawingml/2006/main">
            <a:off x="9096375" y="1619250"/>
            <a:ext cx="2095500" cy="3238500"/>
          </a:xfrm>
          <a:prstGeom xmlns:a="http://schemas.openxmlformats.org/drawingml/2006/main" prst="rect">
            <a:avLst/>
          </a:prstGeom>
          <a:solidFill xmlns:a="http://schemas.openxmlformats.org/drawingml/2006/main">
            <a:srgbClr val="E6EBD2"/>
          </a:solidFill>
          <a:ln xmlns:a="http://schemas.openxmlformats.org/drawingml/2006/main" w="9525">
            <a:solidFill>
              <a:srgbClr val="D9D4C7"/>
            </a:solidFill>
            <a:prstDash val="solid"/>
          </a:ln>
        </p:spPr>
      </p:sp>
      <p:sp>
        <p:nvSpPr>
          <p:cNvPr id="43" name="">
            <a:extLst xmlns:a="http://schemas.openxmlformats.org/drawingml/2006/main">
              <a:ext uri="{FF2B5EF4-FFF2-40B4-BE49-F238E27FC236}">
                <a16:creationId xmlns:a16="http://schemas.microsoft.com/office/drawing/2014/main" id="{CF8C7B58-E954-4511-93E8-5A415A21B70B}"/>
              </a:ext>
            </a:extLst>
          </p:cNvPr>
          <p:cNvSpPr>
            <a:spLocks xmlns:a="http://schemas.openxmlformats.org/drawingml/2006/main" noGrp="1"/>
          </p:cNvSpPr>
          <p:nvPr/>
        </p:nvSpPr>
        <p:spPr>
          <a:xfrm xmlns:a="http://schemas.openxmlformats.org/drawingml/2006/main">
            <a:off x="9248775" y="1752600"/>
            <a:ext cx="1790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556B2F"/>
                </a:solidFill>
                <a:latin typeface="Aptos"/>
                <a:ea typeface="Aptos"/>
                <a:cs typeface="Aptos"/>
              </a:defRPr>
            </a:pPr>
            <a:r>
              <a:rPr sz="1275" b="1">
                <a:solidFill>
                  <a:srgbClr val="556B2F"/>
                </a:solidFill>
                <a:latin typeface="Aptos"/>
                <a:ea typeface="Aptos"/>
                <a:cs typeface="Aptos"/>
              </a:rPr>
              <a:t>Controls</a:t>
            </a:r>
          </a:p>
        </p:txBody>
      </p:sp>
      <p:sp>
        <p:nvSpPr>
          <p:cNvPr id="44" name="">
            <a:extLst xmlns:a="http://schemas.openxmlformats.org/drawingml/2006/main">
              <a:ext uri="{FF2B5EF4-FFF2-40B4-BE49-F238E27FC236}">
                <a16:creationId xmlns:a16="http://schemas.microsoft.com/office/drawing/2014/main" id="{F6BCA0DA-03A4-4E81-A2AA-8A8811A61B54}"/>
              </a:ext>
            </a:extLst>
          </p:cNvPr>
          <p:cNvSpPr>
            <a:spLocks xmlns:a="http://schemas.openxmlformats.org/drawingml/2006/main" noGrp="1"/>
          </p:cNvSpPr>
          <p:nvPr/>
        </p:nvSpPr>
        <p:spPr>
          <a:xfrm xmlns:a="http://schemas.openxmlformats.org/drawingml/2006/main">
            <a:off x="9248775" y="2114550"/>
            <a:ext cx="1790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45" name="">
            <a:extLst xmlns:a="http://schemas.openxmlformats.org/drawingml/2006/main">
              <a:ext uri="{FF2B5EF4-FFF2-40B4-BE49-F238E27FC236}">
                <a16:creationId xmlns:a16="http://schemas.microsoft.com/office/drawing/2014/main" id="{DD127BDB-8849-4804-8236-FA0B4DC9930C}"/>
              </a:ext>
            </a:extLst>
          </p:cNvPr>
          <p:cNvSpPr>
            <a:spLocks xmlns:a="http://schemas.openxmlformats.org/drawingml/2006/main" noGrp="1"/>
          </p:cNvSpPr>
          <p:nvPr/>
        </p:nvSpPr>
        <p:spPr>
          <a:xfrm xmlns:a="http://schemas.openxmlformats.org/drawingml/2006/main">
            <a:off x="9344025" y="2171700"/>
            <a:ext cx="1600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RLS</a:t>
            </a:r>
          </a:p>
        </p:txBody>
      </p:sp>
      <p:sp>
        <p:nvSpPr>
          <p:cNvPr id="46" name="">
            <a:extLst xmlns:a="http://schemas.openxmlformats.org/drawingml/2006/main">
              <a:ext uri="{FF2B5EF4-FFF2-40B4-BE49-F238E27FC236}">
                <a16:creationId xmlns:a16="http://schemas.microsoft.com/office/drawing/2014/main" id="{96C228FB-56C9-45F1-9D63-16934E6D94C9}"/>
              </a:ext>
            </a:extLst>
          </p:cNvPr>
          <p:cNvSpPr>
            <a:spLocks xmlns:a="http://schemas.openxmlformats.org/drawingml/2006/main" noGrp="1"/>
          </p:cNvSpPr>
          <p:nvPr/>
        </p:nvSpPr>
        <p:spPr>
          <a:xfrm xmlns:a="http://schemas.openxmlformats.org/drawingml/2006/main">
            <a:off x="9248775" y="2514600"/>
            <a:ext cx="1790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47" name="">
            <a:extLst xmlns:a="http://schemas.openxmlformats.org/drawingml/2006/main">
              <a:ext uri="{FF2B5EF4-FFF2-40B4-BE49-F238E27FC236}">
                <a16:creationId xmlns:a16="http://schemas.microsoft.com/office/drawing/2014/main" id="{64CFD43C-C57C-4DA1-A9A7-6AF4608EC747}"/>
              </a:ext>
            </a:extLst>
          </p:cNvPr>
          <p:cNvSpPr>
            <a:spLocks xmlns:a="http://schemas.openxmlformats.org/drawingml/2006/main" noGrp="1"/>
          </p:cNvSpPr>
          <p:nvPr/>
        </p:nvSpPr>
        <p:spPr>
          <a:xfrm xmlns:a="http://schemas.openxmlformats.org/drawingml/2006/main">
            <a:off x="9344025" y="2571750"/>
            <a:ext cx="1600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ownership</a:t>
            </a:r>
          </a:p>
        </p:txBody>
      </p:sp>
      <p:sp>
        <p:nvSpPr>
          <p:cNvPr id="48" name="">
            <a:extLst xmlns:a="http://schemas.openxmlformats.org/drawingml/2006/main">
              <a:ext uri="{FF2B5EF4-FFF2-40B4-BE49-F238E27FC236}">
                <a16:creationId xmlns:a16="http://schemas.microsoft.com/office/drawing/2014/main" id="{DD1B1E48-E4AB-444C-9AD0-9C08F1D458D7}"/>
              </a:ext>
            </a:extLst>
          </p:cNvPr>
          <p:cNvSpPr>
            <a:spLocks xmlns:a="http://schemas.openxmlformats.org/drawingml/2006/main" noGrp="1"/>
          </p:cNvSpPr>
          <p:nvPr/>
        </p:nvSpPr>
        <p:spPr>
          <a:xfrm xmlns:a="http://schemas.openxmlformats.org/drawingml/2006/main">
            <a:off x="9248775" y="2914650"/>
            <a:ext cx="1790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49" name="">
            <a:extLst xmlns:a="http://schemas.openxmlformats.org/drawingml/2006/main">
              <a:ext uri="{FF2B5EF4-FFF2-40B4-BE49-F238E27FC236}">
                <a16:creationId xmlns:a16="http://schemas.microsoft.com/office/drawing/2014/main" id="{D8346F6F-7286-4EA1-85BD-793835919363}"/>
              </a:ext>
            </a:extLst>
          </p:cNvPr>
          <p:cNvSpPr>
            <a:spLocks xmlns:a="http://schemas.openxmlformats.org/drawingml/2006/main" noGrp="1"/>
          </p:cNvSpPr>
          <p:nvPr/>
        </p:nvSpPr>
        <p:spPr>
          <a:xfrm xmlns:a="http://schemas.openxmlformats.org/drawingml/2006/main">
            <a:off x="9344025" y="2971800"/>
            <a:ext cx="1600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sync logs</a:t>
            </a:r>
          </a:p>
        </p:txBody>
      </p:sp>
      <p:sp>
        <p:nvSpPr>
          <p:cNvPr id="50" name="">
            <a:extLst xmlns:a="http://schemas.openxmlformats.org/drawingml/2006/main">
              <a:ext uri="{FF2B5EF4-FFF2-40B4-BE49-F238E27FC236}">
                <a16:creationId xmlns:a16="http://schemas.microsoft.com/office/drawing/2014/main" id="{7D9E98CF-793C-4726-871A-DB7665195505}"/>
              </a:ext>
            </a:extLst>
          </p:cNvPr>
          <p:cNvSpPr>
            <a:spLocks xmlns:a="http://schemas.openxmlformats.org/drawingml/2006/main" noGrp="1"/>
          </p:cNvSpPr>
          <p:nvPr/>
        </p:nvSpPr>
        <p:spPr>
          <a:xfrm xmlns:a="http://schemas.openxmlformats.org/drawingml/2006/main">
            <a:off x="9248775" y="3314700"/>
            <a:ext cx="1790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51" name="">
            <a:extLst xmlns:a="http://schemas.openxmlformats.org/drawingml/2006/main">
              <a:ext uri="{FF2B5EF4-FFF2-40B4-BE49-F238E27FC236}">
                <a16:creationId xmlns:a16="http://schemas.microsoft.com/office/drawing/2014/main" id="{FD57563B-1E9E-400F-AE81-6CBCFD49FF83}"/>
              </a:ext>
            </a:extLst>
          </p:cNvPr>
          <p:cNvSpPr>
            <a:spLocks xmlns:a="http://schemas.openxmlformats.org/drawingml/2006/main" noGrp="1"/>
          </p:cNvSpPr>
          <p:nvPr/>
        </p:nvSpPr>
        <p:spPr>
          <a:xfrm xmlns:a="http://schemas.openxmlformats.org/drawingml/2006/main">
            <a:off x="9344025" y="3371850"/>
            <a:ext cx="1600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job locks</a:t>
            </a:r>
          </a:p>
        </p:txBody>
      </p:sp>
      <p:sp>
        <p:nvSpPr>
          <p:cNvPr id="52" name="">
            <a:extLst xmlns:a="http://schemas.openxmlformats.org/drawingml/2006/main">
              <a:ext uri="{FF2B5EF4-FFF2-40B4-BE49-F238E27FC236}">
                <a16:creationId xmlns:a16="http://schemas.microsoft.com/office/drawing/2014/main" id="{85964BE2-11B4-497C-96E3-6E7A870B00D6}"/>
              </a:ext>
            </a:extLst>
          </p:cNvPr>
          <p:cNvSpPr>
            <a:spLocks xmlns:a="http://schemas.openxmlformats.org/drawingml/2006/main" noGrp="1"/>
          </p:cNvSpPr>
          <p:nvPr/>
        </p:nvSpPr>
        <p:spPr>
          <a:xfrm xmlns:a="http://schemas.openxmlformats.org/drawingml/2006/main">
            <a:off x="9248775" y="3714750"/>
            <a:ext cx="17907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E6E0D4"/>
            </a:solidFill>
            <a:prstDash val="solid"/>
          </a:ln>
        </p:spPr>
      </p:sp>
      <p:sp>
        <p:nvSpPr>
          <p:cNvPr id="53" name="">
            <a:extLst xmlns:a="http://schemas.openxmlformats.org/drawingml/2006/main">
              <a:ext uri="{FF2B5EF4-FFF2-40B4-BE49-F238E27FC236}">
                <a16:creationId xmlns:a16="http://schemas.microsoft.com/office/drawing/2014/main" id="{D200F0AA-B5B7-47AE-A02E-19388BD68138}"/>
              </a:ext>
            </a:extLst>
          </p:cNvPr>
          <p:cNvSpPr>
            <a:spLocks xmlns:a="http://schemas.openxmlformats.org/drawingml/2006/main" noGrp="1"/>
          </p:cNvSpPr>
          <p:nvPr/>
        </p:nvSpPr>
        <p:spPr>
          <a:xfrm xmlns:a="http://schemas.openxmlformats.org/drawingml/2006/main">
            <a:off x="9344025" y="3771900"/>
            <a:ext cx="1600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2A"/>
                </a:solidFill>
                <a:latin typeface="Aptos"/>
                <a:ea typeface="Aptos"/>
                <a:cs typeface="Aptos"/>
              </a:defRPr>
            </a:pPr>
            <a:r>
              <a:rPr sz="975" b="0">
                <a:solidFill>
                  <a:srgbClr val="17202A"/>
                </a:solidFill>
                <a:latin typeface="Aptos"/>
                <a:ea typeface="Aptos"/>
                <a:cs typeface="Aptos"/>
              </a:rPr>
              <a:t>search index</a:t>
            </a:r>
          </a:p>
        </p:txBody>
      </p:sp>
      <p:sp>
        <p:nvSpPr>
          <p:cNvPr id="54" name="">
            <a:extLst xmlns:a="http://schemas.openxmlformats.org/drawingml/2006/main">
              <a:ext uri="{FF2B5EF4-FFF2-40B4-BE49-F238E27FC236}">
                <a16:creationId xmlns:a16="http://schemas.microsoft.com/office/drawing/2014/main" id="{97F2C387-C15E-4AF8-BC0D-C482D87581EC}"/>
              </a:ext>
            </a:extLst>
          </p:cNvPr>
          <p:cNvSpPr>
            <a:spLocks xmlns:a="http://schemas.openxmlformats.org/drawingml/2006/main" noGrp="1"/>
          </p:cNvSpPr>
          <p:nvPr/>
        </p:nvSpPr>
        <p:spPr>
          <a:xfrm xmlns:a="http://schemas.openxmlformats.org/drawingml/2006/main">
            <a:off x="762000" y="5191125"/>
            <a:ext cx="10096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7202A"/>
                </a:solidFill>
                <a:latin typeface="Aptos"/>
                <a:ea typeface="Aptos"/>
                <a:cs typeface="Aptos"/>
              </a:defRPr>
            </a:pPr>
            <a:r>
              <a:rPr sz="1575" b="1">
                <a:solidFill>
                  <a:srgbClr val="17202A"/>
                </a:solidFill>
                <a:latin typeface="Aptos"/>
                <a:ea typeface="Aptos"/>
                <a:cs typeface="Aptos"/>
              </a:rPr>
              <a:t>Intern assignment: draw how a lead can become a deal, then show what tables and external systems get touched.</a:t>
            </a:r>
          </a:p>
        </p:txBody>
      </p:sp>
      <p:sp>
        <p:nvSpPr>
          <p:cNvPr id="55" name="">
            <a:extLst xmlns:a="http://schemas.openxmlformats.org/drawingml/2006/main">
              <a:ext uri="{FF2B5EF4-FFF2-40B4-BE49-F238E27FC236}">
                <a16:creationId xmlns:a16="http://schemas.microsoft.com/office/drawing/2014/main" id="{0A5A44A4-EAF5-445D-B71B-B99ED3241DBC}"/>
              </a:ext>
            </a:extLst>
          </p:cNvPr>
          <p:cNvSpPr>
            <a:spLocks xmlns:a="http://schemas.openxmlformats.org/drawingml/2006/main" noGrp="1"/>
          </p:cNvSpPr>
          <p:nvPr/>
        </p:nvSpPr>
        <p:spPr>
          <a:xfrm xmlns:a="http://schemas.openxmlformats.org/drawingml/2006/main">
            <a:off x="647700" y="6362700"/>
            <a:ext cx="10363200" cy="9525"/>
          </a:xfrm>
          <a:prstGeom xmlns:a="http://schemas.openxmlformats.org/drawingml/2006/main" prst="rect">
            <a:avLst/>
          </a:prstGeom>
          <a:solidFill xmlns:a="http://schemas.openxmlformats.org/drawingml/2006/main">
            <a:srgbClr val="D9D4C7"/>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9C575F61-72B0-4262-BA7A-A0648611C0C8}"/>
              </a:ext>
            </a:extLst>
          </p:cNvPr>
          <p:cNvSpPr>
            <a:spLocks xmlns:a="http://schemas.openxmlformats.org/drawingml/2006/main" noGrp="1"/>
          </p:cNvSpPr>
          <p:nvPr/>
        </p:nvSpPr>
        <p:spPr>
          <a:xfrm xmlns:a="http://schemas.openxmlformats.org/drawingml/2006/main">
            <a:off x="647700" y="64579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673"/>
                </a:solidFill>
                <a:latin typeface="Aptos"/>
                <a:ea typeface="Aptos"/>
                <a:cs typeface="Aptos"/>
              </a:defRPr>
            </a:pPr>
            <a:r>
              <a:rPr sz="975" b="0">
                <a:solidFill>
                  <a:srgbClr val="5B6673"/>
                </a:solidFill>
                <a:latin typeface="Aptos"/>
                <a:ea typeface="Aptos"/>
                <a:cs typeface="Aptos"/>
              </a:rPr>
              <a:t>PearlPortal intern onboarding</a:t>
            </a:r>
          </a:p>
        </p:txBody>
      </p:sp>
      <p:sp>
        <p:nvSpPr>
          <p:cNvPr id="57" name="">
            <a:extLst xmlns:a="http://schemas.openxmlformats.org/drawingml/2006/main">
              <a:ext uri="{FF2B5EF4-FFF2-40B4-BE49-F238E27FC236}">
                <a16:creationId xmlns:a16="http://schemas.microsoft.com/office/drawing/2014/main" id="{39CFA44A-C53F-4324-B6AC-47553A28A089}"/>
              </a:ext>
            </a:extLst>
          </p:cNvPr>
          <p:cNvSpPr>
            <a:spLocks xmlns:a="http://schemas.openxmlformats.org/drawingml/2006/main" noGrp="1"/>
          </p:cNvSpPr>
          <p:nvPr/>
        </p:nvSpPr>
        <p:spPr>
          <a:xfrm xmlns:a="http://schemas.openxmlformats.org/drawingml/2006/main">
            <a:off x="10382250" y="64579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673"/>
                </a:solidFill>
                <a:latin typeface="Aptos"/>
                <a:ea typeface="Aptos"/>
                <a:cs typeface="Aptos"/>
              </a:defRPr>
            </a:pPr>
            <a:r>
              <a:rPr sz="975" b="0">
                <a:solidFill>
                  <a:srgbClr val="5B6673"/>
                </a:solidFill>
                <a:latin typeface="Aptos"/>
                <a:ea typeface="Aptos"/>
                <a:cs typeface="Aptos"/>
              </a:rPr>
              <a:t>07</a:t>
            </a:r>
          </a:p>
        </p:txBody>
      </p:sp>
    </p:spTree>
    <p:extLst>
      <p:ext uri="{BB962C8B-B14F-4D97-AF65-F5344CB8AC3E}">
        <p14:creationId xmlns:p14="http://schemas.microsoft.com/office/powerpoint/2010/main" val="9453395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8F13A6-D0B5-4B50-9CC6-0E46EE3B141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6E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F54B698-8CCA-463F-AF84-8AE00A89EEE5}"/>
              </a:ext>
            </a:extLst>
          </p:cNvPr>
          <p:cNvSpPr>
            <a:spLocks xmlns:a="http://schemas.openxmlformats.org/drawingml/2006/main" noGrp="1"/>
          </p:cNvSpPr>
          <p:nvPr/>
        </p:nvSpPr>
        <p:spPr>
          <a:xfrm xmlns:a="http://schemas.openxmlformats.org/drawingml/2006/main">
            <a:off x="419100" y="381000"/>
            <a:ext cx="47625" cy="876300"/>
          </a:xfrm>
          <a:prstGeom xmlns:a="http://schemas.openxmlformats.org/drawingml/2006/main" prst="rect">
            <a:avLst/>
          </a:prstGeom>
          <a:solidFill xmlns:a="http://schemas.openxmlformats.org/drawingml/2006/main">
            <a:srgbClr val="556B2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CBE40C2-14DA-468B-8D7E-A344E7539968}"/>
              </a:ext>
            </a:extLst>
          </p:cNvPr>
          <p:cNvSpPr>
            <a:spLocks xmlns:a="http://schemas.openxmlformats.org/drawingml/2006/main" noGrp="1"/>
          </p:cNvSpPr>
          <p:nvPr/>
        </p:nvSpPr>
        <p:spPr>
          <a:xfrm xmlns:a="http://schemas.openxmlformats.org/drawingml/2006/main">
            <a:off x="647700" y="400050"/>
            <a:ext cx="704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556B2F"/>
                </a:solidFill>
                <a:latin typeface="Aptos"/>
                <a:ea typeface="Aptos"/>
                <a:cs typeface="Aptos"/>
              </a:defRPr>
            </a:pPr>
            <a:r>
              <a:rPr sz="1200" b="1">
                <a:solidFill>
                  <a:srgbClr val="556B2F"/>
                </a:solidFill>
                <a:latin typeface="Aptos"/>
                <a:ea typeface="Aptos"/>
                <a:cs typeface="Aptos"/>
              </a:rPr>
              <a:t>SYNC LOOPS</a:t>
            </a:r>
          </a:p>
        </p:txBody>
      </p:sp>
      <p:sp>
        <p:nvSpPr>
          <p:cNvPr id="4" name="">
            <a:extLst xmlns:a="http://schemas.openxmlformats.org/drawingml/2006/main">
              <a:ext uri="{FF2B5EF4-FFF2-40B4-BE49-F238E27FC236}">
                <a16:creationId xmlns:a16="http://schemas.microsoft.com/office/drawing/2014/main" id="{2DF9EC6E-7923-47FB-8CAA-D37B553540B6}"/>
              </a:ext>
            </a:extLst>
          </p:cNvPr>
          <p:cNvSpPr>
            <a:spLocks xmlns:a="http://schemas.openxmlformats.org/drawingml/2006/main" noGrp="1"/>
          </p:cNvSpPr>
          <p:nvPr/>
        </p:nvSpPr>
        <p:spPr>
          <a:xfrm xmlns:a="http://schemas.openxmlformats.org/drawingml/2006/main">
            <a:off x="647700" y="666750"/>
            <a:ext cx="7810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17202A"/>
                </a:solidFill>
                <a:latin typeface="Aptos"/>
                <a:ea typeface="Aptos"/>
                <a:cs typeface="Aptos"/>
              </a:defRPr>
            </a:pPr>
            <a:r>
              <a:rPr sz="2850" b="1">
                <a:solidFill>
                  <a:srgbClr val="17202A"/>
                </a:solidFill>
                <a:latin typeface="Aptos"/>
                <a:ea typeface="Aptos"/>
                <a:cs typeface="Aptos"/>
              </a:rPr>
              <a:t>Background jobs make the CRM feel alive</a:t>
            </a:r>
          </a:p>
        </p:txBody>
      </p:sp>
      <p:sp>
        <p:nvSpPr>
          <p:cNvPr id="5" name="">
            <a:extLst xmlns:a="http://schemas.openxmlformats.org/drawingml/2006/main">
              <a:ext uri="{FF2B5EF4-FFF2-40B4-BE49-F238E27FC236}">
                <a16:creationId xmlns:a16="http://schemas.microsoft.com/office/drawing/2014/main" id="{9913F8F3-E2F6-4E23-86B4-8458FADDBA27}"/>
              </a:ext>
            </a:extLst>
          </p:cNvPr>
          <p:cNvSpPr>
            <a:spLocks xmlns:a="http://schemas.openxmlformats.org/drawingml/2006/main" noGrp="1"/>
          </p:cNvSpPr>
          <p:nvPr/>
        </p:nvSpPr>
        <p:spPr>
          <a:xfrm xmlns:a="http://schemas.openxmlformats.org/drawingml/2006/main">
            <a:off x="10001250" y="419100"/>
            <a:ext cx="1657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B6673"/>
                </a:solidFill>
                <a:latin typeface="Aptos"/>
                <a:ea typeface="Aptos"/>
                <a:cs typeface="Aptos"/>
              </a:defRPr>
            </a:pPr>
            <a:r>
              <a:rPr sz="1125" b="0">
                <a:solidFill>
                  <a:srgbClr val="5B6673"/>
                </a:solidFill>
                <a:latin typeface="Aptos"/>
                <a:ea typeface="Aptos"/>
                <a:cs typeface="Aptos"/>
              </a:rPr>
              <a:t>2026-05-04</a:t>
            </a:r>
          </a:p>
        </p:txBody>
      </p:sp>
      <p:sp>
        <p:nvSpPr>
          <p:cNvPr id="6" name="">
            <a:extLst xmlns:a="http://schemas.openxmlformats.org/drawingml/2006/main">
              <a:ext uri="{FF2B5EF4-FFF2-40B4-BE49-F238E27FC236}">
                <a16:creationId xmlns:a16="http://schemas.microsoft.com/office/drawing/2014/main" id="{1D6E1305-AE0D-4FF4-AD77-FDEF63B2B306}"/>
              </a:ext>
            </a:extLst>
          </p:cNvPr>
          <p:cNvSpPr>
            <a:spLocks xmlns:a="http://schemas.openxmlformats.org/drawingml/2006/main" noGrp="1"/>
          </p:cNvSpPr>
          <p:nvPr/>
        </p:nvSpPr>
        <p:spPr>
          <a:xfrm xmlns:a="http://schemas.openxmlformats.org/drawingml/2006/main">
            <a:off x="666750" y="1666875"/>
            <a:ext cx="2333625" cy="1428750"/>
          </a:xfrm>
          <a:prstGeom xmlns:a="http://schemas.openxmlformats.org/drawingml/2006/main" prst="rect">
            <a:avLst/>
          </a:prstGeom>
          <a:solidFill xmlns:a="http://schemas.openxmlformats.org/drawingml/2006/main">
            <a:srgbClr val="D8F3EE"/>
          </a:solidFill>
          <a:ln xmlns:a="http://schemas.openxmlformats.org/drawingml/2006/main" w="9525">
            <a:solidFill>
              <a:srgbClr val="D9D4C7"/>
            </a:solidFill>
            <a:prstDash val="solid"/>
          </a:ln>
        </p:spPr>
      </p:sp>
      <p:sp>
        <p:nvSpPr>
          <p:cNvPr id="7" name="">
            <a:extLst xmlns:a="http://schemas.openxmlformats.org/drawingml/2006/main">
              <a:ext uri="{FF2B5EF4-FFF2-40B4-BE49-F238E27FC236}">
                <a16:creationId xmlns:a16="http://schemas.microsoft.com/office/drawing/2014/main" id="{9BD769B1-4384-48D1-893C-AC99770038A4}"/>
              </a:ext>
            </a:extLst>
          </p:cNvPr>
          <p:cNvSpPr>
            <a:spLocks xmlns:a="http://schemas.openxmlformats.org/drawingml/2006/main" noGrp="1"/>
          </p:cNvSpPr>
          <p:nvPr/>
        </p:nvSpPr>
        <p:spPr>
          <a:xfrm xmlns:a="http://schemas.openxmlformats.org/drawingml/2006/main">
            <a:off x="666750" y="1666875"/>
            <a:ext cx="47625" cy="1428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8" name="">
            <a:extLst xmlns:a="http://schemas.openxmlformats.org/drawingml/2006/main">
              <a:ext uri="{FF2B5EF4-FFF2-40B4-BE49-F238E27FC236}">
                <a16:creationId xmlns:a16="http://schemas.microsoft.com/office/drawing/2014/main" id="{17EBE9B0-7BF4-444D-80C6-06FBD01063D4}"/>
              </a:ext>
            </a:extLst>
          </p:cNvPr>
          <p:cNvSpPr>
            <a:spLocks xmlns:a="http://schemas.openxmlformats.org/drawingml/2006/main" noGrp="1"/>
          </p:cNvSpPr>
          <p:nvPr/>
        </p:nvSpPr>
        <p:spPr>
          <a:xfrm xmlns:a="http://schemas.openxmlformats.org/drawingml/2006/main">
            <a:off x="876300" y="1838325"/>
            <a:ext cx="19145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Salesforce</a:t>
            </a:r>
          </a:p>
        </p:txBody>
      </p:sp>
      <p:sp>
        <p:nvSpPr>
          <p:cNvPr id="9" name="">
            <a:extLst xmlns:a="http://schemas.openxmlformats.org/drawingml/2006/main">
              <a:ext uri="{FF2B5EF4-FFF2-40B4-BE49-F238E27FC236}">
                <a16:creationId xmlns:a16="http://schemas.microsoft.com/office/drawing/2014/main" id="{4C09CFD9-6900-4CD2-9874-67F2DC4094F6}"/>
              </a:ext>
            </a:extLst>
          </p:cNvPr>
          <p:cNvSpPr>
            <a:spLocks xmlns:a="http://schemas.openxmlformats.org/drawingml/2006/main" noGrp="1"/>
          </p:cNvSpPr>
          <p:nvPr/>
        </p:nvSpPr>
        <p:spPr>
          <a:xfrm xmlns:a="http://schemas.openxmlformats.org/drawingml/2006/main">
            <a:off x="876300" y="2200275"/>
            <a:ext cx="1914525"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Pull accounts, leads, opportunities, activities, products, then reconcile ownership and stages.</a:t>
            </a:r>
          </a:p>
        </p:txBody>
      </p:sp>
      <p:sp>
        <p:nvSpPr>
          <p:cNvPr id="10" name="">
            <a:extLst xmlns:a="http://schemas.openxmlformats.org/drawingml/2006/main">
              <a:ext uri="{FF2B5EF4-FFF2-40B4-BE49-F238E27FC236}">
                <a16:creationId xmlns:a16="http://schemas.microsoft.com/office/drawing/2014/main" id="{147C78A3-CA8B-470B-B8D3-776F8179654A}"/>
              </a:ext>
            </a:extLst>
          </p:cNvPr>
          <p:cNvSpPr>
            <a:spLocks xmlns:a="http://schemas.openxmlformats.org/drawingml/2006/main" noGrp="1"/>
          </p:cNvSpPr>
          <p:nvPr/>
        </p:nvSpPr>
        <p:spPr>
          <a:xfrm xmlns:a="http://schemas.openxmlformats.org/drawingml/2006/main">
            <a:off x="3105150" y="226695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5B6673"/>
                </a:solidFill>
                <a:latin typeface="Aptos"/>
                <a:ea typeface="Aptos"/>
                <a:cs typeface="Aptos"/>
              </a:defRPr>
            </a:pPr>
            <a:r>
              <a:rPr sz="1350" b="1">
                <a:solidFill>
                  <a:srgbClr val="5B6673"/>
                </a:solidFill>
                <a:latin typeface="Aptos"/>
                <a:ea typeface="Aptos"/>
                <a:cs typeface="Aptos"/>
              </a:rPr>
              <a:t>&gt;&gt;</a:t>
            </a:r>
          </a:p>
        </p:txBody>
      </p:sp>
      <p:sp>
        <p:nvSpPr>
          <p:cNvPr id="11" name="">
            <a:extLst xmlns:a="http://schemas.openxmlformats.org/drawingml/2006/main">
              <a:ext uri="{FF2B5EF4-FFF2-40B4-BE49-F238E27FC236}">
                <a16:creationId xmlns:a16="http://schemas.microsoft.com/office/drawing/2014/main" id="{DD0AF7DE-406A-4FB2-80E9-FFE1DE8E75C2}"/>
              </a:ext>
            </a:extLst>
          </p:cNvPr>
          <p:cNvSpPr>
            <a:spLocks xmlns:a="http://schemas.openxmlformats.org/drawingml/2006/main" noGrp="1"/>
          </p:cNvSpPr>
          <p:nvPr/>
        </p:nvSpPr>
        <p:spPr>
          <a:xfrm xmlns:a="http://schemas.openxmlformats.org/drawingml/2006/main">
            <a:off x="3619500" y="1666875"/>
            <a:ext cx="2333625" cy="1428750"/>
          </a:xfrm>
          <a:prstGeom xmlns:a="http://schemas.openxmlformats.org/drawingml/2006/main" prst="rect">
            <a:avLst/>
          </a:prstGeom>
          <a:solidFill xmlns:a="http://schemas.openxmlformats.org/drawingml/2006/main">
            <a:srgbClr val="F5DDD5"/>
          </a:solidFill>
          <a:ln xmlns:a="http://schemas.openxmlformats.org/drawingml/2006/main" w="9525">
            <a:solidFill>
              <a:srgbClr val="D9D4C7"/>
            </a:solidFill>
            <a:prstDash val="solid"/>
          </a:ln>
        </p:spPr>
      </p:sp>
      <p:sp>
        <p:nvSpPr>
          <p:cNvPr id="12" name="">
            <a:extLst xmlns:a="http://schemas.openxmlformats.org/drawingml/2006/main">
              <a:ext uri="{FF2B5EF4-FFF2-40B4-BE49-F238E27FC236}">
                <a16:creationId xmlns:a16="http://schemas.microsoft.com/office/drawing/2014/main" id="{DCB90399-B2FD-4E4B-A60D-F94EC1725EB0}"/>
              </a:ext>
            </a:extLst>
          </p:cNvPr>
          <p:cNvSpPr>
            <a:spLocks xmlns:a="http://schemas.openxmlformats.org/drawingml/2006/main" noGrp="1"/>
          </p:cNvSpPr>
          <p:nvPr/>
        </p:nvSpPr>
        <p:spPr>
          <a:xfrm xmlns:a="http://schemas.openxmlformats.org/drawingml/2006/main">
            <a:off x="3619500" y="1666875"/>
            <a:ext cx="47625" cy="1428750"/>
          </a:xfrm>
          <a:prstGeom xmlns:a="http://schemas.openxmlformats.org/drawingml/2006/main" prst="rect">
            <a:avLst/>
          </a:prstGeom>
          <a:solidFill xmlns:a="http://schemas.openxmlformats.org/drawingml/2006/main">
            <a:srgbClr val="C4553F"/>
          </a:solidFill>
          <a:ln xmlns:a="http://schemas.openxmlformats.org/drawingml/2006/main" w="9525">
            <a:solidFill>
              <a:srgbClr val="C4553F"/>
            </a:solidFill>
            <a:prstDash val="solid"/>
          </a:ln>
        </p:spPr>
      </p:sp>
      <p:sp>
        <p:nvSpPr>
          <p:cNvPr id="13" name="">
            <a:extLst xmlns:a="http://schemas.openxmlformats.org/drawingml/2006/main">
              <a:ext uri="{FF2B5EF4-FFF2-40B4-BE49-F238E27FC236}">
                <a16:creationId xmlns:a16="http://schemas.microsoft.com/office/drawing/2014/main" id="{D18C3110-EF99-4B7D-9271-8F8D9FC7E7C7}"/>
              </a:ext>
            </a:extLst>
          </p:cNvPr>
          <p:cNvSpPr>
            <a:spLocks xmlns:a="http://schemas.openxmlformats.org/drawingml/2006/main" noGrp="1"/>
          </p:cNvSpPr>
          <p:nvPr/>
        </p:nvSpPr>
        <p:spPr>
          <a:xfrm xmlns:a="http://schemas.openxmlformats.org/drawingml/2006/main">
            <a:off x="3829050" y="1838325"/>
            <a:ext cx="19145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Scheduler</a:t>
            </a:r>
          </a:p>
        </p:txBody>
      </p:sp>
      <p:sp>
        <p:nvSpPr>
          <p:cNvPr id="14" name="">
            <a:extLst xmlns:a="http://schemas.openxmlformats.org/drawingml/2006/main">
              <a:ext uri="{FF2B5EF4-FFF2-40B4-BE49-F238E27FC236}">
                <a16:creationId xmlns:a16="http://schemas.microsoft.com/office/drawing/2014/main" id="{2A223C1A-3F78-463D-9936-FFB740C16A72}"/>
              </a:ext>
            </a:extLst>
          </p:cNvPr>
          <p:cNvSpPr>
            <a:spLocks xmlns:a="http://schemas.openxmlformats.org/drawingml/2006/main" noGrp="1"/>
          </p:cNvSpPr>
          <p:nvPr/>
        </p:nvSpPr>
        <p:spPr>
          <a:xfrm xmlns:a="http://schemas.openxmlformats.org/drawingml/2006/main">
            <a:off x="3829050" y="2200275"/>
            <a:ext cx="1914525"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Express endpoints run sync-all, call processing, SMS history, Kixie imports, and admin repair jobs.</a:t>
            </a:r>
          </a:p>
        </p:txBody>
      </p:sp>
      <p:sp>
        <p:nvSpPr>
          <p:cNvPr id="15" name="">
            <a:extLst xmlns:a="http://schemas.openxmlformats.org/drawingml/2006/main">
              <a:ext uri="{FF2B5EF4-FFF2-40B4-BE49-F238E27FC236}">
                <a16:creationId xmlns:a16="http://schemas.microsoft.com/office/drawing/2014/main" id="{23FB2CF2-C86F-4539-9D07-E4D8FE66535C}"/>
              </a:ext>
            </a:extLst>
          </p:cNvPr>
          <p:cNvSpPr>
            <a:spLocks xmlns:a="http://schemas.openxmlformats.org/drawingml/2006/main" noGrp="1"/>
          </p:cNvSpPr>
          <p:nvPr/>
        </p:nvSpPr>
        <p:spPr>
          <a:xfrm xmlns:a="http://schemas.openxmlformats.org/drawingml/2006/main">
            <a:off x="6057900" y="226695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5B6673"/>
                </a:solidFill>
                <a:latin typeface="Aptos"/>
                <a:ea typeface="Aptos"/>
                <a:cs typeface="Aptos"/>
              </a:defRPr>
            </a:pPr>
            <a:r>
              <a:rPr sz="1350" b="1">
                <a:solidFill>
                  <a:srgbClr val="5B6673"/>
                </a:solidFill>
                <a:latin typeface="Aptos"/>
                <a:ea typeface="Aptos"/>
                <a:cs typeface="Aptos"/>
              </a:rPr>
              <a:t>&gt;&gt;</a:t>
            </a:r>
          </a:p>
        </p:txBody>
      </p:sp>
      <p:sp>
        <p:nvSpPr>
          <p:cNvPr id="16" name="">
            <a:extLst xmlns:a="http://schemas.openxmlformats.org/drawingml/2006/main">
              <a:ext uri="{FF2B5EF4-FFF2-40B4-BE49-F238E27FC236}">
                <a16:creationId xmlns:a16="http://schemas.microsoft.com/office/drawing/2014/main" id="{76452E52-3FBC-47FD-8369-B83EC360B412}"/>
              </a:ext>
            </a:extLst>
          </p:cNvPr>
          <p:cNvSpPr>
            <a:spLocks xmlns:a="http://schemas.openxmlformats.org/drawingml/2006/main" noGrp="1"/>
          </p:cNvSpPr>
          <p:nvPr/>
        </p:nvSpPr>
        <p:spPr>
          <a:xfrm xmlns:a="http://schemas.openxmlformats.org/drawingml/2006/main">
            <a:off x="6572250" y="1666875"/>
            <a:ext cx="2333625" cy="1428750"/>
          </a:xfrm>
          <a:prstGeom xmlns:a="http://schemas.openxmlformats.org/drawingml/2006/main" prst="rect">
            <a:avLst/>
          </a:prstGeom>
          <a:solidFill xmlns:a="http://schemas.openxmlformats.org/drawingml/2006/main">
            <a:srgbClr val="E6EBD2"/>
          </a:solidFill>
          <a:ln xmlns:a="http://schemas.openxmlformats.org/drawingml/2006/main" w="9525">
            <a:solidFill>
              <a:srgbClr val="D9D4C7"/>
            </a:solidFill>
            <a:prstDash val="solid"/>
          </a:ln>
        </p:spPr>
      </p:sp>
      <p:sp>
        <p:nvSpPr>
          <p:cNvPr id="17" name="">
            <a:extLst xmlns:a="http://schemas.openxmlformats.org/drawingml/2006/main">
              <a:ext uri="{FF2B5EF4-FFF2-40B4-BE49-F238E27FC236}">
                <a16:creationId xmlns:a16="http://schemas.microsoft.com/office/drawing/2014/main" id="{8411113E-EC4F-4818-9EF7-7AD4DA8F120B}"/>
              </a:ext>
            </a:extLst>
          </p:cNvPr>
          <p:cNvSpPr>
            <a:spLocks xmlns:a="http://schemas.openxmlformats.org/drawingml/2006/main" noGrp="1"/>
          </p:cNvSpPr>
          <p:nvPr/>
        </p:nvSpPr>
        <p:spPr>
          <a:xfrm xmlns:a="http://schemas.openxmlformats.org/drawingml/2006/main">
            <a:off x="6572250" y="1666875"/>
            <a:ext cx="47625" cy="1428750"/>
          </a:xfrm>
          <a:prstGeom xmlns:a="http://schemas.openxmlformats.org/drawingml/2006/main" prst="rect">
            <a:avLst/>
          </a:prstGeom>
          <a:solidFill xmlns:a="http://schemas.openxmlformats.org/drawingml/2006/main">
            <a:srgbClr val="556B2F"/>
          </a:solidFill>
          <a:ln xmlns:a="http://schemas.openxmlformats.org/drawingml/2006/main" w="9525">
            <a:solidFill>
              <a:srgbClr val="556B2F"/>
            </a:solidFill>
            <a:prstDash val="solid"/>
          </a:ln>
        </p:spPr>
      </p:sp>
      <p:sp>
        <p:nvSpPr>
          <p:cNvPr id="18" name="">
            <a:extLst xmlns:a="http://schemas.openxmlformats.org/drawingml/2006/main">
              <a:ext uri="{FF2B5EF4-FFF2-40B4-BE49-F238E27FC236}">
                <a16:creationId xmlns:a16="http://schemas.microsoft.com/office/drawing/2014/main" id="{2A7F030F-8F1C-4206-99AE-137C9EE94123}"/>
              </a:ext>
            </a:extLst>
          </p:cNvPr>
          <p:cNvSpPr>
            <a:spLocks xmlns:a="http://schemas.openxmlformats.org/drawingml/2006/main" noGrp="1"/>
          </p:cNvSpPr>
          <p:nvPr/>
        </p:nvSpPr>
        <p:spPr>
          <a:xfrm xmlns:a="http://schemas.openxmlformats.org/drawingml/2006/main">
            <a:off x="6781800" y="1838325"/>
            <a:ext cx="19145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Supabase</a:t>
            </a:r>
          </a:p>
        </p:txBody>
      </p:sp>
      <p:sp>
        <p:nvSpPr>
          <p:cNvPr id="19" name="">
            <a:extLst xmlns:a="http://schemas.openxmlformats.org/drawingml/2006/main">
              <a:ext uri="{FF2B5EF4-FFF2-40B4-BE49-F238E27FC236}">
                <a16:creationId xmlns:a16="http://schemas.microsoft.com/office/drawing/2014/main" id="{3A40C42D-B47F-411D-88A9-0FB38BEF10EA}"/>
              </a:ext>
            </a:extLst>
          </p:cNvPr>
          <p:cNvSpPr>
            <a:spLocks xmlns:a="http://schemas.openxmlformats.org/drawingml/2006/main" noGrp="1"/>
          </p:cNvSpPr>
          <p:nvPr/>
        </p:nvSpPr>
        <p:spPr>
          <a:xfrm xmlns:a="http://schemas.openxmlformats.org/drawingml/2006/main">
            <a:off x="6781800" y="2200275"/>
            <a:ext cx="1914525"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Stores normalized CRM records, locks, logs, search indexes, files, and realtime broadcasts.</a:t>
            </a:r>
          </a:p>
        </p:txBody>
      </p:sp>
      <p:sp>
        <p:nvSpPr>
          <p:cNvPr id="20" name="">
            <a:extLst xmlns:a="http://schemas.openxmlformats.org/drawingml/2006/main">
              <a:ext uri="{FF2B5EF4-FFF2-40B4-BE49-F238E27FC236}">
                <a16:creationId xmlns:a16="http://schemas.microsoft.com/office/drawing/2014/main" id="{A249722D-17FA-4887-AFBA-8323FAF95B42}"/>
              </a:ext>
            </a:extLst>
          </p:cNvPr>
          <p:cNvSpPr>
            <a:spLocks xmlns:a="http://schemas.openxmlformats.org/drawingml/2006/main" noGrp="1"/>
          </p:cNvSpPr>
          <p:nvPr/>
        </p:nvSpPr>
        <p:spPr>
          <a:xfrm xmlns:a="http://schemas.openxmlformats.org/drawingml/2006/main">
            <a:off x="9010650" y="2266950"/>
            <a:ext cx="4191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5B6673"/>
                </a:solidFill>
                <a:latin typeface="Aptos"/>
                <a:ea typeface="Aptos"/>
                <a:cs typeface="Aptos"/>
              </a:defRPr>
            </a:pPr>
            <a:r>
              <a:rPr sz="1350" b="1">
                <a:solidFill>
                  <a:srgbClr val="5B6673"/>
                </a:solidFill>
                <a:latin typeface="Aptos"/>
                <a:ea typeface="Aptos"/>
                <a:cs typeface="Aptos"/>
              </a:rPr>
              <a:t>&gt;&gt;</a:t>
            </a:r>
          </a:p>
        </p:txBody>
      </p:sp>
      <p:sp>
        <p:nvSpPr>
          <p:cNvPr id="21" name="">
            <a:extLst xmlns:a="http://schemas.openxmlformats.org/drawingml/2006/main">
              <a:ext uri="{FF2B5EF4-FFF2-40B4-BE49-F238E27FC236}">
                <a16:creationId xmlns:a16="http://schemas.microsoft.com/office/drawing/2014/main" id="{938A5D15-4F7C-4C40-93C5-12AF99B6A458}"/>
              </a:ext>
            </a:extLst>
          </p:cNvPr>
          <p:cNvSpPr>
            <a:spLocks xmlns:a="http://schemas.openxmlformats.org/drawingml/2006/main" noGrp="1"/>
          </p:cNvSpPr>
          <p:nvPr/>
        </p:nvSpPr>
        <p:spPr>
          <a:xfrm xmlns:a="http://schemas.openxmlformats.org/drawingml/2006/main">
            <a:off x="9525000" y="1666875"/>
            <a:ext cx="1809750" cy="1428750"/>
          </a:xfrm>
          <a:prstGeom xmlns:a="http://schemas.openxmlformats.org/drawingml/2006/main" prst="rect">
            <a:avLst/>
          </a:prstGeom>
          <a:solidFill xmlns:a="http://schemas.openxmlformats.org/drawingml/2006/main">
            <a:srgbClr val="E4DFF4"/>
          </a:solidFill>
          <a:ln xmlns:a="http://schemas.openxmlformats.org/drawingml/2006/main" w="9525">
            <a:solidFill>
              <a:srgbClr val="D9D4C7"/>
            </a:solidFill>
            <a:prstDash val="solid"/>
          </a:ln>
        </p:spPr>
      </p:sp>
      <p:sp>
        <p:nvSpPr>
          <p:cNvPr id="22" name="">
            <a:extLst xmlns:a="http://schemas.openxmlformats.org/drawingml/2006/main">
              <a:ext uri="{FF2B5EF4-FFF2-40B4-BE49-F238E27FC236}">
                <a16:creationId xmlns:a16="http://schemas.microsoft.com/office/drawing/2014/main" id="{B6EE4609-52D3-4A1A-8680-F1BA6A98F3A5}"/>
              </a:ext>
            </a:extLst>
          </p:cNvPr>
          <p:cNvSpPr>
            <a:spLocks xmlns:a="http://schemas.openxmlformats.org/drawingml/2006/main" noGrp="1"/>
          </p:cNvSpPr>
          <p:nvPr/>
        </p:nvSpPr>
        <p:spPr>
          <a:xfrm xmlns:a="http://schemas.openxmlformats.org/drawingml/2006/main">
            <a:off x="9525000" y="1666875"/>
            <a:ext cx="47625" cy="1428750"/>
          </a:xfrm>
          <a:prstGeom xmlns:a="http://schemas.openxmlformats.org/drawingml/2006/main" prst="rect">
            <a:avLst/>
          </a:prstGeom>
          <a:solidFill xmlns:a="http://schemas.openxmlformats.org/drawingml/2006/main">
            <a:srgbClr val="5B4B8A"/>
          </a:solidFill>
          <a:ln xmlns:a="http://schemas.openxmlformats.org/drawingml/2006/main" w="9525">
            <a:solidFill>
              <a:srgbClr val="5B4B8A"/>
            </a:solidFill>
            <a:prstDash val="solid"/>
          </a:ln>
        </p:spPr>
      </p:sp>
      <p:sp>
        <p:nvSpPr>
          <p:cNvPr id="23" name="">
            <a:extLst xmlns:a="http://schemas.openxmlformats.org/drawingml/2006/main">
              <a:ext uri="{FF2B5EF4-FFF2-40B4-BE49-F238E27FC236}">
                <a16:creationId xmlns:a16="http://schemas.microsoft.com/office/drawing/2014/main" id="{CB393A8B-4701-4813-8D08-E7B754827713}"/>
              </a:ext>
            </a:extLst>
          </p:cNvPr>
          <p:cNvSpPr>
            <a:spLocks xmlns:a="http://schemas.openxmlformats.org/drawingml/2006/main" noGrp="1"/>
          </p:cNvSpPr>
          <p:nvPr/>
        </p:nvSpPr>
        <p:spPr>
          <a:xfrm xmlns:a="http://schemas.openxmlformats.org/drawingml/2006/main">
            <a:off x="9734550" y="1838325"/>
            <a:ext cx="1390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Frontend</a:t>
            </a:r>
          </a:p>
        </p:txBody>
      </p:sp>
      <p:sp>
        <p:nvSpPr>
          <p:cNvPr id="24" name="">
            <a:extLst xmlns:a="http://schemas.openxmlformats.org/drawingml/2006/main">
              <a:ext uri="{FF2B5EF4-FFF2-40B4-BE49-F238E27FC236}">
                <a16:creationId xmlns:a16="http://schemas.microsoft.com/office/drawing/2014/main" id="{D5569025-A2AE-4D05-B32C-6C35E35F90BC}"/>
              </a:ext>
            </a:extLst>
          </p:cNvPr>
          <p:cNvSpPr>
            <a:spLocks xmlns:a="http://schemas.openxmlformats.org/drawingml/2006/main" noGrp="1"/>
          </p:cNvSpPr>
          <p:nvPr/>
        </p:nvSpPr>
        <p:spPr>
          <a:xfrm xmlns:a="http://schemas.openxmlformats.org/drawingml/2006/main">
            <a:off x="9734550" y="2200275"/>
            <a:ext cx="13906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Brokers see updated work queues, timeline context, summaries, and admin tools.</a:t>
            </a:r>
          </a:p>
        </p:txBody>
      </p:sp>
      <p:sp>
        <p:nvSpPr>
          <p:cNvPr id="25" name="">
            <a:extLst xmlns:a="http://schemas.openxmlformats.org/drawingml/2006/main">
              <a:ext uri="{FF2B5EF4-FFF2-40B4-BE49-F238E27FC236}">
                <a16:creationId xmlns:a16="http://schemas.microsoft.com/office/drawing/2014/main" id="{5B293BCF-80C7-42CF-90EA-0ABB728395F3}"/>
              </a:ext>
            </a:extLst>
          </p:cNvPr>
          <p:cNvSpPr>
            <a:spLocks xmlns:a="http://schemas.openxmlformats.org/drawingml/2006/main" noGrp="1"/>
          </p:cNvSpPr>
          <p:nvPr/>
        </p:nvSpPr>
        <p:spPr>
          <a:xfrm xmlns:a="http://schemas.openxmlformats.org/drawingml/2006/main">
            <a:off x="1123950" y="3762375"/>
            <a:ext cx="2857500" cy="1066800"/>
          </a:xfrm>
          <a:prstGeom xmlns:a="http://schemas.openxmlformats.org/drawingml/2006/main" prst="rect">
            <a:avLst/>
          </a:prstGeom>
          <a:solidFill xmlns:a="http://schemas.openxmlformats.org/drawingml/2006/main">
            <a:srgbClr val="F6E6BE"/>
          </a:solidFill>
          <a:ln xmlns:a="http://schemas.openxmlformats.org/drawingml/2006/main" w="9525">
            <a:solidFill>
              <a:srgbClr val="D9D4C7"/>
            </a:solidFill>
            <a:prstDash val="solid"/>
          </a:ln>
        </p:spPr>
      </p:sp>
      <p:sp>
        <p:nvSpPr>
          <p:cNvPr id="26" name="">
            <a:extLst xmlns:a="http://schemas.openxmlformats.org/drawingml/2006/main">
              <a:ext uri="{FF2B5EF4-FFF2-40B4-BE49-F238E27FC236}">
                <a16:creationId xmlns:a16="http://schemas.microsoft.com/office/drawing/2014/main" id="{C8DDFBC9-4259-4F5A-AB81-5A5DAF3E4438}"/>
              </a:ext>
            </a:extLst>
          </p:cNvPr>
          <p:cNvSpPr>
            <a:spLocks xmlns:a="http://schemas.openxmlformats.org/drawingml/2006/main" noGrp="1"/>
          </p:cNvSpPr>
          <p:nvPr/>
        </p:nvSpPr>
        <p:spPr>
          <a:xfrm xmlns:a="http://schemas.openxmlformats.org/drawingml/2006/main">
            <a:off x="1123950" y="3762375"/>
            <a:ext cx="47625" cy="1066800"/>
          </a:xfrm>
          <a:prstGeom xmlns:a="http://schemas.openxmlformats.org/drawingml/2006/main" prst="rect">
            <a:avLst/>
          </a:prstGeom>
          <a:solidFill xmlns:a="http://schemas.openxmlformats.org/drawingml/2006/main">
            <a:srgbClr val="B7791F"/>
          </a:solidFill>
          <a:ln xmlns:a="http://schemas.openxmlformats.org/drawingml/2006/main" w="9525">
            <a:solidFill>
              <a:srgbClr val="B7791F"/>
            </a:solidFill>
            <a:prstDash val="solid"/>
          </a:ln>
        </p:spPr>
      </p:sp>
      <p:sp>
        <p:nvSpPr>
          <p:cNvPr id="27" name="">
            <a:extLst xmlns:a="http://schemas.openxmlformats.org/drawingml/2006/main">
              <a:ext uri="{FF2B5EF4-FFF2-40B4-BE49-F238E27FC236}">
                <a16:creationId xmlns:a16="http://schemas.microsoft.com/office/drawing/2014/main" id="{26B08CEE-1346-4384-AD55-D1CD30C47FEA}"/>
              </a:ext>
            </a:extLst>
          </p:cNvPr>
          <p:cNvSpPr>
            <a:spLocks xmlns:a="http://schemas.openxmlformats.org/drawingml/2006/main" noGrp="1"/>
          </p:cNvSpPr>
          <p:nvPr/>
        </p:nvSpPr>
        <p:spPr>
          <a:xfrm xmlns:a="http://schemas.openxmlformats.org/drawingml/2006/main">
            <a:off x="1333500" y="3933825"/>
            <a:ext cx="2438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Call recordings</a:t>
            </a:r>
          </a:p>
        </p:txBody>
      </p:sp>
      <p:sp>
        <p:nvSpPr>
          <p:cNvPr id="28" name="">
            <a:extLst xmlns:a="http://schemas.openxmlformats.org/drawingml/2006/main">
              <a:ext uri="{FF2B5EF4-FFF2-40B4-BE49-F238E27FC236}">
                <a16:creationId xmlns:a16="http://schemas.microsoft.com/office/drawing/2014/main" id="{F2788744-68A8-4ADA-B8FC-5A6A3FFF5912}"/>
              </a:ext>
            </a:extLst>
          </p:cNvPr>
          <p:cNvSpPr>
            <a:spLocks xmlns:a="http://schemas.openxmlformats.org/drawingml/2006/main" noGrp="1"/>
          </p:cNvSpPr>
          <p:nvPr/>
        </p:nvSpPr>
        <p:spPr>
          <a:xfrm xmlns:a="http://schemas.openxmlformats.org/drawingml/2006/main">
            <a:off x="1333500" y="4295775"/>
            <a:ext cx="2438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RingCentral audio -&gt; storage -&gt; transcription -&gt; situation summary -&gt; dashboard.</a:t>
            </a:r>
          </a:p>
        </p:txBody>
      </p:sp>
      <p:sp>
        <p:nvSpPr>
          <p:cNvPr id="29" name="">
            <a:extLst xmlns:a="http://schemas.openxmlformats.org/drawingml/2006/main">
              <a:ext uri="{FF2B5EF4-FFF2-40B4-BE49-F238E27FC236}">
                <a16:creationId xmlns:a16="http://schemas.microsoft.com/office/drawing/2014/main" id="{36729C29-B814-41D8-AF5C-9C4F87854EAC}"/>
              </a:ext>
            </a:extLst>
          </p:cNvPr>
          <p:cNvSpPr>
            <a:spLocks xmlns:a="http://schemas.openxmlformats.org/drawingml/2006/main" noGrp="1"/>
          </p:cNvSpPr>
          <p:nvPr/>
        </p:nvSpPr>
        <p:spPr>
          <a:xfrm xmlns:a="http://schemas.openxmlformats.org/drawingml/2006/main">
            <a:off x="4667250" y="3762375"/>
            <a:ext cx="2857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9D4C7"/>
            </a:solidFill>
            <a:prstDash val="solid"/>
          </a:ln>
        </p:spPr>
      </p:sp>
      <p:sp>
        <p:nvSpPr>
          <p:cNvPr id="30" name="">
            <a:extLst xmlns:a="http://schemas.openxmlformats.org/drawingml/2006/main">
              <a:ext uri="{FF2B5EF4-FFF2-40B4-BE49-F238E27FC236}">
                <a16:creationId xmlns:a16="http://schemas.microsoft.com/office/drawing/2014/main" id="{34ABF3A1-E7EE-4B71-9D9C-DEFB5F86D3B3}"/>
              </a:ext>
            </a:extLst>
          </p:cNvPr>
          <p:cNvSpPr>
            <a:spLocks xmlns:a="http://schemas.openxmlformats.org/drawingml/2006/main" noGrp="1"/>
          </p:cNvSpPr>
          <p:nvPr/>
        </p:nvSpPr>
        <p:spPr>
          <a:xfrm xmlns:a="http://schemas.openxmlformats.org/drawingml/2006/main">
            <a:off x="4667250" y="3762375"/>
            <a:ext cx="47625" cy="1066800"/>
          </a:xfrm>
          <a:prstGeom xmlns:a="http://schemas.openxmlformats.org/drawingml/2006/main" prst="rect">
            <a:avLst/>
          </a:prstGeom>
          <a:solidFill xmlns:a="http://schemas.openxmlformats.org/drawingml/2006/main">
            <a:srgbClr val="C4553F"/>
          </a:solidFill>
          <a:ln xmlns:a="http://schemas.openxmlformats.org/drawingml/2006/main" w="9525">
            <a:solidFill>
              <a:srgbClr val="C4553F"/>
            </a:solidFill>
            <a:prstDash val="solid"/>
          </a:ln>
        </p:spPr>
      </p:sp>
      <p:sp>
        <p:nvSpPr>
          <p:cNvPr id="31" name="">
            <a:extLst xmlns:a="http://schemas.openxmlformats.org/drawingml/2006/main">
              <a:ext uri="{FF2B5EF4-FFF2-40B4-BE49-F238E27FC236}">
                <a16:creationId xmlns:a16="http://schemas.microsoft.com/office/drawing/2014/main" id="{E126B0E8-F699-4036-9A63-E705E95E3C21}"/>
              </a:ext>
            </a:extLst>
          </p:cNvPr>
          <p:cNvSpPr>
            <a:spLocks xmlns:a="http://schemas.openxmlformats.org/drawingml/2006/main" noGrp="1"/>
          </p:cNvSpPr>
          <p:nvPr/>
        </p:nvSpPr>
        <p:spPr>
          <a:xfrm xmlns:a="http://schemas.openxmlformats.org/drawingml/2006/main">
            <a:off x="4876800" y="3933825"/>
            <a:ext cx="2438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AML flow</a:t>
            </a:r>
          </a:p>
        </p:txBody>
      </p:sp>
      <p:sp>
        <p:nvSpPr>
          <p:cNvPr id="32" name="">
            <a:extLst xmlns:a="http://schemas.openxmlformats.org/drawingml/2006/main">
              <a:ext uri="{FF2B5EF4-FFF2-40B4-BE49-F238E27FC236}">
                <a16:creationId xmlns:a16="http://schemas.microsoft.com/office/drawing/2014/main" id="{EDF08E79-D209-44CF-91AC-7A436EFB7AAC}"/>
              </a:ext>
            </a:extLst>
          </p:cNvPr>
          <p:cNvSpPr>
            <a:spLocks xmlns:a="http://schemas.openxmlformats.org/drawingml/2006/main" noGrp="1"/>
          </p:cNvSpPr>
          <p:nvPr/>
        </p:nvSpPr>
        <p:spPr>
          <a:xfrm xmlns:a="http://schemas.openxmlformats.org/drawingml/2006/main">
            <a:off x="4876800" y="4295775"/>
            <a:ext cx="2438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Velocity/HOLP PDF -&gt; extraction -&gt; report record -&gt; realtime UI update.</a:t>
            </a:r>
          </a:p>
        </p:txBody>
      </p:sp>
      <p:sp>
        <p:nvSpPr>
          <p:cNvPr id="33" name="">
            <a:extLst xmlns:a="http://schemas.openxmlformats.org/drawingml/2006/main">
              <a:ext uri="{FF2B5EF4-FFF2-40B4-BE49-F238E27FC236}">
                <a16:creationId xmlns:a16="http://schemas.microsoft.com/office/drawing/2014/main" id="{232003CE-0F80-4D60-8543-773FF94CB354}"/>
              </a:ext>
            </a:extLst>
          </p:cNvPr>
          <p:cNvSpPr>
            <a:spLocks xmlns:a="http://schemas.openxmlformats.org/drawingml/2006/main" noGrp="1"/>
          </p:cNvSpPr>
          <p:nvPr/>
        </p:nvSpPr>
        <p:spPr>
          <a:xfrm xmlns:a="http://schemas.openxmlformats.org/drawingml/2006/main">
            <a:off x="8210550" y="3762375"/>
            <a:ext cx="2857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9D4C7"/>
            </a:solidFill>
            <a:prstDash val="solid"/>
          </a:ln>
        </p:spPr>
      </p:sp>
      <p:sp>
        <p:nvSpPr>
          <p:cNvPr id="34" name="">
            <a:extLst xmlns:a="http://schemas.openxmlformats.org/drawingml/2006/main">
              <a:ext uri="{FF2B5EF4-FFF2-40B4-BE49-F238E27FC236}">
                <a16:creationId xmlns:a16="http://schemas.microsoft.com/office/drawing/2014/main" id="{8BA0FFD4-3A57-45C7-8853-3394F5242D75}"/>
              </a:ext>
            </a:extLst>
          </p:cNvPr>
          <p:cNvSpPr>
            <a:spLocks xmlns:a="http://schemas.openxmlformats.org/drawingml/2006/main" noGrp="1"/>
          </p:cNvSpPr>
          <p:nvPr/>
        </p:nvSpPr>
        <p:spPr>
          <a:xfrm xmlns:a="http://schemas.openxmlformats.org/drawingml/2006/main">
            <a:off x="8210550" y="3762375"/>
            <a:ext cx="47625" cy="1066800"/>
          </a:xfrm>
          <a:prstGeom xmlns:a="http://schemas.openxmlformats.org/drawingml/2006/main" prst="rect">
            <a:avLst/>
          </a:prstGeom>
          <a:solidFill xmlns:a="http://schemas.openxmlformats.org/drawingml/2006/main">
            <a:srgbClr val="556B2F"/>
          </a:solidFill>
          <a:ln xmlns:a="http://schemas.openxmlformats.org/drawingml/2006/main" w="9525">
            <a:solidFill>
              <a:srgbClr val="556B2F"/>
            </a:solidFill>
            <a:prstDash val="solid"/>
          </a:ln>
        </p:spPr>
      </p:sp>
      <p:sp>
        <p:nvSpPr>
          <p:cNvPr id="35" name="">
            <a:extLst xmlns:a="http://schemas.openxmlformats.org/drawingml/2006/main">
              <a:ext uri="{FF2B5EF4-FFF2-40B4-BE49-F238E27FC236}">
                <a16:creationId xmlns:a16="http://schemas.microsoft.com/office/drawing/2014/main" id="{2F334DEA-BA9D-4E0F-B59A-8350B94A37A5}"/>
              </a:ext>
            </a:extLst>
          </p:cNvPr>
          <p:cNvSpPr>
            <a:spLocks xmlns:a="http://schemas.openxmlformats.org/drawingml/2006/main" noGrp="1"/>
          </p:cNvSpPr>
          <p:nvPr/>
        </p:nvSpPr>
        <p:spPr>
          <a:xfrm xmlns:a="http://schemas.openxmlformats.org/drawingml/2006/main">
            <a:off x="8420100" y="3933825"/>
            <a:ext cx="2438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Failure mode</a:t>
            </a:r>
          </a:p>
        </p:txBody>
      </p:sp>
      <p:sp>
        <p:nvSpPr>
          <p:cNvPr id="36" name="">
            <a:extLst xmlns:a="http://schemas.openxmlformats.org/drawingml/2006/main">
              <a:ext uri="{FF2B5EF4-FFF2-40B4-BE49-F238E27FC236}">
                <a16:creationId xmlns:a16="http://schemas.microsoft.com/office/drawing/2014/main" id="{9F9D952C-79E0-494F-8D36-6F4637DECFD5}"/>
              </a:ext>
            </a:extLst>
          </p:cNvPr>
          <p:cNvSpPr>
            <a:spLocks xmlns:a="http://schemas.openxmlformats.org/drawingml/2006/main" noGrp="1"/>
          </p:cNvSpPr>
          <p:nvPr/>
        </p:nvSpPr>
        <p:spPr>
          <a:xfrm xmlns:a="http://schemas.openxmlformats.org/drawingml/2006/main">
            <a:off x="8420100" y="4295775"/>
            <a:ext cx="2438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Duplicate rows, stale ownership, missing auth, rate limits, and scheduler drift.</a:t>
            </a:r>
          </a:p>
        </p:txBody>
      </p:sp>
      <p:sp>
        <p:nvSpPr>
          <p:cNvPr id="37" name="">
            <a:extLst xmlns:a="http://schemas.openxmlformats.org/drawingml/2006/main">
              <a:ext uri="{FF2B5EF4-FFF2-40B4-BE49-F238E27FC236}">
                <a16:creationId xmlns:a16="http://schemas.microsoft.com/office/drawing/2014/main" id="{AC813B9A-DC45-450A-AA05-01C26D983A42}"/>
              </a:ext>
            </a:extLst>
          </p:cNvPr>
          <p:cNvSpPr>
            <a:spLocks xmlns:a="http://schemas.openxmlformats.org/drawingml/2006/main" noGrp="1"/>
          </p:cNvSpPr>
          <p:nvPr/>
        </p:nvSpPr>
        <p:spPr>
          <a:xfrm xmlns:a="http://schemas.openxmlformats.org/drawingml/2006/main">
            <a:off x="647700" y="6362700"/>
            <a:ext cx="10363200" cy="9525"/>
          </a:xfrm>
          <a:prstGeom xmlns:a="http://schemas.openxmlformats.org/drawingml/2006/main" prst="rect">
            <a:avLst/>
          </a:prstGeom>
          <a:solidFill xmlns:a="http://schemas.openxmlformats.org/drawingml/2006/main">
            <a:srgbClr val="D9D4C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E8CAE674-197C-42BB-8C7B-330B901FAC56}"/>
              </a:ext>
            </a:extLst>
          </p:cNvPr>
          <p:cNvSpPr>
            <a:spLocks xmlns:a="http://schemas.openxmlformats.org/drawingml/2006/main" noGrp="1"/>
          </p:cNvSpPr>
          <p:nvPr/>
        </p:nvSpPr>
        <p:spPr>
          <a:xfrm xmlns:a="http://schemas.openxmlformats.org/drawingml/2006/main">
            <a:off x="647700" y="64579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673"/>
                </a:solidFill>
                <a:latin typeface="Aptos"/>
                <a:ea typeface="Aptos"/>
                <a:cs typeface="Aptos"/>
              </a:defRPr>
            </a:pPr>
            <a:r>
              <a:rPr sz="975" b="0">
                <a:solidFill>
                  <a:srgbClr val="5B6673"/>
                </a:solidFill>
                <a:latin typeface="Aptos"/>
                <a:ea typeface="Aptos"/>
                <a:cs typeface="Aptos"/>
              </a:rPr>
              <a:t>PearlPortal intern onboarding</a:t>
            </a:r>
          </a:p>
        </p:txBody>
      </p:sp>
      <p:sp>
        <p:nvSpPr>
          <p:cNvPr id="39" name="">
            <a:extLst xmlns:a="http://schemas.openxmlformats.org/drawingml/2006/main">
              <a:ext uri="{FF2B5EF4-FFF2-40B4-BE49-F238E27FC236}">
                <a16:creationId xmlns:a16="http://schemas.microsoft.com/office/drawing/2014/main" id="{B9DFC29A-5825-4519-8631-E4467C88D96F}"/>
              </a:ext>
            </a:extLst>
          </p:cNvPr>
          <p:cNvSpPr>
            <a:spLocks xmlns:a="http://schemas.openxmlformats.org/drawingml/2006/main" noGrp="1"/>
          </p:cNvSpPr>
          <p:nvPr/>
        </p:nvSpPr>
        <p:spPr>
          <a:xfrm xmlns:a="http://schemas.openxmlformats.org/drawingml/2006/main">
            <a:off x="10382250" y="64579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673"/>
                </a:solidFill>
                <a:latin typeface="Aptos"/>
                <a:ea typeface="Aptos"/>
                <a:cs typeface="Aptos"/>
              </a:defRPr>
            </a:pPr>
            <a:r>
              <a:rPr sz="975" b="0">
                <a:solidFill>
                  <a:srgbClr val="5B6673"/>
                </a:solidFill>
                <a:latin typeface="Aptos"/>
                <a:ea typeface="Aptos"/>
                <a:cs typeface="Aptos"/>
              </a:rPr>
              <a:t>08</a:t>
            </a:r>
          </a:p>
        </p:txBody>
      </p:sp>
    </p:spTree>
    <p:extLst>
      <p:ext uri="{BB962C8B-B14F-4D97-AF65-F5344CB8AC3E}">
        <p14:creationId xmlns:p14="http://schemas.microsoft.com/office/powerpoint/2010/main" val="14476992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7AD54CB-6D90-4A9F-A337-4C6964B2B1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6E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BE7DAD7-3D9A-4838-8E36-0073A76ABC00}"/>
              </a:ext>
            </a:extLst>
          </p:cNvPr>
          <p:cNvSpPr>
            <a:spLocks xmlns:a="http://schemas.openxmlformats.org/drawingml/2006/main" noGrp="1"/>
          </p:cNvSpPr>
          <p:nvPr/>
        </p:nvSpPr>
        <p:spPr>
          <a:xfrm xmlns:a="http://schemas.openxmlformats.org/drawingml/2006/main">
            <a:off x="419100" y="381000"/>
            <a:ext cx="47625" cy="876300"/>
          </a:xfrm>
          <a:prstGeom xmlns:a="http://schemas.openxmlformats.org/drawingml/2006/main" prst="rect">
            <a:avLst/>
          </a:prstGeom>
          <a:solidFill xmlns:a="http://schemas.openxmlformats.org/drawingml/2006/main">
            <a:srgbClr val="5B4B8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406D091-DE5E-48DC-AC65-A8C740152809}"/>
              </a:ext>
            </a:extLst>
          </p:cNvPr>
          <p:cNvSpPr>
            <a:spLocks xmlns:a="http://schemas.openxmlformats.org/drawingml/2006/main" noGrp="1"/>
          </p:cNvSpPr>
          <p:nvPr/>
        </p:nvSpPr>
        <p:spPr>
          <a:xfrm xmlns:a="http://schemas.openxmlformats.org/drawingml/2006/main">
            <a:off x="647700" y="400050"/>
            <a:ext cx="704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5B4B8A"/>
                </a:solidFill>
                <a:latin typeface="Aptos"/>
                <a:ea typeface="Aptos"/>
                <a:cs typeface="Aptos"/>
              </a:defRPr>
            </a:pPr>
            <a:r>
              <a:rPr sz="1200" b="1">
                <a:solidFill>
                  <a:srgbClr val="5B4B8A"/>
                </a:solidFill>
                <a:latin typeface="Aptos"/>
                <a:ea typeface="Aptos"/>
                <a:cs typeface="Aptos"/>
              </a:rPr>
              <a:t>AI ENGINEERING NOW</a:t>
            </a:r>
          </a:p>
        </p:txBody>
      </p:sp>
      <p:sp>
        <p:nvSpPr>
          <p:cNvPr id="4" name="">
            <a:extLst xmlns:a="http://schemas.openxmlformats.org/drawingml/2006/main">
              <a:ext uri="{FF2B5EF4-FFF2-40B4-BE49-F238E27FC236}">
                <a16:creationId xmlns:a16="http://schemas.microsoft.com/office/drawing/2014/main" id="{C17EA505-382F-476F-B557-501EAEEAA080}"/>
              </a:ext>
            </a:extLst>
          </p:cNvPr>
          <p:cNvSpPr>
            <a:spLocks xmlns:a="http://schemas.openxmlformats.org/drawingml/2006/main" noGrp="1"/>
          </p:cNvSpPr>
          <p:nvPr/>
        </p:nvSpPr>
        <p:spPr>
          <a:xfrm xmlns:a="http://schemas.openxmlformats.org/drawingml/2006/main">
            <a:off x="647700" y="666750"/>
            <a:ext cx="7810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7202A"/>
                </a:solidFill>
                <a:latin typeface="Aptos"/>
                <a:ea typeface="Aptos"/>
                <a:cs typeface="Aptos"/>
              </a:defRPr>
            </a:pPr>
            <a:r>
              <a:rPr sz="3300" b="1">
                <a:solidFill>
                  <a:srgbClr val="17202A"/>
                </a:solidFill>
                <a:latin typeface="Aptos"/>
                <a:ea typeface="Aptos"/>
                <a:cs typeface="Aptos"/>
              </a:rPr>
              <a:t>The job is no longer typing code first</a:t>
            </a:r>
          </a:p>
        </p:txBody>
      </p:sp>
      <p:sp>
        <p:nvSpPr>
          <p:cNvPr id="5" name="">
            <a:extLst xmlns:a="http://schemas.openxmlformats.org/drawingml/2006/main">
              <a:ext uri="{FF2B5EF4-FFF2-40B4-BE49-F238E27FC236}">
                <a16:creationId xmlns:a16="http://schemas.microsoft.com/office/drawing/2014/main" id="{B8F97F91-A76E-4F2E-B7C3-B02E75F4930C}"/>
              </a:ext>
            </a:extLst>
          </p:cNvPr>
          <p:cNvSpPr>
            <a:spLocks xmlns:a="http://schemas.openxmlformats.org/drawingml/2006/main" noGrp="1"/>
          </p:cNvSpPr>
          <p:nvPr/>
        </p:nvSpPr>
        <p:spPr>
          <a:xfrm xmlns:a="http://schemas.openxmlformats.org/drawingml/2006/main">
            <a:off x="10001250" y="419100"/>
            <a:ext cx="1657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B6673"/>
                </a:solidFill>
                <a:latin typeface="Aptos"/>
                <a:ea typeface="Aptos"/>
                <a:cs typeface="Aptos"/>
              </a:defRPr>
            </a:pPr>
            <a:r>
              <a:rPr sz="1125" b="0">
                <a:solidFill>
                  <a:srgbClr val="5B6673"/>
                </a:solidFill>
                <a:latin typeface="Aptos"/>
                <a:ea typeface="Aptos"/>
                <a:cs typeface="Aptos"/>
              </a:rPr>
              <a:t>2026-05-04</a:t>
            </a:r>
          </a:p>
        </p:txBody>
      </p:sp>
      <p:sp>
        <p:nvSpPr>
          <p:cNvPr id="6" name="">
            <a:extLst xmlns:a="http://schemas.openxmlformats.org/drawingml/2006/main">
              <a:ext uri="{FF2B5EF4-FFF2-40B4-BE49-F238E27FC236}">
                <a16:creationId xmlns:a16="http://schemas.microsoft.com/office/drawing/2014/main" id="{0573D220-D796-4EDC-A519-3DAEBF485760}"/>
              </a:ext>
            </a:extLst>
          </p:cNvPr>
          <p:cNvSpPr>
            <a:spLocks xmlns:a="http://schemas.openxmlformats.org/drawingml/2006/main" noGrp="1"/>
          </p:cNvSpPr>
          <p:nvPr/>
        </p:nvSpPr>
        <p:spPr>
          <a:xfrm xmlns:a="http://schemas.openxmlformats.org/drawingml/2006/main">
            <a:off x="762000" y="1524000"/>
            <a:ext cx="4762500" cy="3714750"/>
          </a:xfrm>
          <a:prstGeom xmlns:a="http://schemas.openxmlformats.org/drawingml/2006/main" prst="rect">
            <a:avLst/>
          </a:prstGeom>
          <a:solidFill xmlns:a="http://schemas.openxmlformats.org/drawingml/2006/main">
            <a:srgbClr val="E4DFF4"/>
          </a:solidFill>
          <a:ln xmlns:a="http://schemas.openxmlformats.org/drawingml/2006/main" w="9525">
            <a:solidFill>
              <a:srgbClr val="D9D4C7"/>
            </a:solidFill>
            <a:prstDash val="solid"/>
          </a:ln>
        </p:spPr>
      </p:sp>
      <p:sp>
        <p:nvSpPr>
          <p:cNvPr id="7" name="">
            <a:extLst xmlns:a="http://schemas.openxmlformats.org/drawingml/2006/main">
              <a:ext uri="{FF2B5EF4-FFF2-40B4-BE49-F238E27FC236}">
                <a16:creationId xmlns:a16="http://schemas.microsoft.com/office/drawing/2014/main" id="{1CAC95E9-A11F-4D10-841B-92161D4A2382}"/>
              </a:ext>
            </a:extLst>
          </p:cNvPr>
          <p:cNvSpPr>
            <a:spLocks xmlns:a="http://schemas.openxmlformats.org/drawingml/2006/main" noGrp="1"/>
          </p:cNvSpPr>
          <p:nvPr/>
        </p:nvSpPr>
        <p:spPr>
          <a:xfrm xmlns:a="http://schemas.openxmlformats.org/drawingml/2006/main">
            <a:off x="1066800" y="1857375"/>
            <a:ext cx="4000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7202A"/>
                </a:solidFill>
                <a:latin typeface="Aptos"/>
                <a:ea typeface="Aptos"/>
                <a:cs typeface="Aptos"/>
              </a:defRPr>
            </a:pPr>
            <a:r>
              <a:rPr sz="2100" b="1">
                <a:solidFill>
                  <a:srgbClr val="17202A"/>
                </a:solidFill>
                <a:latin typeface="Aptos"/>
                <a:ea typeface="Aptos"/>
                <a:cs typeface="Aptos"/>
              </a:rPr>
              <a:t>Old default</a:t>
            </a:r>
          </a:p>
        </p:txBody>
      </p:sp>
      <p:sp>
        <p:nvSpPr>
          <p:cNvPr id="8" name="">
            <a:extLst xmlns:a="http://schemas.openxmlformats.org/drawingml/2006/main">
              <a:ext uri="{FF2B5EF4-FFF2-40B4-BE49-F238E27FC236}">
                <a16:creationId xmlns:a16="http://schemas.microsoft.com/office/drawing/2014/main" id="{30377251-618C-4BBA-917E-F99B047800A6}"/>
              </a:ext>
            </a:extLst>
          </p:cNvPr>
          <p:cNvSpPr>
            <a:spLocks xmlns:a="http://schemas.openxmlformats.org/drawingml/2006/main" noGrp="1"/>
          </p:cNvSpPr>
          <p:nvPr/>
        </p:nvSpPr>
        <p:spPr>
          <a:xfrm xmlns:a="http://schemas.openxmlformats.org/drawingml/2006/main">
            <a:off x="1143000" y="2543175"/>
            <a:ext cx="76200" cy="76200"/>
          </a:xfrm>
          <a:prstGeom xmlns:a="http://schemas.openxmlformats.org/drawingml/2006/main" prst="rect">
            <a:avLst/>
          </a:prstGeom>
          <a:solidFill xmlns:a="http://schemas.openxmlformats.org/drawingml/2006/main">
            <a:srgbClr val="C4553F"/>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83725DA-40C5-47F0-A2EC-9C25B8EC22A0}"/>
              </a:ext>
            </a:extLst>
          </p:cNvPr>
          <p:cNvSpPr>
            <a:spLocks xmlns:a="http://schemas.openxmlformats.org/drawingml/2006/main" noGrp="1"/>
          </p:cNvSpPr>
          <p:nvPr/>
        </p:nvSpPr>
        <p:spPr>
          <a:xfrm xmlns:a="http://schemas.openxmlformats.org/drawingml/2006/main">
            <a:off x="1352550" y="2476500"/>
            <a:ext cx="3810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Read scattered code manually.</a:t>
            </a:r>
          </a:p>
        </p:txBody>
      </p:sp>
      <p:sp>
        <p:nvSpPr>
          <p:cNvPr id="10" name="">
            <a:extLst xmlns:a="http://schemas.openxmlformats.org/drawingml/2006/main">
              <a:ext uri="{FF2B5EF4-FFF2-40B4-BE49-F238E27FC236}">
                <a16:creationId xmlns:a16="http://schemas.microsoft.com/office/drawing/2014/main" id="{8791752F-1973-4EC7-B5C4-5FB245DD3C58}"/>
              </a:ext>
            </a:extLst>
          </p:cNvPr>
          <p:cNvSpPr>
            <a:spLocks xmlns:a="http://schemas.openxmlformats.org/drawingml/2006/main" noGrp="1"/>
          </p:cNvSpPr>
          <p:nvPr/>
        </p:nvSpPr>
        <p:spPr>
          <a:xfrm xmlns:a="http://schemas.openxmlformats.org/drawingml/2006/main">
            <a:off x="1143000" y="3000375"/>
            <a:ext cx="76200" cy="76200"/>
          </a:xfrm>
          <a:prstGeom xmlns:a="http://schemas.openxmlformats.org/drawingml/2006/main" prst="rect">
            <a:avLst/>
          </a:prstGeom>
          <a:solidFill xmlns:a="http://schemas.openxmlformats.org/drawingml/2006/main">
            <a:srgbClr val="C4553F"/>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DE543D11-5A53-40FF-9DE4-A6F399436634}"/>
              </a:ext>
            </a:extLst>
          </p:cNvPr>
          <p:cNvSpPr>
            <a:spLocks xmlns:a="http://schemas.openxmlformats.org/drawingml/2006/main" noGrp="1"/>
          </p:cNvSpPr>
          <p:nvPr/>
        </p:nvSpPr>
        <p:spPr>
          <a:xfrm xmlns:a="http://schemas.openxmlformats.org/drawingml/2006/main">
            <a:off x="1352550" y="2933700"/>
            <a:ext cx="3810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Guess architecture from file names.</a:t>
            </a:r>
          </a:p>
        </p:txBody>
      </p:sp>
      <p:sp>
        <p:nvSpPr>
          <p:cNvPr id="12" name="">
            <a:extLst xmlns:a="http://schemas.openxmlformats.org/drawingml/2006/main">
              <a:ext uri="{FF2B5EF4-FFF2-40B4-BE49-F238E27FC236}">
                <a16:creationId xmlns:a16="http://schemas.microsoft.com/office/drawing/2014/main" id="{0622AC47-7D47-4DEF-9279-753F8E229F14}"/>
              </a:ext>
            </a:extLst>
          </p:cNvPr>
          <p:cNvSpPr>
            <a:spLocks xmlns:a="http://schemas.openxmlformats.org/drawingml/2006/main" noGrp="1"/>
          </p:cNvSpPr>
          <p:nvPr/>
        </p:nvSpPr>
        <p:spPr>
          <a:xfrm xmlns:a="http://schemas.openxmlformats.org/drawingml/2006/main">
            <a:off x="1143000" y="3457575"/>
            <a:ext cx="76200" cy="76200"/>
          </a:xfrm>
          <a:prstGeom xmlns:a="http://schemas.openxmlformats.org/drawingml/2006/main" prst="rect">
            <a:avLst/>
          </a:prstGeom>
          <a:solidFill xmlns:a="http://schemas.openxmlformats.org/drawingml/2006/main">
            <a:srgbClr val="C4553F"/>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3033419D-0106-4E0D-B869-F0E8DD4DBC63}"/>
              </a:ext>
            </a:extLst>
          </p:cNvPr>
          <p:cNvSpPr>
            <a:spLocks xmlns:a="http://schemas.openxmlformats.org/drawingml/2006/main" noGrp="1"/>
          </p:cNvSpPr>
          <p:nvPr/>
        </p:nvSpPr>
        <p:spPr>
          <a:xfrm xmlns:a="http://schemas.openxmlformats.org/drawingml/2006/main">
            <a:off x="1352550" y="3390900"/>
            <a:ext cx="3810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Patch first, understand later.</a:t>
            </a:r>
          </a:p>
        </p:txBody>
      </p:sp>
      <p:sp>
        <p:nvSpPr>
          <p:cNvPr id="14" name="">
            <a:extLst xmlns:a="http://schemas.openxmlformats.org/drawingml/2006/main">
              <a:ext uri="{FF2B5EF4-FFF2-40B4-BE49-F238E27FC236}">
                <a16:creationId xmlns:a16="http://schemas.microsoft.com/office/drawing/2014/main" id="{D1D06B53-8CBD-4D3B-A83A-7E3E5F59FE2D}"/>
              </a:ext>
            </a:extLst>
          </p:cNvPr>
          <p:cNvSpPr>
            <a:spLocks xmlns:a="http://schemas.openxmlformats.org/drawingml/2006/main" noGrp="1"/>
          </p:cNvSpPr>
          <p:nvPr/>
        </p:nvSpPr>
        <p:spPr>
          <a:xfrm xmlns:a="http://schemas.openxmlformats.org/drawingml/2006/main">
            <a:off x="1143000" y="3914775"/>
            <a:ext cx="76200" cy="76200"/>
          </a:xfrm>
          <a:prstGeom xmlns:a="http://schemas.openxmlformats.org/drawingml/2006/main" prst="rect">
            <a:avLst/>
          </a:prstGeom>
          <a:solidFill xmlns:a="http://schemas.openxmlformats.org/drawingml/2006/main">
            <a:srgbClr val="C4553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BAC1E5D8-FCDA-4579-818B-CEE839805507}"/>
              </a:ext>
            </a:extLst>
          </p:cNvPr>
          <p:cNvSpPr>
            <a:spLocks xmlns:a="http://schemas.openxmlformats.org/drawingml/2006/main" noGrp="1"/>
          </p:cNvSpPr>
          <p:nvPr/>
        </p:nvSpPr>
        <p:spPr>
          <a:xfrm xmlns:a="http://schemas.openxmlformats.org/drawingml/2006/main">
            <a:off x="1352550" y="3848100"/>
            <a:ext cx="3810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Treat tests as cleanup.</a:t>
            </a:r>
          </a:p>
        </p:txBody>
      </p:sp>
      <p:sp>
        <p:nvSpPr>
          <p:cNvPr id="16" name="">
            <a:extLst xmlns:a="http://schemas.openxmlformats.org/drawingml/2006/main">
              <a:ext uri="{FF2B5EF4-FFF2-40B4-BE49-F238E27FC236}">
                <a16:creationId xmlns:a16="http://schemas.microsoft.com/office/drawing/2014/main" id="{002E1192-35E4-4065-8A4A-FF65A247586A}"/>
              </a:ext>
            </a:extLst>
          </p:cNvPr>
          <p:cNvSpPr>
            <a:spLocks xmlns:a="http://schemas.openxmlformats.org/drawingml/2006/main" noGrp="1"/>
          </p:cNvSpPr>
          <p:nvPr/>
        </p:nvSpPr>
        <p:spPr>
          <a:xfrm xmlns:a="http://schemas.openxmlformats.org/drawingml/2006/main">
            <a:off x="1143000" y="4371975"/>
            <a:ext cx="76200" cy="76200"/>
          </a:xfrm>
          <a:prstGeom xmlns:a="http://schemas.openxmlformats.org/drawingml/2006/main" prst="rect">
            <a:avLst/>
          </a:prstGeom>
          <a:solidFill xmlns:a="http://schemas.openxmlformats.org/drawingml/2006/main">
            <a:srgbClr val="C4553F"/>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1ED102A8-CD3A-4407-81BA-7E8659022E5E}"/>
              </a:ext>
            </a:extLst>
          </p:cNvPr>
          <p:cNvSpPr>
            <a:spLocks xmlns:a="http://schemas.openxmlformats.org/drawingml/2006/main" noGrp="1"/>
          </p:cNvSpPr>
          <p:nvPr/>
        </p:nvSpPr>
        <p:spPr>
          <a:xfrm xmlns:a="http://schemas.openxmlformats.org/drawingml/2006/main">
            <a:off x="1352550" y="4305300"/>
            <a:ext cx="3810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Ask senior people vague questions.</a:t>
            </a:r>
          </a:p>
        </p:txBody>
      </p:sp>
      <p:sp>
        <p:nvSpPr>
          <p:cNvPr id="18" name="">
            <a:extLst xmlns:a="http://schemas.openxmlformats.org/drawingml/2006/main">
              <a:ext uri="{FF2B5EF4-FFF2-40B4-BE49-F238E27FC236}">
                <a16:creationId xmlns:a16="http://schemas.microsoft.com/office/drawing/2014/main" id="{D5643CEC-86FE-4084-951A-79A4270462A9}"/>
              </a:ext>
            </a:extLst>
          </p:cNvPr>
          <p:cNvSpPr>
            <a:spLocks xmlns:a="http://schemas.openxmlformats.org/drawingml/2006/main" noGrp="1"/>
          </p:cNvSpPr>
          <p:nvPr/>
        </p:nvSpPr>
        <p:spPr>
          <a:xfrm xmlns:a="http://schemas.openxmlformats.org/drawingml/2006/main">
            <a:off x="6667500" y="1524000"/>
            <a:ext cx="4762500" cy="3714750"/>
          </a:xfrm>
          <a:prstGeom xmlns:a="http://schemas.openxmlformats.org/drawingml/2006/main" prst="rect">
            <a:avLst/>
          </a:prstGeom>
          <a:solidFill xmlns:a="http://schemas.openxmlformats.org/drawingml/2006/main">
            <a:srgbClr val="D8F3EE"/>
          </a:solidFill>
          <a:ln xmlns:a="http://schemas.openxmlformats.org/drawingml/2006/main" w="9525">
            <a:solidFill>
              <a:srgbClr val="D9D4C7"/>
            </a:solidFill>
            <a:prstDash val="solid"/>
          </a:ln>
        </p:spPr>
      </p:sp>
      <p:sp>
        <p:nvSpPr>
          <p:cNvPr id="19" name="">
            <a:extLst xmlns:a="http://schemas.openxmlformats.org/drawingml/2006/main">
              <a:ext uri="{FF2B5EF4-FFF2-40B4-BE49-F238E27FC236}">
                <a16:creationId xmlns:a16="http://schemas.microsoft.com/office/drawing/2014/main" id="{FE383F6B-D695-47E6-A964-6FEF486F1A5A}"/>
              </a:ext>
            </a:extLst>
          </p:cNvPr>
          <p:cNvSpPr>
            <a:spLocks xmlns:a="http://schemas.openxmlformats.org/drawingml/2006/main" noGrp="1"/>
          </p:cNvSpPr>
          <p:nvPr/>
        </p:nvSpPr>
        <p:spPr>
          <a:xfrm xmlns:a="http://schemas.openxmlformats.org/drawingml/2006/main">
            <a:off x="6972300" y="1857375"/>
            <a:ext cx="4000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7202A"/>
                </a:solidFill>
                <a:latin typeface="Aptos"/>
                <a:ea typeface="Aptos"/>
                <a:cs typeface="Aptos"/>
              </a:defRPr>
            </a:pPr>
            <a:r>
              <a:rPr sz="2100" b="1">
                <a:solidFill>
                  <a:srgbClr val="17202A"/>
                </a:solidFill>
                <a:latin typeface="Aptos"/>
                <a:ea typeface="Aptos"/>
                <a:cs typeface="Aptos"/>
              </a:rPr>
              <a:t>New default</a:t>
            </a:r>
          </a:p>
        </p:txBody>
      </p:sp>
      <p:sp>
        <p:nvSpPr>
          <p:cNvPr id="20" name="">
            <a:extLst xmlns:a="http://schemas.openxmlformats.org/drawingml/2006/main">
              <a:ext uri="{FF2B5EF4-FFF2-40B4-BE49-F238E27FC236}">
                <a16:creationId xmlns:a16="http://schemas.microsoft.com/office/drawing/2014/main" id="{D7A9260C-B7C2-4C4D-BE98-2FD3F3839FA0}"/>
              </a:ext>
            </a:extLst>
          </p:cNvPr>
          <p:cNvSpPr>
            <a:spLocks xmlns:a="http://schemas.openxmlformats.org/drawingml/2006/main" noGrp="1"/>
          </p:cNvSpPr>
          <p:nvPr/>
        </p:nvSpPr>
        <p:spPr>
          <a:xfrm xmlns:a="http://schemas.openxmlformats.org/drawingml/2006/main">
            <a:off x="7048500" y="2543175"/>
            <a:ext cx="76200" cy="762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1C4B99F2-5B42-4E5D-AA3E-2AA338EECA42}"/>
              </a:ext>
            </a:extLst>
          </p:cNvPr>
          <p:cNvSpPr>
            <a:spLocks xmlns:a="http://schemas.openxmlformats.org/drawingml/2006/main" noGrp="1"/>
          </p:cNvSpPr>
          <p:nvPr/>
        </p:nvSpPr>
        <p:spPr>
          <a:xfrm xmlns:a="http://schemas.openxmlformats.org/drawingml/2006/main">
            <a:off x="7258050" y="2476500"/>
            <a:ext cx="3810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Ask Codex to map the repo.</a:t>
            </a:r>
          </a:p>
        </p:txBody>
      </p:sp>
      <p:sp>
        <p:nvSpPr>
          <p:cNvPr id="22" name="">
            <a:extLst xmlns:a="http://schemas.openxmlformats.org/drawingml/2006/main">
              <a:ext uri="{FF2B5EF4-FFF2-40B4-BE49-F238E27FC236}">
                <a16:creationId xmlns:a16="http://schemas.microsoft.com/office/drawing/2014/main" id="{6F131D7E-D5F6-4E9A-B31C-43A60CDD04D6}"/>
              </a:ext>
            </a:extLst>
          </p:cNvPr>
          <p:cNvSpPr>
            <a:spLocks xmlns:a="http://schemas.openxmlformats.org/drawingml/2006/main" noGrp="1"/>
          </p:cNvSpPr>
          <p:nvPr/>
        </p:nvSpPr>
        <p:spPr>
          <a:xfrm xmlns:a="http://schemas.openxmlformats.org/drawingml/2006/main">
            <a:off x="7048500" y="3000375"/>
            <a:ext cx="76200" cy="762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992B7DA9-E96E-438A-887F-18CDCB9AD0F2}"/>
              </a:ext>
            </a:extLst>
          </p:cNvPr>
          <p:cNvSpPr>
            <a:spLocks xmlns:a="http://schemas.openxmlformats.org/drawingml/2006/main" noGrp="1"/>
          </p:cNvSpPr>
          <p:nvPr/>
        </p:nvSpPr>
        <p:spPr>
          <a:xfrm xmlns:a="http://schemas.openxmlformats.org/drawingml/2006/main">
            <a:off x="7258050" y="2933700"/>
            <a:ext cx="3810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Force file citations and commands.</a:t>
            </a:r>
          </a:p>
        </p:txBody>
      </p:sp>
      <p:sp>
        <p:nvSpPr>
          <p:cNvPr id="24" name="">
            <a:extLst xmlns:a="http://schemas.openxmlformats.org/drawingml/2006/main">
              <a:ext uri="{FF2B5EF4-FFF2-40B4-BE49-F238E27FC236}">
                <a16:creationId xmlns:a16="http://schemas.microsoft.com/office/drawing/2014/main" id="{C2BF65E5-5CEC-41A3-831B-5B738913C54B}"/>
              </a:ext>
            </a:extLst>
          </p:cNvPr>
          <p:cNvSpPr>
            <a:spLocks xmlns:a="http://schemas.openxmlformats.org/drawingml/2006/main" noGrp="1"/>
          </p:cNvSpPr>
          <p:nvPr/>
        </p:nvSpPr>
        <p:spPr>
          <a:xfrm xmlns:a="http://schemas.openxmlformats.org/drawingml/2006/main">
            <a:off x="7048500" y="3457575"/>
            <a:ext cx="76200" cy="762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D0B99D8F-5357-4B23-B8F1-A5E45F001AD9}"/>
              </a:ext>
            </a:extLst>
          </p:cNvPr>
          <p:cNvSpPr>
            <a:spLocks xmlns:a="http://schemas.openxmlformats.org/drawingml/2006/main" noGrp="1"/>
          </p:cNvSpPr>
          <p:nvPr/>
        </p:nvSpPr>
        <p:spPr>
          <a:xfrm xmlns:a="http://schemas.openxmlformats.org/drawingml/2006/main">
            <a:off x="7258050" y="3390900"/>
            <a:ext cx="3810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Diagram data flow before code.</a:t>
            </a:r>
          </a:p>
        </p:txBody>
      </p:sp>
      <p:sp>
        <p:nvSpPr>
          <p:cNvPr id="26" name="">
            <a:extLst xmlns:a="http://schemas.openxmlformats.org/drawingml/2006/main">
              <a:ext uri="{FF2B5EF4-FFF2-40B4-BE49-F238E27FC236}">
                <a16:creationId xmlns:a16="http://schemas.microsoft.com/office/drawing/2014/main" id="{4180A3F2-64DE-41E2-A686-48791BFFE752}"/>
              </a:ext>
            </a:extLst>
          </p:cNvPr>
          <p:cNvSpPr>
            <a:spLocks xmlns:a="http://schemas.openxmlformats.org/drawingml/2006/main" noGrp="1"/>
          </p:cNvSpPr>
          <p:nvPr/>
        </p:nvSpPr>
        <p:spPr>
          <a:xfrm xmlns:a="http://schemas.openxmlformats.org/drawingml/2006/main">
            <a:off x="7048500" y="3914775"/>
            <a:ext cx="76200" cy="762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8E513DB3-086B-4472-97F5-8F6AE350883A}"/>
              </a:ext>
            </a:extLst>
          </p:cNvPr>
          <p:cNvSpPr>
            <a:spLocks xmlns:a="http://schemas.openxmlformats.org/drawingml/2006/main" noGrp="1"/>
          </p:cNvSpPr>
          <p:nvPr/>
        </p:nvSpPr>
        <p:spPr>
          <a:xfrm xmlns:a="http://schemas.openxmlformats.org/drawingml/2006/main">
            <a:off x="7258050" y="3848100"/>
            <a:ext cx="3810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Let tests and diffs decide truth.</a:t>
            </a:r>
          </a:p>
        </p:txBody>
      </p:sp>
      <p:sp>
        <p:nvSpPr>
          <p:cNvPr id="28" name="">
            <a:extLst xmlns:a="http://schemas.openxmlformats.org/drawingml/2006/main">
              <a:ext uri="{FF2B5EF4-FFF2-40B4-BE49-F238E27FC236}">
                <a16:creationId xmlns:a16="http://schemas.microsoft.com/office/drawing/2014/main" id="{310F98A5-AC16-4B5A-82AD-23D4C8F88104}"/>
              </a:ext>
            </a:extLst>
          </p:cNvPr>
          <p:cNvSpPr>
            <a:spLocks xmlns:a="http://schemas.openxmlformats.org/drawingml/2006/main" noGrp="1"/>
          </p:cNvSpPr>
          <p:nvPr/>
        </p:nvSpPr>
        <p:spPr>
          <a:xfrm xmlns:a="http://schemas.openxmlformats.org/drawingml/2006/main">
            <a:off x="7048500" y="4371975"/>
            <a:ext cx="76200" cy="762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781AA7EE-C70C-4413-9DFA-6020331BE5DF}"/>
              </a:ext>
            </a:extLst>
          </p:cNvPr>
          <p:cNvSpPr>
            <a:spLocks xmlns:a="http://schemas.openxmlformats.org/drawingml/2006/main" noGrp="1"/>
          </p:cNvSpPr>
          <p:nvPr/>
        </p:nvSpPr>
        <p:spPr>
          <a:xfrm xmlns:a="http://schemas.openxmlformats.org/drawingml/2006/main">
            <a:off x="7258050" y="4305300"/>
            <a:ext cx="3810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7202A"/>
                </a:solidFill>
                <a:latin typeface="Aptos"/>
                <a:ea typeface="Aptos"/>
                <a:cs typeface="Aptos"/>
              </a:defRPr>
            </a:pPr>
            <a:r>
              <a:rPr sz="1350" b="0">
                <a:solidFill>
                  <a:srgbClr val="17202A"/>
                </a:solidFill>
                <a:latin typeface="Aptos"/>
                <a:ea typeface="Aptos"/>
                <a:cs typeface="Aptos"/>
              </a:rPr>
              <a:t>Escalate with evidence and recommendation.</a:t>
            </a:r>
          </a:p>
        </p:txBody>
      </p:sp>
      <p:sp>
        <p:nvSpPr>
          <p:cNvPr id="30" name="">
            <a:extLst xmlns:a="http://schemas.openxmlformats.org/drawingml/2006/main">
              <a:ext uri="{FF2B5EF4-FFF2-40B4-BE49-F238E27FC236}">
                <a16:creationId xmlns:a16="http://schemas.microsoft.com/office/drawing/2014/main" id="{F8E67F0E-5528-4929-B0A4-20E8CBADAA52}"/>
              </a:ext>
            </a:extLst>
          </p:cNvPr>
          <p:cNvSpPr>
            <a:spLocks xmlns:a="http://schemas.openxmlformats.org/drawingml/2006/main" noGrp="1"/>
          </p:cNvSpPr>
          <p:nvPr/>
        </p:nvSpPr>
        <p:spPr>
          <a:xfrm xmlns:a="http://schemas.openxmlformats.org/drawingml/2006/main">
            <a:off x="647700" y="6362700"/>
            <a:ext cx="10363200" cy="9525"/>
          </a:xfrm>
          <a:prstGeom xmlns:a="http://schemas.openxmlformats.org/drawingml/2006/main" prst="rect">
            <a:avLst/>
          </a:prstGeom>
          <a:solidFill xmlns:a="http://schemas.openxmlformats.org/drawingml/2006/main">
            <a:srgbClr val="D9D4C7"/>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F6616FA0-753A-44C6-BBE2-B44AF4C7C4C5}"/>
              </a:ext>
            </a:extLst>
          </p:cNvPr>
          <p:cNvSpPr>
            <a:spLocks xmlns:a="http://schemas.openxmlformats.org/drawingml/2006/main" noGrp="1"/>
          </p:cNvSpPr>
          <p:nvPr/>
        </p:nvSpPr>
        <p:spPr>
          <a:xfrm xmlns:a="http://schemas.openxmlformats.org/drawingml/2006/main">
            <a:off x="647700" y="64579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673"/>
                </a:solidFill>
                <a:latin typeface="Aptos"/>
                <a:ea typeface="Aptos"/>
                <a:cs typeface="Aptos"/>
              </a:defRPr>
            </a:pPr>
            <a:r>
              <a:rPr sz="975" b="0">
                <a:solidFill>
                  <a:srgbClr val="5B6673"/>
                </a:solidFill>
                <a:latin typeface="Aptos"/>
                <a:ea typeface="Aptos"/>
                <a:cs typeface="Aptos"/>
              </a:rPr>
              <a:t>PearlPortal intern onboarding</a:t>
            </a:r>
          </a:p>
        </p:txBody>
      </p:sp>
      <p:sp>
        <p:nvSpPr>
          <p:cNvPr id="32" name="">
            <a:extLst xmlns:a="http://schemas.openxmlformats.org/drawingml/2006/main">
              <a:ext uri="{FF2B5EF4-FFF2-40B4-BE49-F238E27FC236}">
                <a16:creationId xmlns:a16="http://schemas.microsoft.com/office/drawing/2014/main" id="{FCE18AC1-832A-4C7D-8753-5BE8EA682869}"/>
              </a:ext>
            </a:extLst>
          </p:cNvPr>
          <p:cNvSpPr>
            <a:spLocks xmlns:a="http://schemas.openxmlformats.org/drawingml/2006/main" noGrp="1"/>
          </p:cNvSpPr>
          <p:nvPr/>
        </p:nvSpPr>
        <p:spPr>
          <a:xfrm xmlns:a="http://schemas.openxmlformats.org/drawingml/2006/main">
            <a:off x="10382250" y="64579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673"/>
                </a:solidFill>
                <a:latin typeface="Aptos"/>
                <a:ea typeface="Aptos"/>
                <a:cs typeface="Aptos"/>
              </a:defRPr>
            </a:pPr>
            <a:r>
              <a:rPr sz="975" b="0">
                <a:solidFill>
                  <a:srgbClr val="5B6673"/>
                </a:solidFill>
                <a:latin typeface="Aptos"/>
                <a:ea typeface="Aptos"/>
                <a:cs typeface="Aptos"/>
              </a:rPr>
              <a:t>09</a:t>
            </a:r>
          </a:p>
        </p:txBody>
      </p:sp>
    </p:spTree>
    <p:extLst>
      <p:ext uri="{BB962C8B-B14F-4D97-AF65-F5344CB8AC3E}">
        <p14:creationId xmlns:p14="http://schemas.microsoft.com/office/powerpoint/2010/main" val="52627152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A26E74D-26F3-4498-9B73-B207FD99A5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6E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697A36B-D7F2-4EBB-AB0D-9CFBD8036AE6}"/>
              </a:ext>
            </a:extLst>
          </p:cNvPr>
          <p:cNvSpPr>
            <a:spLocks xmlns:a="http://schemas.openxmlformats.org/drawingml/2006/main" noGrp="1"/>
          </p:cNvSpPr>
          <p:nvPr/>
        </p:nvSpPr>
        <p:spPr>
          <a:xfrm xmlns:a="http://schemas.openxmlformats.org/drawingml/2006/main">
            <a:off x="419100" y="381000"/>
            <a:ext cx="47625" cy="876300"/>
          </a:xfrm>
          <a:prstGeom xmlns:a="http://schemas.openxmlformats.org/drawingml/2006/main" prst="rect">
            <a:avLst/>
          </a:prstGeom>
          <a:solidFill xmlns:a="http://schemas.openxmlformats.org/drawingml/2006/main">
            <a:srgbClr val="C4553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62D437A-7CD4-4129-9BE3-0FC615CE54BA}"/>
              </a:ext>
            </a:extLst>
          </p:cNvPr>
          <p:cNvSpPr>
            <a:spLocks xmlns:a="http://schemas.openxmlformats.org/drawingml/2006/main" noGrp="1"/>
          </p:cNvSpPr>
          <p:nvPr/>
        </p:nvSpPr>
        <p:spPr>
          <a:xfrm xmlns:a="http://schemas.openxmlformats.org/drawingml/2006/main">
            <a:off x="647700" y="400050"/>
            <a:ext cx="704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C4553F"/>
                </a:solidFill>
                <a:latin typeface="Aptos"/>
                <a:ea typeface="Aptos"/>
                <a:cs typeface="Aptos"/>
              </a:defRPr>
            </a:pPr>
            <a:r>
              <a:rPr sz="1200" b="1">
                <a:solidFill>
                  <a:srgbClr val="C4553F"/>
                </a:solidFill>
                <a:latin typeface="Aptos"/>
                <a:ea typeface="Aptos"/>
                <a:cs typeface="Aptos"/>
              </a:rPr>
              <a:t>WHERE THIS IS HEADED</a:t>
            </a:r>
          </a:p>
        </p:txBody>
      </p:sp>
      <p:sp>
        <p:nvSpPr>
          <p:cNvPr id="4" name="">
            <a:extLst xmlns:a="http://schemas.openxmlformats.org/drawingml/2006/main">
              <a:ext uri="{FF2B5EF4-FFF2-40B4-BE49-F238E27FC236}">
                <a16:creationId xmlns:a16="http://schemas.microsoft.com/office/drawing/2014/main" id="{94C3ADA2-2980-46DE-BE7C-10DFBD95C3B1}"/>
              </a:ext>
            </a:extLst>
          </p:cNvPr>
          <p:cNvSpPr>
            <a:spLocks xmlns:a="http://schemas.openxmlformats.org/drawingml/2006/main" noGrp="1"/>
          </p:cNvSpPr>
          <p:nvPr/>
        </p:nvSpPr>
        <p:spPr>
          <a:xfrm xmlns:a="http://schemas.openxmlformats.org/drawingml/2006/main">
            <a:off x="647700" y="666750"/>
            <a:ext cx="7810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A"/>
                </a:solidFill>
                <a:latin typeface="Aptos"/>
                <a:ea typeface="Aptos"/>
                <a:cs typeface="Aptos"/>
              </a:defRPr>
            </a:pPr>
            <a:r>
              <a:rPr sz="3000" b="1">
                <a:solidFill>
                  <a:srgbClr val="17202A"/>
                </a:solidFill>
                <a:latin typeface="Aptos"/>
                <a:ea typeface="Aptos"/>
                <a:cs typeface="Aptos"/>
              </a:rPr>
              <a:t>Future teams look like agent control rooms</a:t>
            </a:r>
          </a:p>
        </p:txBody>
      </p:sp>
      <p:sp>
        <p:nvSpPr>
          <p:cNvPr id="5" name="">
            <a:extLst xmlns:a="http://schemas.openxmlformats.org/drawingml/2006/main">
              <a:ext uri="{FF2B5EF4-FFF2-40B4-BE49-F238E27FC236}">
                <a16:creationId xmlns:a16="http://schemas.microsoft.com/office/drawing/2014/main" id="{43AAB9A4-C13A-41AB-830D-C3248ADF55F1}"/>
              </a:ext>
            </a:extLst>
          </p:cNvPr>
          <p:cNvSpPr>
            <a:spLocks xmlns:a="http://schemas.openxmlformats.org/drawingml/2006/main" noGrp="1"/>
          </p:cNvSpPr>
          <p:nvPr/>
        </p:nvSpPr>
        <p:spPr>
          <a:xfrm xmlns:a="http://schemas.openxmlformats.org/drawingml/2006/main">
            <a:off x="10001250" y="419100"/>
            <a:ext cx="1657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B6673"/>
                </a:solidFill>
                <a:latin typeface="Aptos"/>
                <a:ea typeface="Aptos"/>
                <a:cs typeface="Aptos"/>
              </a:defRPr>
            </a:pPr>
            <a:r>
              <a:rPr sz="1125" b="0">
                <a:solidFill>
                  <a:srgbClr val="5B6673"/>
                </a:solidFill>
                <a:latin typeface="Aptos"/>
                <a:ea typeface="Aptos"/>
                <a:cs typeface="Aptos"/>
              </a:rPr>
              <a:t>2026-05-04</a:t>
            </a:r>
          </a:p>
        </p:txBody>
      </p:sp>
      <p:sp>
        <p:nvSpPr>
          <p:cNvPr id="6" name="">
            <a:extLst xmlns:a="http://schemas.openxmlformats.org/drawingml/2006/main">
              <a:ext uri="{FF2B5EF4-FFF2-40B4-BE49-F238E27FC236}">
                <a16:creationId xmlns:a16="http://schemas.microsoft.com/office/drawing/2014/main" id="{9DA8C61B-B884-4642-B865-C3FA37A30FE2}"/>
              </a:ext>
            </a:extLst>
          </p:cNvPr>
          <p:cNvSpPr>
            <a:spLocks xmlns:a="http://schemas.openxmlformats.org/drawingml/2006/main" noGrp="1"/>
          </p:cNvSpPr>
          <p:nvPr/>
        </p:nvSpPr>
        <p:spPr>
          <a:xfrm xmlns:a="http://schemas.openxmlformats.org/drawingml/2006/main">
            <a:off x="723900" y="1476375"/>
            <a:ext cx="4953000" cy="1314450"/>
          </a:xfrm>
          <a:prstGeom xmlns:a="http://schemas.openxmlformats.org/drawingml/2006/main" prst="rect">
            <a:avLst/>
          </a:prstGeom>
          <a:solidFill xmlns:a="http://schemas.openxmlformats.org/drawingml/2006/main">
            <a:srgbClr val="F5DDD5"/>
          </a:solidFill>
          <a:ln xmlns:a="http://schemas.openxmlformats.org/drawingml/2006/main" w="9525">
            <a:solidFill>
              <a:srgbClr val="D9D4C7"/>
            </a:solidFill>
            <a:prstDash val="solid"/>
          </a:ln>
        </p:spPr>
      </p:sp>
      <p:sp>
        <p:nvSpPr>
          <p:cNvPr id="7" name="">
            <a:extLst xmlns:a="http://schemas.openxmlformats.org/drawingml/2006/main">
              <a:ext uri="{FF2B5EF4-FFF2-40B4-BE49-F238E27FC236}">
                <a16:creationId xmlns:a16="http://schemas.microsoft.com/office/drawing/2014/main" id="{0D140882-D594-4DD2-A0D4-1CE26F9A93C5}"/>
              </a:ext>
            </a:extLst>
          </p:cNvPr>
          <p:cNvSpPr>
            <a:spLocks xmlns:a="http://schemas.openxmlformats.org/drawingml/2006/main" noGrp="1"/>
          </p:cNvSpPr>
          <p:nvPr/>
        </p:nvSpPr>
        <p:spPr>
          <a:xfrm xmlns:a="http://schemas.openxmlformats.org/drawingml/2006/main">
            <a:off x="723900" y="1476375"/>
            <a:ext cx="47625" cy="1314450"/>
          </a:xfrm>
          <a:prstGeom xmlns:a="http://schemas.openxmlformats.org/drawingml/2006/main" prst="rect">
            <a:avLst/>
          </a:prstGeom>
          <a:solidFill xmlns:a="http://schemas.openxmlformats.org/drawingml/2006/main">
            <a:srgbClr val="C4553F"/>
          </a:solidFill>
          <a:ln xmlns:a="http://schemas.openxmlformats.org/drawingml/2006/main" w="9525">
            <a:solidFill>
              <a:srgbClr val="C4553F"/>
            </a:solidFill>
            <a:prstDash val="solid"/>
          </a:ln>
        </p:spPr>
      </p:sp>
      <p:sp>
        <p:nvSpPr>
          <p:cNvPr id="8" name="">
            <a:extLst xmlns:a="http://schemas.openxmlformats.org/drawingml/2006/main">
              <a:ext uri="{FF2B5EF4-FFF2-40B4-BE49-F238E27FC236}">
                <a16:creationId xmlns:a16="http://schemas.microsoft.com/office/drawing/2014/main" id="{B2EDAFD3-DF60-41D7-9EC1-E5313D0BDB7A}"/>
              </a:ext>
            </a:extLst>
          </p:cNvPr>
          <p:cNvSpPr>
            <a:spLocks xmlns:a="http://schemas.openxmlformats.org/drawingml/2006/main" noGrp="1"/>
          </p:cNvSpPr>
          <p:nvPr/>
        </p:nvSpPr>
        <p:spPr>
          <a:xfrm xmlns:a="http://schemas.openxmlformats.org/drawingml/2006/main">
            <a:off x="933450" y="1647825"/>
            <a:ext cx="4533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Raw work capture</a:t>
            </a:r>
          </a:p>
        </p:txBody>
      </p:sp>
      <p:sp>
        <p:nvSpPr>
          <p:cNvPr id="9" name="">
            <a:extLst xmlns:a="http://schemas.openxmlformats.org/drawingml/2006/main">
              <a:ext uri="{FF2B5EF4-FFF2-40B4-BE49-F238E27FC236}">
                <a16:creationId xmlns:a16="http://schemas.microsoft.com/office/drawing/2014/main" id="{0CF4CF8B-D7FA-42C4-848A-93D5D895C0F6}"/>
              </a:ext>
            </a:extLst>
          </p:cNvPr>
          <p:cNvSpPr>
            <a:spLocks xmlns:a="http://schemas.openxmlformats.org/drawingml/2006/main" noGrp="1"/>
          </p:cNvSpPr>
          <p:nvPr/>
        </p:nvSpPr>
        <p:spPr>
          <a:xfrm xmlns:a="http://schemas.openxmlformats.org/drawingml/2006/main">
            <a:off x="933450" y="2009775"/>
            <a:ext cx="45339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Prompts, tool calls, diffs, tests, decisions, blocked states, and outcomes become observable material.</a:t>
            </a:r>
          </a:p>
        </p:txBody>
      </p:sp>
      <p:sp>
        <p:nvSpPr>
          <p:cNvPr id="10" name="">
            <a:extLst xmlns:a="http://schemas.openxmlformats.org/drawingml/2006/main">
              <a:ext uri="{FF2B5EF4-FFF2-40B4-BE49-F238E27FC236}">
                <a16:creationId xmlns:a16="http://schemas.microsoft.com/office/drawing/2014/main" id="{B030DE5D-8F15-4FF4-8367-6AA27B65CDCF}"/>
              </a:ext>
            </a:extLst>
          </p:cNvPr>
          <p:cNvSpPr>
            <a:spLocks xmlns:a="http://schemas.openxmlformats.org/drawingml/2006/main" noGrp="1"/>
          </p:cNvSpPr>
          <p:nvPr/>
        </p:nvSpPr>
        <p:spPr>
          <a:xfrm xmlns:a="http://schemas.openxmlformats.org/drawingml/2006/main">
            <a:off x="6438900" y="1476375"/>
            <a:ext cx="4953000" cy="1314450"/>
          </a:xfrm>
          <a:prstGeom xmlns:a="http://schemas.openxmlformats.org/drawingml/2006/main" prst="rect">
            <a:avLst/>
          </a:prstGeom>
          <a:solidFill xmlns:a="http://schemas.openxmlformats.org/drawingml/2006/main">
            <a:srgbClr val="D8F3EE"/>
          </a:solidFill>
          <a:ln xmlns:a="http://schemas.openxmlformats.org/drawingml/2006/main" w="9525">
            <a:solidFill>
              <a:srgbClr val="D9D4C7"/>
            </a:solidFill>
            <a:prstDash val="solid"/>
          </a:ln>
        </p:spPr>
      </p:sp>
      <p:sp>
        <p:nvSpPr>
          <p:cNvPr id="11" name="">
            <a:extLst xmlns:a="http://schemas.openxmlformats.org/drawingml/2006/main">
              <a:ext uri="{FF2B5EF4-FFF2-40B4-BE49-F238E27FC236}">
                <a16:creationId xmlns:a16="http://schemas.microsoft.com/office/drawing/2014/main" id="{E665869E-B3D4-4939-9884-EEAA622FF143}"/>
              </a:ext>
            </a:extLst>
          </p:cNvPr>
          <p:cNvSpPr>
            <a:spLocks xmlns:a="http://schemas.openxmlformats.org/drawingml/2006/main" noGrp="1"/>
          </p:cNvSpPr>
          <p:nvPr/>
        </p:nvSpPr>
        <p:spPr>
          <a:xfrm xmlns:a="http://schemas.openxmlformats.org/drawingml/2006/main">
            <a:off x="6438900" y="1476375"/>
            <a:ext cx="47625" cy="13144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2" name="">
            <a:extLst xmlns:a="http://schemas.openxmlformats.org/drawingml/2006/main">
              <a:ext uri="{FF2B5EF4-FFF2-40B4-BE49-F238E27FC236}">
                <a16:creationId xmlns:a16="http://schemas.microsoft.com/office/drawing/2014/main" id="{598BDFD0-E89B-4409-8C52-82DA8A1C99B2}"/>
              </a:ext>
            </a:extLst>
          </p:cNvPr>
          <p:cNvSpPr>
            <a:spLocks xmlns:a="http://schemas.openxmlformats.org/drawingml/2006/main" noGrp="1"/>
          </p:cNvSpPr>
          <p:nvPr/>
        </p:nvSpPr>
        <p:spPr>
          <a:xfrm xmlns:a="http://schemas.openxmlformats.org/drawingml/2006/main">
            <a:off x="6648450" y="1647825"/>
            <a:ext cx="4533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Analysis layer</a:t>
            </a:r>
          </a:p>
        </p:txBody>
      </p:sp>
      <p:sp>
        <p:nvSpPr>
          <p:cNvPr id="13" name="">
            <a:extLst xmlns:a="http://schemas.openxmlformats.org/drawingml/2006/main">
              <a:ext uri="{FF2B5EF4-FFF2-40B4-BE49-F238E27FC236}">
                <a16:creationId xmlns:a16="http://schemas.microsoft.com/office/drawing/2014/main" id="{3382BDB7-860C-486F-BB53-0ED75298A978}"/>
              </a:ext>
            </a:extLst>
          </p:cNvPr>
          <p:cNvSpPr>
            <a:spLocks xmlns:a="http://schemas.openxmlformats.org/drawingml/2006/main" noGrp="1"/>
          </p:cNvSpPr>
          <p:nvPr/>
        </p:nvSpPr>
        <p:spPr>
          <a:xfrm xmlns:a="http://schemas.openxmlformats.org/drawingml/2006/main">
            <a:off x="6648450" y="2009775"/>
            <a:ext cx="45339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Weekly retros, model routing, evals, coaching, and audit trails sit on top of raw captured work.</a:t>
            </a:r>
          </a:p>
        </p:txBody>
      </p:sp>
      <p:sp>
        <p:nvSpPr>
          <p:cNvPr id="14" name="">
            <a:extLst xmlns:a="http://schemas.openxmlformats.org/drawingml/2006/main">
              <a:ext uri="{FF2B5EF4-FFF2-40B4-BE49-F238E27FC236}">
                <a16:creationId xmlns:a16="http://schemas.microsoft.com/office/drawing/2014/main" id="{591AAC45-B50E-4D63-A2B5-576DCDB6BBF2}"/>
              </a:ext>
            </a:extLst>
          </p:cNvPr>
          <p:cNvSpPr>
            <a:spLocks xmlns:a="http://schemas.openxmlformats.org/drawingml/2006/main" noGrp="1"/>
          </p:cNvSpPr>
          <p:nvPr/>
        </p:nvSpPr>
        <p:spPr>
          <a:xfrm xmlns:a="http://schemas.openxmlformats.org/drawingml/2006/main">
            <a:off x="723900" y="3190875"/>
            <a:ext cx="3190875" cy="1381125"/>
          </a:xfrm>
          <a:prstGeom xmlns:a="http://schemas.openxmlformats.org/drawingml/2006/main" prst="rect">
            <a:avLst/>
          </a:prstGeom>
          <a:solidFill xmlns:a="http://schemas.openxmlformats.org/drawingml/2006/main">
            <a:srgbClr val="E4DFF4"/>
          </a:solidFill>
          <a:ln xmlns:a="http://schemas.openxmlformats.org/drawingml/2006/main" w="9525">
            <a:solidFill>
              <a:srgbClr val="D9D4C7"/>
            </a:solidFill>
            <a:prstDash val="solid"/>
          </a:ln>
        </p:spPr>
      </p:sp>
      <p:sp>
        <p:nvSpPr>
          <p:cNvPr id="15" name="">
            <a:extLst xmlns:a="http://schemas.openxmlformats.org/drawingml/2006/main">
              <a:ext uri="{FF2B5EF4-FFF2-40B4-BE49-F238E27FC236}">
                <a16:creationId xmlns:a16="http://schemas.microsoft.com/office/drawing/2014/main" id="{B5617A7D-B45A-41E1-AB70-5CBE1A1B2C82}"/>
              </a:ext>
            </a:extLst>
          </p:cNvPr>
          <p:cNvSpPr>
            <a:spLocks xmlns:a="http://schemas.openxmlformats.org/drawingml/2006/main" noGrp="1"/>
          </p:cNvSpPr>
          <p:nvPr/>
        </p:nvSpPr>
        <p:spPr>
          <a:xfrm xmlns:a="http://schemas.openxmlformats.org/drawingml/2006/main">
            <a:off x="723900" y="3190875"/>
            <a:ext cx="47625" cy="1381125"/>
          </a:xfrm>
          <a:prstGeom xmlns:a="http://schemas.openxmlformats.org/drawingml/2006/main" prst="rect">
            <a:avLst/>
          </a:prstGeom>
          <a:solidFill xmlns:a="http://schemas.openxmlformats.org/drawingml/2006/main">
            <a:srgbClr val="5B4B8A"/>
          </a:solidFill>
          <a:ln xmlns:a="http://schemas.openxmlformats.org/drawingml/2006/main" w="9525">
            <a:solidFill>
              <a:srgbClr val="5B4B8A"/>
            </a:solidFill>
            <a:prstDash val="solid"/>
          </a:ln>
        </p:spPr>
      </p:sp>
      <p:sp>
        <p:nvSpPr>
          <p:cNvPr id="16" name="">
            <a:extLst xmlns:a="http://schemas.openxmlformats.org/drawingml/2006/main">
              <a:ext uri="{FF2B5EF4-FFF2-40B4-BE49-F238E27FC236}">
                <a16:creationId xmlns:a16="http://schemas.microsoft.com/office/drawing/2014/main" id="{2028030E-0FA3-4756-8F1A-C04F268A5092}"/>
              </a:ext>
            </a:extLst>
          </p:cNvPr>
          <p:cNvSpPr>
            <a:spLocks xmlns:a="http://schemas.openxmlformats.org/drawingml/2006/main" noGrp="1"/>
          </p:cNvSpPr>
          <p:nvPr/>
        </p:nvSpPr>
        <p:spPr>
          <a:xfrm xmlns:a="http://schemas.openxmlformats.org/drawingml/2006/main">
            <a:off x="933450" y="3362325"/>
            <a:ext cx="277177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Model routing</a:t>
            </a:r>
          </a:p>
        </p:txBody>
      </p:sp>
      <p:sp>
        <p:nvSpPr>
          <p:cNvPr id="17" name="">
            <a:extLst xmlns:a="http://schemas.openxmlformats.org/drawingml/2006/main">
              <a:ext uri="{FF2B5EF4-FFF2-40B4-BE49-F238E27FC236}">
                <a16:creationId xmlns:a16="http://schemas.microsoft.com/office/drawing/2014/main" id="{B40F7B0B-664A-45FE-B307-91FA781A91D7}"/>
              </a:ext>
            </a:extLst>
          </p:cNvPr>
          <p:cNvSpPr>
            <a:spLocks xmlns:a="http://schemas.openxmlformats.org/drawingml/2006/main" noGrp="1"/>
          </p:cNvSpPr>
          <p:nvPr/>
        </p:nvSpPr>
        <p:spPr>
          <a:xfrm xmlns:a="http://schemas.openxmlformats.org/drawingml/2006/main">
            <a:off x="933450" y="3724275"/>
            <a:ext cx="2771775" cy="714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Codex for hard coding. Claude/design tools when taste wins. Cheaper models only when evals prove enough quality.</a:t>
            </a:r>
          </a:p>
        </p:txBody>
      </p:sp>
      <p:sp>
        <p:nvSpPr>
          <p:cNvPr id="18" name="">
            <a:extLst xmlns:a="http://schemas.openxmlformats.org/drawingml/2006/main">
              <a:ext uri="{FF2B5EF4-FFF2-40B4-BE49-F238E27FC236}">
                <a16:creationId xmlns:a16="http://schemas.microsoft.com/office/drawing/2014/main" id="{6003A05E-EDBE-4337-9D19-5AAFCECE2447}"/>
              </a:ext>
            </a:extLst>
          </p:cNvPr>
          <p:cNvSpPr>
            <a:spLocks xmlns:a="http://schemas.openxmlformats.org/drawingml/2006/main" noGrp="1"/>
          </p:cNvSpPr>
          <p:nvPr/>
        </p:nvSpPr>
        <p:spPr>
          <a:xfrm xmlns:a="http://schemas.openxmlformats.org/drawingml/2006/main">
            <a:off x="4495800" y="3190875"/>
            <a:ext cx="3190875" cy="1381125"/>
          </a:xfrm>
          <a:prstGeom xmlns:a="http://schemas.openxmlformats.org/drawingml/2006/main" prst="rect">
            <a:avLst/>
          </a:prstGeom>
          <a:solidFill xmlns:a="http://schemas.openxmlformats.org/drawingml/2006/main">
            <a:srgbClr val="E6EBD2"/>
          </a:solidFill>
          <a:ln xmlns:a="http://schemas.openxmlformats.org/drawingml/2006/main" w="9525">
            <a:solidFill>
              <a:srgbClr val="D9D4C7"/>
            </a:solidFill>
            <a:prstDash val="solid"/>
          </a:ln>
        </p:spPr>
      </p:sp>
      <p:sp>
        <p:nvSpPr>
          <p:cNvPr id="19" name="">
            <a:extLst xmlns:a="http://schemas.openxmlformats.org/drawingml/2006/main">
              <a:ext uri="{FF2B5EF4-FFF2-40B4-BE49-F238E27FC236}">
                <a16:creationId xmlns:a16="http://schemas.microsoft.com/office/drawing/2014/main" id="{88C22A2F-0712-48F6-9B0A-223D0B75E5BB}"/>
              </a:ext>
            </a:extLst>
          </p:cNvPr>
          <p:cNvSpPr>
            <a:spLocks xmlns:a="http://schemas.openxmlformats.org/drawingml/2006/main" noGrp="1"/>
          </p:cNvSpPr>
          <p:nvPr/>
        </p:nvSpPr>
        <p:spPr>
          <a:xfrm xmlns:a="http://schemas.openxmlformats.org/drawingml/2006/main">
            <a:off x="4495800" y="3190875"/>
            <a:ext cx="47625" cy="1381125"/>
          </a:xfrm>
          <a:prstGeom xmlns:a="http://schemas.openxmlformats.org/drawingml/2006/main" prst="rect">
            <a:avLst/>
          </a:prstGeom>
          <a:solidFill xmlns:a="http://schemas.openxmlformats.org/drawingml/2006/main">
            <a:srgbClr val="556B2F"/>
          </a:solidFill>
          <a:ln xmlns:a="http://schemas.openxmlformats.org/drawingml/2006/main" w="9525">
            <a:solidFill>
              <a:srgbClr val="556B2F"/>
            </a:solidFill>
            <a:prstDash val="solid"/>
          </a:ln>
        </p:spPr>
      </p:sp>
      <p:sp>
        <p:nvSpPr>
          <p:cNvPr id="20" name="">
            <a:extLst xmlns:a="http://schemas.openxmlformats.org/drawingml/2006/main">
              <a:ext uri="{FF2B5EF4-FFF2-40B4-BE49-F238E27FC236}">
                <a16:creationId xmlns:a16="http://schemas.microsoft.com/office/drawing/2014/main" id="{03E16A35-DC2B-4E81-9AE1-F92A5F55092C}"/>
              </a:ext>
            </a:extLst>
          </p:cNvPr>
          <p:cNvSpPr>
            <a:spLocks xmlns:a="http://schemas.openxmlformats.org/drawingml/2006/main" noGrp="1"/>
          </p:cNvSpPr>
          <p:nvPr/>
        </p:nvSpPr>
        <p:spPr>
          <a:xfrm xmlns:a="http://schemas.openxmlformats.org/drawingml/2006/main">
            <a:off x="4705350" y="3362325"/>
            <a:ext cx="277177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Manager cockpit</a:t>
            </a:r>
          </a:p>
        </p:txBody>
      </p:sp>
      <p:sp>
        <p:nvSpPr>
          <p:cNvPr id="21" name="">
            <a:extLst xmlns:a="http://schemas.openxmlformats.org/drawingml/2006/main">
              <a:ext uri="{FF2B5EF4-FFF2-40B4-BE49-F238E27FC236}">
                <a16:creationId xmlns:a16="http://schemas.microsoft.com/office/drawing/2014/main" id="{BD664160-27B5-4B1C-8233-FB95562F6A9F}"/>
              </a:ext>
            </a:extLst>
          </p:cNvPr>
          <p:cNvSpPr>
            <a:spLocks xmlns:a="http://schemas.openxmlformats.org/drawingml/2006/main" noGrp="1"/>
          </p:cNvSpPr>
          <p:nvPr/>
        </p:nvSpPr>
        <p:spPr>
          <a:xfrm xmlns:a="http://schemas.openxmlformats.org/drawingml/2006/main">
            <a:off x="4705350" y="3724275"/>
            <a:ext cx="2771775" cy="714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Know who is stuck, who ignores rules, who asks good questions, and where the system itself is confusing.</a:t>
            </a:r>
          </a:p>
        </p:txBody>
      </p:sp>
      <p:sp>
        <p:nvSpPr>
          <p:cNvPr id="22" name="">
            <a:extLst xmlns:a="http://schemas.openxmlformats.org/drawingml/2006/main">
              <a:ext uri="{FF2B5EF4-FFF2-40B4-BE49-F238E27FC236}">
                <a16:creationId xmlns:a16="http://schemas.microsoft.com/office/drawing/2014/main" id="{6D583EC6-2FAB-4D98-81C2-86D6A96B8977}"/>
              </a:ext>
            </a:extLst>
          </p:cNvPr>
          <p:cNvSpPr>
            <a:spLocks xmlns:a="http://schemas.openxmlformats.org/drawingml/2006/main" noGrp="1"/>
          </p:cNvSpPr>
          <p:nvPr/>
        </p:nvSpPr>
        <p:spPr>
          <a:xfrm xmlns:a="http://schemas.openxmlformats.org/drawingml/2006/main">
            <a:off x="8267700" y="3190875"/>
            <a:ext cx="3190875" cy="1381125"/>
          </a:xfrm>
          <a:prstGeom xmlns:a="http://schemas.openxmlformats.org/drawingml/2006/main" prst="rect">
            <a:avLst/>
          </a:prstGeom>
          <a:solidFill xmlns:a="http://schemas.openxmlformats.org/drawingml/2006/main">
            <a:srgbClr val="F6E6BE"/>
          </a:solidFill>
          <a:ln xmlns:a="http://schemas.openxmlformats.org/drawingml/2006/main" w="9525">
            <a:solidFill>
              <a:srgbClr val="D9D4C7"/>
            </a:solidFill>
            <a:prstDash val="solid"/>
          </a:ln>
        </p:spPr>
      </p:sp>
      <p:sp>
        <p:nvSpPr>
          <p:cNvPr id="23" name="">
            <a:extLst xmlns:a="http://schemas.openxmlformats.org/drawingml/2006/main">
              <a:ext uri="{FF2B5EF4-FFF2-40B4-BE49-F238E27FC236}">
                <a16:creationId xmlns:a16="http://schemas.microsoft.com/office/drawing/2014/main" id="{95A07C21-4E37-43D9-903F-41BFF7142F9E}"/>
              </a:ext>
            </a:extLst>
          </p:cNvPr>
          <p:cNvSpPr>
            <a:spLocks xmlns:a="http://schemas.openxmlformats.org/drawingml/2006/main" noGrp="1"/>
          </p:cNvSpPr>
          <p:nvPr/>
        </p:nvSpPr>
        <p:spPr>
          <a:xfrm xmlns:a="http://schemas.openxmlformats.org/drawingml/2006/main">
            <a:off x="8267700" y="3190875"/>
            <a:ext cx="47625" cy="1381125"/>
          </a:xfrm>
          <a:prstGeom xmlns:a="http://schemas.openxmlformats.org/drawingml/2006/main" prst="rect">
            <a:avLst/>
          </a:prstGeom>
          <a:solidFill xmlns:a="http://schemas.openxmlformats.org/drawingml/2006/main">
            <a:srgbClr val="B7791F"/>
          </a:solidFill>
          <a:ln xmlns:a="http://schemas.openxmlformats.org/drawingml/2006/main" w="9525">
            <a:solidFill>
              <a:srgbClr val="B7791F"/>
            </a:solidFill>
            <a:prstDash val="solid"/>
          </a:ln>
        </p:spPr>
      </p:sp>
      <p:sp>
        <p:nvSpPr>
          <p:cNvPr id="24" name="">
            <a:extLst xmlns:a="http://schemas.openxmlformats.org/drawingml/2006/main">
              <a:ext uri="{FF2B5EF4-FFF2-40B4-BE49-F238E27FC236}">
                <a16:creationId xmlns:a16="http://schemas.microsoft.com/office/drawing/2014/main" id="{3C475547-D080-4B6D-A6B9-9743DA52DBEE}"/>
              </a:ext>
            </a:extLst>
          </p:cNvPr>
          <p:cNvSpPr>
            <a:spLocks xmlns:a="http://schemas.openxmlformats.org/drawingml/2006/main" noGrp="1"/>
          </p:cNvSpPr>
          <p:nvPr/>
        </p:nvSpPr>
        <p:spPr>
          <a:xfrm xmlns:a="http://schemas.openxmlformats.org/drawingml/2006/main">
            <a:off x="8477250" y="3362325"/>
            <a:ext cx="277177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Intern advantage</a:t>
            </a:r>
          </a:p>
        </p:txBody>
      </p:sp>
      <p:sp>
        <p:nvSpPr>
          <p:cNvPr id="25" name="">
            <a:extLst xmlns:a="http://schemas.openxmlformats.org/drawingml/2006/main">
              <a:ext uri="{FF2B5EF4-FFF2-40B4-BE49-F238E27FC236}">
                <a16:creationId xmlns:a16="http://schemas.microsoft.com/office/drawing/2014/main" id="{7519889E-861D-499A-945D-701E602FD223}"/>
              </a:ext>
            </a:extLst>
          </p:cNvPr>
          <p:cNvSpPr>
            <a:spLocks xmlns:a="http://schemas.openxmlformats.org/drawingml/2006/main" noGrp="1"/>
          </p:cNvSpPr>
          <p:nvPr/>
        </p:nvSpPr>
        <p:spPr>
          <a:xfrm xmlns:a="http://schemas.openxmlformats.org/drawingml/2006/main">
            <a:off x="8477250" y="3724275"/>
            <a:ext cx="2771775" cy="714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B6673"/>
                </a:solidFill>
                <a:latin typeface="Aptos"/>
                <a:ea typeface="Aptos"/>
                <a:cs typeface="Aptos"/>
              </a:defRPr>
            </a:pPr>
            <a:r>
              <a:rPr sz="1125" b="0">
                <a:solidFill>
                  <a:srgbClr val="5B6673"/>
                </a:solidFill>
                <a:latin typeface="Aptos"/>
                <a:ea typeface="Aptos"/>
                <a:cs typeface="Aptos"/>
              </a:rPr>
              <a:t>The interns who win are not fastest typists. They are best at operating agents with judgment.</a:t>
            </a:r>
          </a:p>
        </p:txBody>
      </p:sp>
      <p:sp>
        <p:nvSpPr>
          <p:cNvPr id="26" name="">
            <a:extLst xmlns:a="http://schemas.openxmlformats.org/drawingml/2006/main">
              <a:ext uri="{FF2B5EF4-FFF2-40B4-BE49-F238E27FC236}">
                <a16:creationId xmlns:a16="http://schemas.microsoft.com/office/drawing/2014/main" id="{9F25CBFD-8616-44CE-8A27-2321BD0EE3D0}"/>
              </a:ext>
            </a:extLst>
          </p:cNvPr>
          <p:cNvSpPr>
            <a:spLocks xmlns:a="http://schemas.openxmlformats.org/drawingml/2006/main" noGrp="1"/>
          </p:cNvSpPr>
          <p:nvPr/>
        </p:nvSpPr>
        <p:spPr>
          <a:xfrm xmlns:a="http://schemas.openxmlformats.org/drawingml/2006/main">
            <a:off x="952500" y="5095875"/>
            <a:ext cx="9810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17202A"/>
                </a:solidFill>
                <a:latin typeface="Aptos"/>
                <a:ea typeface="Aptos"/>
                <a:cs typeface="Aptos"/>
              </a:defRPr>
            </a:pPr>
            <a:r>
              <a:rPr sz="1650" b="1">
                <a:solidFill>
                  <a:srgbClr val="17202A"/>
                </a:solidFill>
                <a:latin typeface="Aptos"/>
                <a:ea typeface="Aptos"/>
                <a:cs typeface="Aptos"/>
              </a:rPr>
              <a:t>Today is the first layer: teach them to operate Codex correctly before giving them write access.</a:t>
            </a:r>
          </a:p>
        </p:txBody>
      </p:sp>
      <p:sp>
        <p:nvSpPr>
          <p:cNvPr id="27" name="">
            <a:extLst xmlns:a="http://schemas.openxmlformats.org/drawingml/2006/main">
              <a:ext uri="{FF2B5EF4-FFF2-40B4-BE49-F238E27FC236}">
                <a16:creationId xmlns:a16="http://schemas.microsoft.com/office/drawing/2014/main" id="{1F067203-3D0F-416C-ABCE-7F69458CAFC9}"/>
              </a:ext>
            </a:extLst>
          </p:cNvPr>
          <p:cNvSpPr>
            <a:spLocks xmlns:a="http://schemas.openxmlformats.org/drawingml/2006/main" noGrp="1"/>
          </p:cNvSpPr>
          <p:nvPr/>
        </p:nvSpPr>
        <p:spPr>
          <a:xfrm xmlns:a="http://schemas.openxmlformats.org/drawingml/2006/main">
            <a:off x="647700" y="6362700"/>
            <a:ext cx="10363200" cy="9525"/>
          </a:xfrm>
          <a:prstGeom xmlns:a="http://schemas.openxmlformats.org/drawingml/2006/main" prst="rect">
            <a:avLst/>
          </a:prstGeom>
          <a:solidFill xmlns:a="http://schemas.openxmlformats.org/drawingml/2006/main">
            <a:srgbClr val="D9D4C7"/>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9B09CE5-C7AA-4D74-8D6C-24403236301C}"/>
              </a:ext>
            </a:extLst>
          </p:cNvPr>
          <p:cNvSpPr>
            <a:spLocks xmlns:a="http://schemas.openxmlformats.org/drawingml/2006/main" noGrp="1"/>
          </p:cNvSpPr>
          <p:nvPr/>
        </p:nvSpPr>
        <p:spPr>
          <a:xfrm xmlns:a="http://schemas.openxmlformats.org/drawingml/2006/main">
            <a:off x="647700" y="64579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673"/>
                </a:solidFill>
                <a:latin typeface="Aptos"/>
                <a:ea typeface="Aptos"/>
                <a:cs typeface="Aptos"/>
              </a:defRPr>
            </a:pPr>
            <a:r>
              <a:rPr sz="975" b="0">
                <a:solidFill>
                  <a:srgbClr val="5B6673"/>
                </a:solidFill>
                <a:latin typeface="Aptos"/>
                <a:ea typeface="Aptos"/>
                <a:cs typeface="Aptos"/>
              </a:rPr>
              <a:t>PearlPortal intern onboarding</a:t>
            </a:r>
          </a:p>
        </p:txBody>
      </p:sp>
      <p:sp>
        <p:nvSpPr>
          <p:cNvPr id="29" name="">
            <a:extLst xmlns:a="http://schemas.openxmlformats.org/drawingml/2006/main">
              <a:ext uri="{FF2B5EF4-FFF2-40B4-BE49-F238E27FC236}">
                <a16:creationId xmlns:a16="http://schemas.microsoft.com/office/drawing/2014/main" id="{ED1A97A0-3FC3-431A-8F88-DA421AF9C250}"/>
              </a:ext>
            </a:extLst>
          </p:cNvPr>
          <p:cNvSpPr>
            <a:spLocks xmlns:a="http://schemas.openxmlformats.org/drawingml/2006/main" noGrp="1"/>
          </p:cNvSpPr>
          <p:nvPr/>
        </p:nvSpPr>
        <p:spPr>
          <a:xfrm xmlns:a="http://schemas.openxmlformats.org/drawingml/2006/main">
            <a:off x="10382250" y="64579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673"/>
                </a:solidFill>
                <a:latin typeface="Aptos"/>
                <a:ea typeface="Aptos"/>
                <a:cs typeface="Aptos"/>
              </a:defRPr>
            </a:pPr>
            <a:r>
              <a:rPr sz="975" b="0">
                <a:solidFill>
                  <a:srgbClr val="5B6673"/>
                </a:solidFill>
                <a:latin typeface="Aptos"/>
                <a:ea typeface="Aptos"/>
                <a:cs typeface="Aptos"/>
              </a:rPr>
              <a:t>10</a:t>
            </a:r>
          </a:p>
        </p:txBody>
      </p:sp>
    </p:spTree>
    <p:extLst>
      <p:ext uri="{BB962C8B-B14F-4D97-AF65-F5344CB8AC3E}">
        <p14:creationId xmlns:p14="http://schemas.microsoft.com/office/powerpoint/2010/main" val="186051224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AEEF86-27DA-40E1-89EF-E64D7BEF867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6E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6EC43FD-5C37-4DFF-AC79-D8BCB07DE431}"/>
              </a:ext>
            </a:extLst>
          </p:cNvPr>
          <p:cNvSpPr>
            <a:spLocks xmlns:a="http://schemas.openxmlformats.org/drawingml/2006/main" noGrp="1"/>
          </p:cNvSpPr>
          <p:nvPr/>
        </p:nvSpPr>
        <p:spPr>
          <a:xfrm xmlns:a="http://schemas.openxmlformats.org/drawingml/2006/main">
            <a:off x="419100" y="381000"/>
            <a:ext cx="47625" cy="876300"/>
          </a:xfrm>
          <a:prstGeom xmlns:a="http://schemas.openxmlformats.org/drawingml/2006/main" prst="rect">
            <a:avLst/>
          </a:prstGeom>
          <a:solidFill xmlns:a="http://schemas.openxmlformats.org/drawingml/2006/main">
            <a:srgbClr val="0F766E"/>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19FD03B-EB4B-4003-A3E9-626C7221C6E5}"/>
              </a:ext>
            </a:extLst>
          </p:cNvPr>
          <p:cNvSpPr>
            <a:spLocks xmlns:a="http://schemas.openxmlformats.org/drawingml/2006/main" noGrp="1"/>
          </p:cNvSpPr>
          <p:nvPr/>
        </p:nvSpPr>
        <p:spPr>
          <a:xfrm xmlns:a="http://schemas.openxmlformats.org/drawingml/2006/main">
            <a:off x="647700" y="400050"/>
            <a:ext cx="704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766E"/>
                </a:solidFill>
                <a:latin typeface="Aptos"/>
                <a:ea typeface="Aptos"/>
                <a:cs typeface="Aptos"/>
              </a:defRPr>
            </a:pPr>
            <a:r>
              <a:rPr sz="1200" b="1">
                <a:solidFill>
                  <a:srgbClr val="0F766E"/>
                </a:solidFill>
                <a:latin typeface="Aptos"/>
                <a:ea typeface="Aptos"/>
                <a:cs typeface="Aptos"/>
              </a:rPr>
              <a:t>11 AM TO 5 PM PT</a:t>
            </a:r>
          </a:p>
        </p:txBody>
      </p:sp>
      <p:sp>
        <p:nvSpPr>
          <p:cNvPr id="4" name="">
            <a:extLst xmlns:a="http://schemas.openxmlformats.org/drawingml/2006/main">
              <a:ext uri="{FF2B5EF4-FFF2-40B4-BE49-F238E27FC236}">
                <a16:creationId xmlns:a16="http://schemas.microsoft.com/office/drawing/2014/main" id="{089B4C61-FB45-445A-8BB6-D320A772890F}"/>
              </a:ext>
            </a:extLst>
          </p:cNvPr>
          <p:cNvSpPr>
            <a:spLocks xmlns:a="http://schemas.openxmlformats.org/drawingml/2006/main" noGrp="1"/>
          </p:cNvSpPr>
          <p:nvPr/>
        </p:nvSpPr>
        <p:spPr>
          <a:xfrm xmlns:a="http://schemas.openxmlformats.org/drawingml/2006/main">
            <a:off x="647700" y="666750"/>
            <a:ext cx="7810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7202A"/>
                </a:solidFill>
                <a:latin typeface="Aptos"/>
                <a:ea typeface="Aptos"/>
                <a:cs typeface="Aptos"/>
              </a:defRPr>
            </a:pPr>
            <a:r>
              <a:rPr sz="3300" b="1">
                <a:solidFill>
                  <a:srgbClr val="17202A"/>
                </a:solidFill>
                <a:latin typeface="Aptos"/>
                <a:ea typeface="Aptos"/>
                <a:cs typeface="Aptos"/>
              </a:rPr>
              <a:t>Run of show</a:t>
            </a:r>
          </a:p>
        </p:txBody>
      </p:sp>
      <p:sp>
        <p:nvSpPr>
          <p:cNvPr id="5" name="">
            <a:extLst xmlns:a="http://schemas.openxmlformats.org/drawingml/2006/main">
              <a:ext uri="{FF2B5EF4-FFF2-40B4-BE49-F238E27FC236}">
                <a16:creationId xmlns:a16="http://schemas.microsoft.com/office/drawing/2014/main" id="{59AEB973-2714-46D1-AC24-F4F050EB1609}"/>
              </a:ext>
            </a:extLst>
          </p:cNvPr>
          <p:cNvSpPr>
            <a:spLocks xmlns:a="http://schemas.openxmlformats.org/drawingml/2006/main" noGrp="1"/>
          </p:cNvSpPr>
          <p:nvPr/>
        </p:nvSpPr>
        <p:spPr>
          <a:xfrm xmlns:a="http://schemas.openxmlformats.org/drawingml/2006/main">
            <a:off x="10001250" y="419100"/>
            <a:ext cx="1657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B6673"/>
                </a:solidFill>
                <a:latin typeface="Aptos"/>
                <a:ea typeface="Aptos"/>
                <a:cs typeface="Aptos"/>
              </a:defRPr>
            </a:pPr>
            <a:r>
              <a:rPr sz="1125" b="0">
                <a:solidFill>
                  <a:srgbClr val="5B6673"/>
                </a:solidFill>
                <a:latin typeface="Aptos"/>
                <a:ea typeface="Aptos"/>
                <a:cs typeface="Aptos"/>
              </a:rPr>
              <a:t>2026-05-04</a:t>
            </a:r>
          </a:p>
        </p:txBody>
      </p:sp>
      <p:sp>
        <p:nvSpPr>
          <p:cNvPr id="6" name="">
            <a:extLst xmlns:a="http://schemas.openxmlformats.org/drawingml/2006/main">
              <a:ext uri="{FF2B5EF4-FFF2-40B4-BE49-F238E27FC236}">
                <a16:creationId xmlns:a16="http://schemas.microsoft.com/office/drawing/2014/main" id="{2BE3EBA6-3597-4E3C-8754-918E26341159}"/>
              </a:ext>
            </a:extLst>
          </p:cNvPr>
          <p:cNvSpPr>
            <a:spLocks xmlns:a="http://schemas.openxmlformats.org/drawingml/2006/main" noGrp="1"/>
          </p:cNvSpPr>
          <p:nvPr/>
        </p:nvSpPr>
        <p:spPr>
          <a:xfrm xmlns:a="http://schemas.openxmlformats.org/drawingml/2006/main">
            <a:off x="647700" y="1428750"/>
            <a:ext cx="10477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4C7"/>
            </a:solidFill>
            <a:prstDash val="solid"/>
          </a:ln>
        </p:spPr>
      </p:sp>
      <p:sp>
        <p:nvSpPr>
          <p:cNvPr id="7" name="">
            <a:extLst xmlns:a="http://schemas.openxmlformats.org/drawingml/2006/main">
              <a:ext uri="{FF2B5EF4-FFF2-40B4-BE49-F238E27FC236}">
                <a16:creationId xmlns:a16="http://schemas.microsoft.com/office/drawing/2014/main" id="{7828E755-71AF-4A73-9DBF-55A480DA0EF9}"/>
              </a:ext>
            </a:extLst>
          </p:cNvPr>
          <p:cNvSpPr>
            <a:spLocks xmlns:a="http://schemas.openxmlformats.org/drawingml/2006/main" noGrp="1"/>
          </p:cNvSpPr>
          <p:nvPr/>
        </p:nvSpPr>
        <p:spPr>
          <a:xfrm xmlns:a="http://schemas.openxmlformats.org/drawingml/2006/main">
            <a:off x="838200" y="1562100"/>
            <a:ext cx="819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766E"/>
                </a:solidFill>
                <a:latin typeface="Aptos"/>
                <a:ea typeface="Aptos"/>
                <a:cs typeface="Aptos"/>
              </a:defRPr>
            </a:pPr>
            <a:r>
              <a:rPr sz="1350" b="1">
                <a:solidFill>
                  <a:srgbClr val="0F766E"/>
                </a:solidFill>
                <a:latin typeface="Aptos"/>
                <a:ea typeface="Aptos"/>
                <a:cs typeface="Aptos"/>
              </a:rPr>
              <a:t>11:00</a:t>
            </a:r>
          </a:p>
        </p:txBody>
      </p:sp>
      <p:sp>
        <p:nvSpPr>
          <p:cNvPr id="8" name="">
            <a:extLst xmlns:a="http://schemas.openxmlformats.org/drawingml/2006/main">
              <a:ext uri="{FF2B5EF4-FFF2-40B4-BE49-F238E27FC236}">
                <a16:creationId xmlns:a16="http://schemas.microsoft.com/office/drawing/2014/main" id="{DC54DF33-DB0A-4524-AACE-A8C84D205946}"/>
              </a:ext>
            </a:extLst>
          </p:cNvPr>
          <p:cNvSpPr>
            <a:spLocks xmlns:a="http://schemas.openxmlformats.org/drawingml/2006/main" noGrp="1"/>
          </p:cNvSpPr>
          <p:nvPr/>
        </p:nvSpPr>
        <p:spPr>
          <a:xfrm xmlns:a="http://schemas.openxmlformats.org/drawingml/2006/main">
            <a:off x="1809750" y="1562100"/>
            <a:ext cx="23336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2A"/>
                </a:solidFill>
                <a:latin typeface="Aptos"/>
                <a:ea typeface="Aptos"/>
                <a:cs typeface="Aptos"/>
              </a:defRPr>
            </a:pPr>
            <a:r>
              <a:rPr sz="1275" b="1">
                <a:solidFill>
                  <a:srgbClr val="17202A"/>
                </a:solidFill>
                <a:latin typeface="Aptos"/>
                <a:ea typeface="Aptos"/>
                <a:cs typeface="Aptos"/>
              </a:rPr>
              <a:t>Mac + account baseline</a:t>
            </a:r>
          </a:p>
        </p:txBody>
      </p:sp>
      <p:sp>
        <p:nvSpPr>
          <p:cNvPr id="9" name="">
            <a:extLst xmlns:a="http://schemas.openxmlformats.org/drawingml/2006/main">
              <a:ext uri="{FF2B5EF4-FFF2-40B4-BE49-F238E27FC236}">
                <a16:creationId xmlns:a16="http://schemas.microsoft.com/office/drawing/2014/main" id="{911DBAAF-D098-43BC-A403-9F02188ADF59}"/>
              </a:ext>
            </a:extLst>
          </p:cNvPr>
          <p:cNvSpPr>
            <a:spLocks xmlns:a="http://schemas.openxmlformats.org/drawingml/2006/main" noGrp="1"/>
          </p:cNvSpPr>
          <p:nvPr/>
        </p:nvSpPr>
        <p:spPr>
          <a:xfrm xmlns:a="http://schemas.openxmlformats.org/drawingml/2006/main">
            <a:off x="4333875" y="1562100"/>
            <a:ext cx="647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Local macOS user. No personal iCloud. Install/log into Codex.</a:t>
            </a:r>
          </a:p>
        </p:txBody>
      </p:sp>
      <p:sp>
        <p:nvSpPr>
          <p:cNvPr id="10" name="">
            <a:extLst xmlns:a="http://schemas.openxmlformats.org/drawingml/2006/main">
              <a:ext uri="{FF2B5EF4-FFF2-40B4-BE49-F238E27FC236}">
                <a16:creationId xmlns:a16="http://schemas.microsoft.com/office/drawing/2014/main" id="{35A84BA5-D6F5-45C6-AB39-119B0C5C43A2}"/>
              </a:ext>
            </a:extLst>
          </p:cNvPr>
          <p:cNvSpPr>
            <a:spLocks xmlns:a="http://schemas.openxmlformats.org/drawingml/2006/main" noGrp="1"/>
          </p:cNvSpPr>
          <p:nvPr/>
        </p:nvSpPr>
        <p:spPr>
          <a:xfrm xmlns:a="http://schemas.openxmlformats.org/drawingml/2006/main">
            <a:off x="647700" y="2057400"/>
            <a:ext cx="10477500" cy="514350"/>
          </a:xfrm>
          <a:prstGeom xmlns:a="http://schemas.openxmlformats.org/drawingml/2006/main" prst="rect">
            <a:avLst/>
          </a:prstGeom>
          <a:solidFill xmlns:a="http://schemas.openxmlformats.org/drawingml/2006/main">
            <a:srgbClr val="FBFAF5"/>
          </a:solidFill>
          <a:ln xmlns:a="http://schemas.openxmlformats.org/drawingml/2006/main" w="9525">
            <a:solidFill>
              <a:srgbClr val="D9D4C7"/>
            </a:solidFill>
            <a:prstDash val="solid"/>
          </a:ln>
        </p:spPr>
      </p:sp>
      <p:sp>
        <p:nvSpPr>
          <p:cNvPr id="11" name="">
            <a:extLst xmlns:a="http://schemas.openxmlformats.org/drawingml/2006/main">
              <a:ext uri="{FF2B5EF4-FFF2-40B4-BE49-F238E27FC236}">
                <a16:creationId xmlns:a16="http://schemas.microsoft.com/office/drawing/2014/main" id="{45506DFD-99A7-4822-995F-BBE485558F98}"/>
              </a:ext>
            </a:extLst>
          </p:cNvPr>
          <p:cNvSpPr>
            <a:spLocks xmlns:a="http://schemas.openxmlformats.org/drawingml/2006/main" noGrp="1"/>
          </p:cNvSpPr>
          <p:nvPr/>
        </p:nvSpPr>
        <p:spPr>
          <a:xfrm xmlns:a="http://schemas.openxmlformats.org/drawingml/2006/main">
            <a:off x="838200" y="2190750"/>
            <a:ext cx="819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766E"/>
                </a:solidFill>
                <a:latin typeface="Aptos"/>
                <a:ea typeface="Aptos"/>
                <a:cs typeface="Aptos"/>
              </a:defRPr>
            </a:pPr>
            <a:r>
              <a:rPr sz="1350" b="1">
                <a:solidFill>
                  <a:srgbClr val="0F766E"/>
                </a:solidFill>
                <a:latin typeface="Aptos"/>
                <a:ea typeface="Aptos"/>
                <a:cs typeface="Aptos"/>
              </a:rPr>
              <a:t>11:30</a:t>
            </a:r>
          </a:p>
        </p:txBody>
      </p:sp>
      <p:sp>
        <p:nvSpPr>
          <p:cNvPr id="12" name="">
            <a:extLst xmlns:a="http://schemas.openxmlformats.org/drawingml/2006/main">
              <a:ext uri="{FF2B5EF4-FFF2-40B4-BE49-F238E27FC236}">
                <a16:creationId xmlns:a16="http://schemas.microsoft.com/office/drawing/2014/main" id="{A0D36A8D-2635-4503-90E6-753ACA1B4B84}"/>
              </a:ext>
            </a:extLst>
          </p:cNvPr>
          <p:cNvSpPr>
            <a:spLocks xmlns:a="http://schemas.openxmlformats.org/drawingml/2006/main" noGrp="1"/>
          </p:cNvSpPr>
          <p:nvPr/>
        </p:nvSpPr>
        <p:spPr>
          <a:xfrm xmlns:a="http://schemas.openxmlformats.org/drawingml/2006/main">
            <a:off x="1809750" y="2190750"/>
            <a:ext cx="23336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2A"/>
                </a:solidFill>
                <a:latin typeface="Aptos"/>
                <a:ea typeface="Aptos"/>
                <a:cs typeface="Aptos"/>
              </a:defRPr>
            </a:pPr>
            <a:r>
              <a:rPr sz="1275" b="1">
                <a:solidFill>
                  <a:srgbClr val="17202A"/>
                </a:solidFill>
                <a:latin typeface="Aptos"/>
                <a:ea typeface="Aptos"/>
                <a:cs typeface="Aptos"/>
              </a:rPr>
              <a:t>Edward Agent Stack</a:t>
            </a:r>
          </a:p>
        </p:txBody>
      </p:sp>
      <p:sp>
        <p:nvSpPr>
          <p:cNvPr id="13" name="">
            <a:extLst xmlns:a="http://schemas.openxmlformats.org/drawingml/2006/main">
              <a:ext uri="{FF2B5EF4-FFF2-40B4-BE49-F238E27FC236}">
                <a16:creationId xmlns:a16="http://schemas.microsoft.com/office/drawing/2014/main" id="{394E6E41-3159-4EE4-9466-ABADA321CA1A}"/>
              </a:ext>
            </a:extLst>
          </p:cNvPr>
          <p:cNvSpPr>
            <a:spLocks xmlns:a="http://schemas.openxmlformats.org/drawingml/2006/main" noGrp="1"/>
          </p:cNvSpPr>
          <p:nvPr/>
        </p:nvSpPr>
        <p:spPr>
          <a:xfrm xmlns:a="http://schemas.openxmlformats.org/drawingml/2006/main">
            <a:off x="4333875" y="2190750"/>
            <a:ext cx="647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Paste install prompt, run verify, auth-doctor, capture blockers.</a:t>
            </a:r>
          </a:p>
        </p:txBody>
      </p:sp>
      <p:sp>
        <p:nvSpPr>
          <p:cNvPr id="14" name="">
            <a:extLst xmlns:a="http://schemas.openxmlformats.org/drawingml/2006/main">
              <a:ext uri="{FF2B5EF4-FFF2-40B4-BE49-F238E27FC236}">
                <a16:creationId xmlns:a16="http://schemas.microsoft.com/office/drawing/2014/main" id="{17ACC687-0A97-4DCF-A099-2E86CDC8D536}"/>
              </a:ext>
            </a:extLst>
          </p:cNvPr>
          <p:cNvSpPr>
            <a:spLocks xmlns:a="http://schemas.openxmlformats.org/drawingml/2006/main" noGrp="1"/>
          </p:cNvSpPr>
          <p:nvPr/>
        </p:nvSpPr>
        <p:spPr>
          <a:xfrm xmlns:a="http://schemas.openxmlformats.org/drawingml/2006/main">
            <a:off x="647700" y="2686050"/>
            <a:ext cx="10477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4C7"/>
            </a:solidFill>
            <a:prstDash val="solid"/>
          </a:ln>
        </p:spPr>
      </p:sp>
      <p:sp>
        <p:nvSpPr>
          <p:cNvPr id="15" name="">
            <a:extLst xmlns:a="http://schemas.openxmlformats.org/drawingml/2006/main">
              <a:ext uri="{FF2B5EF4-FFF2-40B4-BE49-F238E27FC236}">
                <a16:creationId xmlns:a16="http://schemas.microsoft.com/office/drawing/2014/main" id="{93587211-113E-4589-BA72-284833EC0FC6}"/>
              </a:ext>
            </a:extLst>
          </p:cNvPr>
          <p:cNvSpPr>
            <a:spLocks xmlns:a="http://schemas.openxmlformats.org/drawingml/2006/main" noGrp="1"/>
          </p:cNvSpPr>
          <p:nvPr/>
        </p:nvSpPr>
        <p:spPr>
          <a:xfrm xmlns:a="http://schemas.openxmlformats.org/drawingml/2006/main">
            <a:off x="838200" y="2819400"/>
            <a:ext cx="819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766E"/>
                </a:solidFill>
                <a:latin typeface="Aptos"/>
                <a:ea typeface="Aptos"/>
                <a:cs typeface="Aptos"/>
              </a:defRPr>
            </a:pPr>
            <a:r>
              <a:rPr sz="1350" b="1">
                <a:solidFill>
                  <a:srgbClr val="0F766E"/>
                </a:solidFill>
                <a:latin typeface="Aptos"/>
                <a:ea typeface="Aptos"/>
                <a:cs typeface="Aptos"/>
              </a:rPr>
              <a:t>12:15</a:t>
            </a:r>
          </a:p>
        </p:txBody>
      </p:sp>
      <p:sp>
        <p:nvSpPr>
          <p:cNvPr id="16" name="">
            <a:extLst xmlns:a="http://schemas.openxmlformats.org/drawingml/2006/main">
              <a:ext uri="{FF2B5EF4-FFF2-40B4-BE49-F238E27FC236}">
                <a16:creationId xmlns:a16="http://schemas.microsoft.com/office/drawing/2014/main" id="{4FC77715-0DC8-4B38-A57C-46CCBB00275B}"/>
              </a:ext>
            </a:extLst>
          </p:cNvPr>
          <p:cNvSpPr>
            <a:spLocks xmlns:a="http://schemas.openxmlformats.org/drawingml/2006/main" noGrp="1"/>
          </p:cNvSpPr>
          <p:nvPr/>
        </p:nvSpPr>
        <p:spPr>
          <a:xfrm xmlns:a="http://schemas.openxmlformats.org/drawingml/2006/main">
            <a:off x="1809750" y="2819400"/>
            <a:ext cx="23336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2A"/>
                </a:solidFill>
                <a:latin typeface="Aptos"/>
                <a:ea typeface="Aptos"/>
                <a:cs typeface="Aptos"/>
              </a:defRPr>
            </a:pPr>
            <a:r>
              <a:rPr sz="1275" b="1">
                <a:solidFill>
                  <a:srgbClr val="17202A"/>
                </a:solidFill>
                <a:latin typeface="Aptos"/>
                <a:ea typeface="Aptos"/>
                <a:cs typeface="Aptos"/>
              </a:rPr>
              <a:t>PearlPortal walkthrough</a:t>
            </a:r>
          </a:p>
        </p:txBody>
      </p:sp>
      <p:sp>
        <p:nvSpPr>
          <p:cNvPr id="17" name="">
            <a:extLst xmlns:a="http://schemas.openxmlformats.org/drawingml/2006/main">
              <a:ext uri="{FF2B5EF4-FFF2-40B4-BE49-F238E27FC236}">
                <a16:creationId xmlns:a16="http://schemas.microsoft.com/office/drawing/2014/main" id="{FC995C20-6D93-46CC-9BB7-CD467B5426E2}"/>
              </a:ext>
            </a:extLst>
          </p:cNvPr>
          <p:cNvSpPr>
            <a:spLocks xmlns:a="http://schemas.openxmlformats.org/drawingml/2006/main" noGrp="1"/>
          </p:cNvSpPr>
          <p:nvPr/>
        </p:nvSpPr>
        <p:spPr>
          <a:xfrm xmlns:a="http://schemas.openxmlformats.org/drawingml/2006/main">
            <a:off x="4333875" y="2819400"/>
            <a:ext cx="647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Click product surfaces: dashboard, leads, deals, calls, HOLP, admin.</a:t>
            </a:r>
          </a:p>
        </p:txBody>
      </p:sp>
      <p:sp>
        <p:nvSpPr>
          <p:cNvPr id="18" name="">
            <a:extLst xmlns:a="http://schemas.openxmlformats.org/drawingml/2006/main">
              <a:ext uri="{FF2B5EF4-FFF2-40B4-BE49-F238E27FC236}">
                <a16:creationId xmlns:a16="http://schemas.microsoft.com/office/drawing/2014/main" id="{B76A73F0-DE94-41AB-858E-100CCECC13D5}"/>
              </a:ext>
            </a:extLst>
          </p:cNvPr>
          <p:cNvSpPr>
            <a:spLocks xmlns:a="http://schemas.openxmlformats.org/drawingml/2006/main" noGrp="1"/>
          </p:cNvSpPr>
          <p:nvPr/>
        </p:nvSpPr>
        <p:spPr>
          <a:xfrm xmlns:a="http://schemas.openxmlformats.org/drawingml/2006/main">
            <a:off x="647700" y="3314700"/>
            <a:ext cx="10477500" cy="514350"/>
          </a:xfrm>
          <a:prstGeom xmlns:a="http://schemas.openxmlformats.org/drawingml/2006/main" prst="rect">
            <a:avLst/>
          </a:prstGeom>
          <a:solidFill xmlns:a="http://schemas.openxmlformats.org/drawingml/2006/main">
            <a:srgbClr val="FBFAF5"/>
          </a:solidFill>
          <a:ln xmlns:a="http://schemas.openxmlformats.org/drawingml/2006/main" w="9525">
            <a:solidFill>
              <a:srgbClr val="D9D4C7"/>
            </a:solidFill>
            <a:prstDash val="solid"/>
          </a:ln>
        </p:spPr>
      </p:sp>
      <p:sp>
        <p:nvSpPr>
          <p:cNvPr id="19" name="">
            <a:extLst xmlns:a="http://schemas.openxmlformats.org/drawingml/2006/main">
              <a:ext uri="{FF2B5EF4-FFF2-40B4-BE49-F238E27FC236}">
                <a16:creationId xmlns:a16="http://schemas.microsoft.com/office/drawing/2014/main" id="{2706A7AF-51CA-44BC-BAD5-22E0FBB8C9E6}"/>
              </a:ext>
            </a:extLst>
          </p:cNvPr>
          <p:cNvSpPr>
            <a:spLocks xmlns:a="http://schemas.openxmlformats.org/drawingml/2006/main" noGrp="1"/>
          </p:cNvSpPr>
          <p:nvPr/>
        </p:nvSpPr>
        <p:spPr>
          <a:xfrm xmlns:a="http://schemas.openxmlformats.org/drawingml/2006/main">
            <a:off x="838200" y="3448050"/>
            <a:ext cx="819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766E"/>
                </a:solidFill>
                <a:latin typeface="Aptos"/>
                <a:ea typeface="Aptos"/>
                <a:cs typeface="Aptos"/>
              </a:defRPr>
            </a:pPr>
            <a:r>
              <a:rPr sz="1350" b="1">
                <a:solidFill>
                  <a:srgbClr val="0F766E"/>
                </a:solidFill>
                <a:latin typeface="Aptos"/>
                <a:ea typeface="Aptos"/>
                <a:cs typeface="Aptos"/>
              </a:rPr>
              <a:t>1:00</a:t>
            </a:r>
          </a:p>
        </p:txBody>
      </p:sp>
      <p:sp>
        <p:nvSpPr>
          <p:cNvPr id="20" name="">
            <a:extLst xmlns:a="http://schemas.openxmlformats.org/drawingml/2006/main">
              <a:ext uri="{FF2B5EF4-FFF2-40B4-BE49-F238E27FC236}">
                <a16:creationId xmlns:a16="http://schemas.microsoft.com/office/drawing/2014/main" id="{3CF67182-B7BD-46DD-913D-8A14A7626FB3}"/>
              </a:ext>
            </a:extLst>
          </p:cNvPr>
          <p:cNvSpPr>
            <a:spLocks xmlns:a="http://schemas.openxmlformats.org/drawingml/2006/main" noGrp="1"/>
          </p:cNvSpPr>
          <p:nvPr/>
        </p:nvSpPr>
        <p:spPr>
          <a:xfrm xmlns:a="http://schemas.openxmlformats.org/drawingml/2006/main">
            <a:off x="1809750" y="3448050"/>
            <a:ext cx="23336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2A"/>
                </a:solidFill>
                <a:latin typeface="Aptos"/>
                <a:ea typeface="Aptos"/>
                <a:cs typeface="Aptos"/>
              </a:defRPr>
            </a:pPr>
            <a:r>
              <a:rPr sz="1275" b="1">
                <a:solidFill>
                  <a:srgbClr val="17202A"/>
                </a:solidFill>
                <a:latin typeface="Aptos"/>
                <a:ea typeface="Aptos"/>
                <a:cs typeface="Aptos"/>
              </a:rPr>
              <a:t>Codex repo map</a:t>
            </a:r>
          </a:p>
        </p:txBody>
      </p:sp>
      <p:sp>
        <p:nvSpPr>
          <p:cNvPr id="21" name="">
            <a:extLst xmlns:a="http://schemas.openxmlformats.org/drawingml/2006/main">
              <a:ext uri="{FF2B5EF4-FFF2-40B4-BE49-F238E27FC236}">
                <a16:creationId xmlns:a16="http://schemas.microsoft.com/office/drawing/2014/main" id="{3D311ECA-E0DF-42EC-ADA6-2DE5AE453165}"/>
              </a:ext>
            </a:extLst>
          </p:cNvPr>
          <p:cNvSpPr>
            <a:spLocks xmlns:a="http://schemas.openxmlformats.org/drawingml/2006/main" noGrp="1"/>
          </p:cNvSpPr>
          <p:nvPr/>
        </p:nvSpPr>
        <p:spPr>
          <a:xfrm xmlns:a="http://schemas.openxmlformats.org/drawingml/2006/main">
            <a:off x="4333875" y="3448050"/>
            <a:ext cx="647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Ask Codex for architecture map with file citations. No edits.</a:t>
            </a:r>
          </a:p>
        </p:txBody>
      </p:sp>
      <p:sp>
        <p:nvSpPr>
          <p:cNvPr id="22" name="">
            <a:extLst xmlns:a="http://schemas.openxmlformats.org/drawingml/2006/main">
              <a:ext uri="{FF2B5EF4-FFF2-40B4-BE49-F238E27FC236}">
                <a16:creationId xmlns:a16="http://schemas.microsoft.com/office/drawing/2014/main" id="{1D05C9FA-6D09-4C84-8771-5CD5468FA76E}"/>
              </a:ext>
            </a:extLst>
          </p:cNvPr>
          <p:cNvSpPr>
            <a:spLocks xmlns:a="http://schemas.openxmlformats.org/drawingml/2006/main" noGrp="1"/>
          </p:cNvSpPr>
          <p:nvPr/>
        </p:nvSpPr>
        <p:spPr>
          <a:xfrm xmlns:a="http://schemas.openxmlformats.org/drawingml/2006/main">
            <a:off x="647700" y="3943350"/>
            <a:ext cx="10477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4C7"/>
            </a:solidFill>
            <a:prstDash val="solid"/>
          </a:ln>
        </p:spPr>
      </p:sp>
      <p:sp>
        <p:nvSpPr>
          <p:cNvPr id="23" name="">
            <a:extLst xmlns:a="http://schemas.openxmlformats.org/drawingml/2006/main">
              <a:ext uri="{FF2B5EF4-FFF2-40B4-BE49-F238E27FC236}">
                <a16:creationId xmlns:a16="http://schemas.microsoft.com/office/drawing/2014/main" id="{AF00C7CB-275E-4957-8CCC-C9267A4C6FA9}"/>
              </a:ext>
            </a:extLst>
          </p:cNvPr>
          <p:cNvSpPr>
            <a:spLocks xmlns:a="http://schemas.openxmlformats.org/drawingml/2006/main" noGrp="1"/>
          </p:cNvSpPr>
          <p:nvPr/>
        </p:nvSpPr>
        <p:spPr>
          <a:xfrm xmlns:a="http://schemas.openxmlformats.org/drawingml/2006/main">
            <a:off x="838200" y="4076700"/>
            <a:ext cx="819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766E"/>
                </a:solidFill>
                <a:latin typeface="Aptos"/>
                <a:ea typeface="Aptos"/>
                <a:cs typeface="Aptos"/>
              </a:defRPr>
            </a:pPr>
            <a:r>
              <a:rPr sz="1350" b="1">
                <a:solidFill>
                  <a:srgbClr val="0F766E"/>
                </a:solidFill>
                <a:latin typeface="Aptos"/>
                <a:ea typeface="Aptos"/>
                <a:cs typeface="Aptos"/>
              </a:rPr>
              <a:t>2:00</a:t>
            </a:r>
          </a:p>
        </p:txBody>
      </p:sp>
      <p:sp>
        <p:nvSpPr>
          <p:cNvPr id="24" name="">
            <a:extLst xmlns:a="http://schemas.openxmlformats.org/drawingml/2006/main">
              <a:ext uri="{FF2B5EF4-FFF2-40B4-BE49-F238E27FC236}">
                <a16:creationId xmlns:a16="http://schemas.microsoft.com/office/drawing/2014/main" id="{058DA8FE-F6B7-4E93-9A62-F46777FBA318}"/>
              </a:ext>
            </a:extLst>
          </p:cNvPr>
          <p:cNvSpPr>
            <a:spLocks xmlns:a="http://schemas.openxmlformats.org/drawingml/2006/main" noGrp="1"/>
          </p:cNvSpPr>
          <p:nvPr/>
        </p:nvSpPr>
        <p:spPr>
          <a:xfrm xmlns:a="http://schemas.openxmlformats.org/drawingml/2006/main">
            <a:off x="1809750" y="4076700"/>
            <a:ext cx="23336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2A"/>
                </a:solidFill>
                <a:latin typeface="Aptos"/>
                <a:ea typeface="Aptos"/>
                <a:cs typeface="Aptos"/>
              </a:defRPr>
            </a:pPr>
            <a:r>
              <a:rPr sz="1275" b="1">
                <a:solidFill>
                  <a:srgbClr val="17202A"/>
                </a:solidFill>
                <a:latin typeface="Aptos"/>
                <a:ea typeface="Aptos"/>
                <a:cs typeface="Aptos"/>
              </a:rPr>
              <a:t>Excalidraw diagram</a:t>
            </a:r>
          </a:p>
        </p:txBody>
      </p:sp>
      <p:sp>
        <p:nvSpPr>
          <p:cNvPr id="25" name="">
            <a:extLst xmlns:a="http://schemas.openxmlformats.org/drawingml/2006/main">
              <a:ext uri="{FF2B5EF4-FFF2-40B4-BE49-F238E27FC236}">
                <a16:creationId xmlns:a16="http://schemas.microsoft.com/office/drawing/2014/main" id="{0FE2DDCC-8431-4E7A-B4D0-B4E75C7E78B6}"/>
              </a:ext>
            </a:extLst>
          </p:cNvPr>
          <p:cNvSpPr>
            <a:spLocks xmlns:a="http://schemas.openxmlformats.org/drawingml/2006/main" noGrp="1"/>
          </p:cNvSpPr>
          <p:nvPr/>
        </p:nvSpPr>
        <p:spPr>
          <a:xfrm xmlns:a="http://schemas.openxmlformats.org/drawingml/2006/main">
            <a:off x="4333875" y="4076700"/>
            <a:ext cx="647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Draw frontend/backend/Supabase/external systems/data flow.</a:t>
            </a:r>
          </a:p>
        </p:txBody>
      </p:sp>
      <p:sp>
        <p:nvSpPr>
          <p:cNvPr id="26" name="">
            <a:extLst xmlns:a="http://schemas.openxmlformats.org/drawingml/2006/main">
              <a:ext uri="{FF2B5EF4-FFF2-40B4-BE49-F238E27FC236}">
                <a16:creationId xmlns:a16="http://schemas.microsoft.com/office/drawing/2014/main" id="{161B6570-14CD-4F68-A7B5-87DDF3A8554B}"/>
              </a:ext>
            </a:extLst>
          </p:cNvPr>
          <p:cNvSpPr>
            <a:spLocks xmlns:a="http://schemas.openxmlformats.org/drawingml/2006/main" noGrp="1"/>
          </p:cNvSpPr>
          <p:nvPr/>
        </p:nvSpPr>
        <p:spPr>
          <a:xfrm xmlns:a="http://schemas.openxmlformats.org/drawingml/2006/main">
            <a:off x="647700" y="4572000"/>
            <a:ext cx="10477500" cy="514350"/>
          </a:xfrm>
          <a:prstGeom xmlns:a="http://schemas.openxmlformats.org/drawingml/2006/main" prst="rect">
            <a:avLst/>
          </a:prstGeom>
          <a:solidFill xmlns:a="http://schemas.openxmlformats.org/drawingml/2006/main">
            <a:srgbClr val="FBFAF5"/>
          </a:solidFill>
          <a:ln xmlns:a="http://schemas.openxmlformats.org/drawingml/2006/main" w="9525">
            <a:solidFill>
              <a:srgbClr val="D9D4C7"/>
            </a:solidFill>
            <a:prstDash val="solid"/>
          </a:ln>
        </p:spPr>
      </p:sp>
      <p:sp>
        <p:nvSpPr>
          <p:cNvPr id="27" name="">
            <a:extLst xmlns:a="http://schemas.openxmlformats.org/drawingml/2006/main">
              <a:ext uri="{FF2B5EF4-FFF2-40B4-BE49-F238E27FC236}">
                <a16:creationId xmlns:a16="http://schemas.microsoft.com/office/drawing/2014/main" id="{B62A6477-A520-41F8-97AB-2E1A1326BF6A}"/>
              </a:ext>
            </a:extLst>
          </p:cNvPr>
          <p:cNvSpPr>
            <a:spLocks xmlns:a="http://schemas.openxmlformats.org/drawingml/2006/main" noGrp="1"/>
          </p:cNvSpPr>
          <p:nvPr/>
        </p:nvSpPr>
        <p:spPr>
          <a:xfrm xmlns:a="http://schemas.openxmlformats.org/drawingml/2006/main">
            <a:off x="838200" y="4705350"/>
            <a:ext cx="819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766E"/>
                </a:solidFill>
                <a:latin typeface="Aptos"/>
                <a:ea typeface="Aptos"/>
                <a:cs typeface="Aptos"/>
              </a:defRPr>
            </a:pPr>
            <a:r>
              <a:rPr sz="1350" b="1">
                <a:solidFill>
                  <a:srgbClr val="0F766E"/>
                </a:solidFill>
                <a:latin typeface="Aptos"/>
                <a:ea typeface="Aptos"/>
                <a:cs typeface="Aptos"/>
              </a:rPr>
              <a:t>3:30</a:t>
            </a:r>
          </a:p>
        </p:txBody>
      </p:sp>
      <p:sp>
        <p:nvSpPr>
          <p:cNvPr id="28" name="">
            <a:extLst xmlns:a="http://schemas.openxmlformats.org/drawingml/2006/main">
              <a:ext uri="{FF2B5EF4-FFF2-40B4-BE49-F238E27FC236}">
                <a16:creationId xmlns:a16="http://schemas.microsoft.com/office/drawing/2014/main" id="{E99BFEF8-A874-4BA2-BF08-706CDF41CD49}"/>
              </a:ext>
            </a:extLst>
          </p:cNvPr>
          <p:cNvSpPr>
            <a:spLocks xmlns:a="http://schemas.openxmlformats.org/drawingml/2006/main" noGrp="1"/>
          </p:cNvSpPr>
          <p:nvPr/>
        </p:nvSpPr>
        <p:spPr>
          <a:xfrm xmlns:a="http://schemas.openxmlformats.org/drawingml/2006/main">
            <a:off x="1809750" y="4705350"/>
            <a:ext cx="23336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2A"/>
                </a:solidFill>
                <a:latin typeface="Aptos"/>
                <a:ea typeface="Aptos"/>
                <a:cs typeface="Aptos"/>
              </a:defRPr>
            </a:pPr>
            <a:r>
              <a:rPr sz="1275" b="1">
                <a:solidFill>
                  <a:srgbClr val="17202A"/>
                </a:solidFill>
                <a:latin typeface="Aptos"/>
                <a:ea typeface="Aptos"/>
                <a:cs typeface="Aptos"/>
              </a:rPr>
              <a:t>Edge cases</a:t>
            </a:r>
          </a:p>
        </p:txBody>
      </p:sp>
      <p:sp>
        <p:nvSpPr>
          <p:cNvPr id="29" name="">
            <a:extLst xmlns:a="http://schemas.openxmlformats.org/drawingml/2006/main">
              <a:ext uri="{FF2B5EF4-FFF2-40B4-BE49-F238E27FC236}">
                <a16:creationId xmlns:a16="http://schemas.microsoft.com/office/drawing/2014/main" id="{B4AE11CE-7E11-41B3-858F-92AB8F7E0D58}"/>
              </a:ext>
            </a:extLst>
          </p:cNvPr>
          <p:cNvSpPr>
            <a:spLocks xmlns:a="http://schemas.openxmlformats.org/drawingml/2006/main" noGrp="1"/>
          </p:cNvSpPr>
          <p:nvPr/>
        </p:nvSpPr>
        <p:spPr>
          <a:xfrm xmlns:a="http://schemas.openxmlformats.org/drawingml/2006/main">
            <a:off x="4333875" y="4705350"/>
            <a:ext cx="647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Add auth, secrets, sync jobs, failure modes, and open questions.</a:t>
            </a:r>
          </a:p>
        </p:txBody>
      </p:sp>
      <p:sp>
        <p:nvSpPr>
          <p:cNvPr id="30" name="">
            <a:extLst xmlns:a="http://schemas.openxmlformats.org/drawingml/2006/main">
              <a:ext uri="{FF2B5EF4-FFF2-40B4-BE49-F238E27FC236}">
                <a16:creationId xmlns:a16="http://schemas.microsoft.com/office/drawing/2014/main" id="{CD449BF7-AA0B-4F48-AB78-13573AA21058}"/>
              </a:ext>
            </a:extLst>
          </p:cNvPr>
          <p:cNvSpPr>
            <a:spLocks xmlns:a="http://schemas.openxmlformats.org/drawingml/2006/main" noGrp="1"/>
          </p:cNvSpPr>
          <p:nvPr/>
        </p:nvSpPr>
        <p:spPr>
          <a:xfrm xmlns:a="http://schemas.openxmlformats.org/drawingml/2006/main">
            <a:off x="647700" y="5200650"/>
            <a:ext cx="10477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4C7"/>
            </a:solidFill>
            <a:prstDash val="solid"/>
          </a:ln>
        </p:spPr>
      </p:sp>
      <p:sp>
        <p:nvSpPr>
          <p:cNvPr id="31" name="">
            <a:extLst xmlns:a="http://schemas.openxmlformats.org/drawingml/2006/main">
              <a:ext uri="{FF2B5EF4-FFF2-40B4-BE49-F238E27FC236}">
                <a16:creationId xmlns:a16="http://schemas.microsoft.com/office/drawing/2014/main" id="{EE5E485E-0511-456A-8C29-3E87837D595A}"/>
              </a:ext>
            </a:extLst>
          </p:cNvPr>
          <p:cNvSpPr>
            <a:spLocks xmlns:a="http://schemas.openxmlformats.org/drawingml/2006/main" noGrp="1"/>
          </p:cNvSpPr>
          <p:nvPr/>
        </p:nvSpPr>
        <p:spPr>
          <a:xfrm xmlns:a="http://schemas.openxmlformats.org/drawingml/2006/main">
            <a:off x="838200" y="5334000"/>
            <a:ext cx="819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766E"/>
                </a:solidFill>
                <a:latin typeface="Aptos"/>
                <a:ea typeface="Aptos"/>
                <a:cs typeface="Aptos"/>
              </a:defRPr>
            </a:pPr>
            <a:r>
              <a:rPr sz="1350" b="1">
                <a:solidFill>
                  <a:srgbClr val="0F766E"/>
                </a:solidFill>
                <a:latin typeface="Aptos"/>
                <a:ea typeface="Aptos"/>
                <a:cs typeface="Aptos"/>
              </a:rPr>
              <a:t>4:30</a:t>
            </a:r>
          </a:p>
        </p:txBody>
      </p:sp>
      <p:sp>
        <p:nvSpPr>
          <p:cNvPr id="32" name="">
            <a:extLst xmlns:a="http://schemas.openxmlformats.org/drawingml/2006/main">
              <a:ext uri="{FF2B5EF4-FFF2-40B4-BE49-F238E27FC236}">
                <a16:creationId xmlns:a16="http://schemas.microsoft.com/office/drawing/2014/main" id="{67465F10-E9E1-437E-851F-AAE9A5EC8645}"/>
              </a:ext>
            </a:extLst>
          </p:cNvPr>
          <p:cNvSpPr>
            <a:spLocks xmlns:a="http://schemas.openxmlformats.org/drawingml/2006/main" noGrp="1"/>
          </p:cNvSpPr>
          <p:nvPr/>
        </p:nvSpPr>
        <p:spPr>
          <a:xfrm xmlns:a="http://schemas.openxmlformats.org/drawingml/2006/main">
            <a:off x="1809750" y="5334000"/>
            <a:ext cx="23336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02A"/>
                </a:solidFill>
                <a:latin typeface="Aptos"/>
                <a:ea typeface="Aptos"/>
                <a:cs typeface="Aptos"/>
              </a:defRPr>
            </a:pPr>
            <a:r>
              <a:rPr sz="1275" b="1">
                <a:solidFill>
                  <a:srgbClr val="17202A"/>
                </a:solidFill>
                <a:latin typeface="Aptos"/>
                <a:ea typeface="Aptos"/>
                <a:cs typeface="Aptos"/>
              </a:rPr>
              <a:t>Review</a:t>
            </a:r>
          </a:p>
        </p:txBody>
      </p:sp>
      <p:sp>
        <p:nvSpPr>
          <p:cNvPr id="33" name="">
            <a:extLst xmlns:a="http://schemas.openxmlformats.org/drawingml/2006/main">
              <a:ext uri="{FF2B5EF4-FFF2-40B4-BE49-F238E27FC236}">
                <a16:creationId xmlns:a16="http://schemas.microsoft.com/office/drawing/2014/main" id="{A803A80D-65C7-496B-8DC6-3E04708C4962}"/>
              </a:ext>
            </a:extLst>
          </p:cNvPr>
          <p:cNvSpPr>
            <a:spLocks xmlns:a="http://schemas.openxmlformats.org/drawingml/2006/main" noGrp="1"/>
          </p:cNvSpPr>
          <p:nvPr/>
        </p:nvSpPr>
        <p:spPr>
          <a:xfrm xmlns:a="http://schemas.openxmlformats.org/drawingml/2006/main">
            <a:off x="4333875" y="5334000"/>
            <a:ext cx="647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B6673"/>
                </a:solidFill>
                <a:latin typeface="Aptos"/>
                <a:ea typeface="Aptos"/>
                <a:cs typeface="Aptos"/>
              </a:defRPr>
            </a:pPr>
            <a:r>
              <a:rPr sz="1200" b="0">
                <a:solidFill>
                  <a:srgbClr val="5B6673"/>
                </a:solidFill>
                <a:latin typeface="Aptos"/>
                <a:ea typeface="Aptos"/>
                <a:cs typeface="Aptos"/>
              </a:rPr>
              <a:t>Interns present diagrams. Edward corrects model and assigns next reading.</a:t>
            </a:r>
          </a:p>
        </p:txBody>
      </p:sp>
      <p:sp>
        <p:nvSpPr>
          <p:cNvPr id="34" name="">
            <a:extLst xmlns:a="http://schemas.openxmlformats.org/drawingml/2006/main">
              <a:ext uri="{FF2B5EF4-FFF2-40B4-BE49-F238E27FC236}">
                <a16:creationId xmlns:a16="http://schemas.microsoft.com/office/drawing/2014/main" id="{3717E540-BCB1-4E33-BCB2-893399AB74BD}"/>
              </a:ext>
            </a:extLst>
          </p:cNvPr>
          <p:cNvSpPr>
            <a:spLocks xmlns:a="http://schemas.openxmlformats.org/drawingml/2006/main" noGrp="1"/>
          </p:cNvSpPr>
          <p:nvPr/>
        </p:nvSpPr>
        <p:spPr>
          <a:xfrm xmlns:a="http://schemas.openxmlformats.org/drawingml/2006/main">
            <a:off x="647700" y="6362700"/>
            <a:ext cx="10363200" cy="9525"/>
          </a:xfrm>
          <a:prstGeom xmlns:a="http://schemas.openxmlformats.org/drawingml/2006/main" prst="rect">
            <a:avLst/>
          </a:prstGeom>
          <a:solidFill xmlns:a="http://schemas.openxmlformats.org/drawingml/2006/main">
            <a:srgbClr val="D9D4C7"/>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1527F316-38DC-4C03-82DC-F1EA2C399C69}"/>
              </a:ext>
            </a:extLst>
          </p:cNvPr>
          <p:cNvSpPr>
            <a:spLocks xmlns:a="http://schemas.openxmlformats.org/drawingml/2006/main" noGrp="1"/>
          </p:cNvSpPr>
          <p:nvPr/>
        </p:nvSpPr>
        <p:spPr>
          <a:xfrm xmlns:a="http://schemas.openxmlformats.org/drawingml/2006/main">
            <a:off x="647700" y="64579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673"/>
                </a:solidFill>
                <a:latin typeface="Aptos"/>
                <a:ea typeface="Aptos"/>
                <a:cs typeface="Aptos"/>
              </a:defRPr>
            </a:pPr>
            <a:r>
              <a:rPr sz="975" b="0">
                <a:solidFill>
                  <a:srgbClr val="5B6673"/>
                </a:solidFill>
                <a:latin typeface="Aptos"/>
                <a:ea typeface="Aptos"/>
                <a:cs typeface="Aptos"/>
              </a:rPr>
              <a:t>PearlPortal intern onboarding</a:t>
            </a:r>
          </a:p>
        </p:txBody>
      </p:sp>
      <p:sp>
        <p:nvSpPr>
          <p:cNvPr id="36" name="">
            <a:extLst xmlns:a="http://schemas.openxmlformats.org/drawingml/2006/main">
              <a:ext uri="{FF2B5EF4-FFF2-40B4-BE49-F238E27FC236}">
                <a16:creationId xmlns:a16="http://schemas.microsoft.com/office/drawing/2014/main" id="{DC7C3702-63E9-4730-BA4B-5AF32C6F1704}"/>
              </a:ext>
            </a:extLst>
          </p:cNvPr>
          <p:cNvSpPr>
            <a:spLocks xmlns:a="http://schemas.openxmlformats.org/drawingml/2006/main" noGrp="1"/>
          </p:cNvSpPr>
          <p:nvPr/>
        </p:nvSpPr>
        <p:spPr>
          <a:xfrm xmlns:a="http://schemas.openxmlformats.org/drawingml/2006/main">
            <a:off x="10382250" y="64579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673"/>
                </a:solidFill>
                <a:latin typeface="Aptos"/>
                <a:ea typeface="Aptos"/>
                <a:cs typeface="Aptos"/>
              </a:defRPr>
            </a:pPr>
            <a:r>
              <a:rPr sz="975" b="0">
                <a:solidFill>
                  <a:srgbClr val="5B6673"/>
                </a:solidFill>
                <a:latin typeface="Aptos"/>
                <a:ea typeface="Aptos"/>
                <a:cs typeface="Aptos"/>
              </a:rPr>
              <a:t>11</a:t>
            </a:r>
          </a:p>
        </p:txBody>
      </p:sp>
    </p:spTree>
    <p:extLst>
      <p:ext uri="{BB962C8B-B14F-4D97-AF65-F5344CB8AC3E}">
        <p14:creationId xmlns:p14="http://schemas.microsoft.com/office/powerpoint/2010/main" val="31173267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3414747-9C78-4385-87CC-C2F66702CA3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6E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F29E437-AF84-4C52-B363-B643676EF5D8}"/>
              </a:ext>
            </a:extLst>
          </p:cNvPr>
          <p:cNvSpPr>
            <a:spLocks xmlns:a="http://schemas.openxmlformats.org/drawingml/2006/main" noGrp="1"/>
          </p:cNvSpPr>
          <p:nvPr/>
        </p:nvSpPr>
        <p:spPr>
          <a:xfrm xmlns:a="http://schemas.openxmlformats.org/drawingml/2006/main">
            <a:off x="419100" y="381000"/>
            <a:ext cx="47625" cy="876300"/>
          </a:xfrm>
          <a:prstGeom xmlns:a="http://schemas.openxmlformats.org/drawingml/2006/main" prst="rect">
            <a:avLst/>
          </a:prstGeom>
          <a:solidFill xmlns:a="http://schemas.openxmlformats.org/drawingml/2006/main">
            <a:srgbClr val="556B2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65ED30E-4692-49CF-A0CE-D97D3249A0CD}"/>
              </a:ext>
            </a:extLst>
          </p:cNvPr>
          <p:cNvSpPr>
            <a:spLocks xmlns:a="http://schemas.openxmlformats.org/drawingml/2006/main" noGrp="1"/>
          </p:cNvSpPr>
          <p:nvPr/>
        </p:nvSpPr>
        <p:spPr>
          <a:xfrm xmlns:a="http://schemas.openxmlformats.org/drawingml/2006/main">
            <a:off x="647700" y="400050"/>
            <a:ext cx="704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556B2F"/>
                </a:solidFill>
                <a:latin typeface="Aptos"/>
                <a:ea typeface="Aptos"/>
                <a:cs typeface="Aptos"/>
              </a:defRPr>
            </a:pPr>
            <a:r>
              <a:rPr sz="1200" b="1">
                <a:solidFill>
                  <a:srgbClr val="556B2F"/>
                </a:solidFill>
                <a:latin typeface="Aptos"/>
                <a:ea typeface="Aptos"/>
                <a:cs typeface="Aptos"/>
              </a:rPr>
              <a:t>PROMPT 1</a:t>
            </a:r>
          </a:p>
        </p:txBody>
      </p:sp>
      <p:sp>
        <p:nvSpPr>
          <p:cNvPr id="4" name="">
            <a:extLst xmlns:a="http://schemas.openxmlformats.org/drawingml/2006/main">
              <a:ext uri="{FF2B5EF4-FFF2-40B4-BE49-F238E27FC236}">
                <a16:creationId xmlns:a16="http://schemas.microsoft.com/office/drawing/2014/main" id="{25409845-CB8B-44AD-858D-DC137810CA9C}"/>
              </a:ext>
            </a:extLst>
          </p:cNvPr>
          <p:cNvSpPr>
            <a:spLocks xmlns:a="http://schemas.openxmlformats.org/drawingml/2006/main" noGrp="1"/>
          </p:cNvSpPr>
          <p:nvPr/>
        </p:nvSpPr>
        <p:spPr>
          <a:xfrm xmlns:a="http://schemas.openxmlformats.org/drawingml/2006/main">
            <a:off x="647700" y="666750"/>
            <a:ext cx="7810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7202A"/>
                </a:solidFill>
                <a:latin typeface="Aptos"/>
                <a:ea typeface="Aptos"/>
                <a:cs typeface="Aptos"/>
              </a:defRPr>
            </a:pPr>
            <a:r>
              <a:rPr sz="3300" b="1">
                <a:solidFill>
                  <a:srgbClr val="17202A"/>
                </a:solidFill>
                <a:latin typeface="Aptos"/>
                <a:ea typeface="Aptos"/>
                <a:cs typeface="Aptos"/>
              </a:rPr>
              <a:t>Install prompt for interns</a:t>
            </a:r>
          </a:p>
        </p:txBody>
      </p:sp>
      <p:sp>
        <p:nvSpPr>
          <p:cNvPr id="5" name="">
            <a:extLst xmlns:a="http://schemas.openxmlformats.org/drawingml/2006/main">
              <a:ext uri="{FF2B5EF4-FFF2-40B4-BE49-F238E27FC236}">
                <a16:creationId xmlns:a16="http://schemas.microsoft.com/office/drawing/2014/main" id="{B587E321-D1B8-4EAE-9964-4B1F8A94B524}"/>
              </a:ext>
            </a:extLst>
          </p:cNvPr>
          <p:cNvSpPr>
            <a:spLocks xmlns:a="http://schemas.openxmlformats.org/drawingml/2006/main" noGrp="1"/>
          </p:cNvSpPr>
          <p:nvPr/>
        </p:nvSpPr>
        <p:spPr>
          <a:xfrm xmlns:a="http://schemas.openxmlformats.org/drawingml/2006/main">
            <a:off x="10001250" y="419100"/>
            <a:ext cx="1657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B6673"/>
                </a:solidFill>
                <a:latin typeface="Aptos"/>
                <a:ea typeface="Aptos"/>
                <a:cs typeface="Aptos"/>
              </a:defRPr>
            </a:pPr>
            <a:r>
              <a:rPr sz="1125" b="0">
                <a:solidFill>
                  <a:srgbClr val="5B6673"/>
                </a:solidFill>
                <a:latin typeface="Aptos"/>
                <a:ea typeface="Aptos"/>
                <a:cs typeface="Aptos"/>
              </a:rPr>
              <a:t>2026-05-04</a:t>
            </a:r>
          </a:p>
        </p:txBody>
      </p:sp>
      <p:sp>
        <p:nvSpPr>
          <p:cNvPr id="6" name="">
            <a:extLst xmlns:a="http://schemas.openxmlformats.org/drawingml/2006/main">
              <a:ext uri="{FF2B5EF4-FFF2-40B4-BE49-F238E27FC236}">
                <a16:creationId xmlns:a16="http://schemas.microsoft.com/office/drawing/2014/main" id="{0A3B95A0-73BC-45B7-8995-F6163004A436}"/>
              </a:ext>
            </a:extLst>
          </p:cNvPr>
          <p:cNvSpPr>
            <a:spLocks xmlns:a="http://schemas.openxmlformats.org/drawingml/2006/main" noGrp="1"/>
          </p:cNvSpPr>
          <p:nvPr/>
        </p:nvSpPr>
        <p:spPr>
          <a:xfrm xmlns:a="http://schemas.openxmlformats.org/drawingml/2006/main">
            <a:off x="819150" y="1524000"/>
            <a:ext cx="10287000" cy="3524250"/>
          </a:xfrm>
          <a:prstGeom xmlns:a="http://schemas.openxmlformats.org/drawingml/2006/main" prst="rect">
            <a:avLst/>
          </a:prstGeom>
          <a:solidFill xmlns:a="http://schemas.openxmlformats.org/drawingml/2006/main">
            <a:srgbClr val="111827"/>
          </a:solidFill>
          <a:ln xmlns:a="http://schemas.openxmlformats.org/drawingml/2006/main" w="9525">
            <a:solidFill>
              <a:srgbClr val="111827"/>
            </a:solidFill>
            <a:prstDash val="solid"/>
          </a:ln>
        </p:spPr>
      </p:sp>
      <p:sp>
        <p:nvSpPr>
          <p:cNvPr id="7" name="">
            <a:extLst xmlns:a="http://schemas.openxmlformats.org/drawingml/2006/main">
              <a:ext uri="{FF2B5EF4-FFF2-40B4-BE49-F238E27FC236}">
                <a16:creationId xmlns:a16="http://schemas.microsoft.com/office/drawing/2014/main" id="{A10AF31A-D6A4-4DCD-ACF1-232D8AE2EB5F}"/>
              </a:ext>
            </a:extLst>
          </p:cNvPr>
          <p:cNvSpPr>
            <a:spLocks xmlns:a="http://schemas.openxmlformats.org/drawingml/2006/main" noGrp="1"/>
          </p:cNvSpPr>
          <p:nvPr/>
        </p:nvSpPr>
        <p:spPr>
          <a:xfrm xmlns:a="http://schemas.openxmlformats.org/drawingml/2006/main">
            <a:off x="1066800" y="1790700"/>
            <a:ext cx="9791700" cy="3000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E5E7EB"/>
                </a:solidFill>
                <a:latin typeface="Aptos Mono"/>
                <a:ea typeface="Aptos Mono"/>
                <a:cs typeface="Aptos Mono"/>
              </a:defRPr>
            </a:pPr>
            <a:r>
              <a:rPr sz="1500" b="0">
                <a:solidFill>
                  <a:srgbClr val="E5E7EB"/>
                </a:solidFill>
                <a:latin typeface="Aptos Mono"/>
                <a:ea typeface="Aptos Mono"/>
                <a:cs typeface="Aptos Mono"/>
              </a:rPr>
              <a:t>Install Edward's agent stack on this fresh company Mac. During macOS setup, use a local macOS user and skip Apple Account/iCloud; do not use a personal iCloud account. Clone https://github.com/giaphutran12/edward-agent-stack to ~/edward-agent-stack, read AGENTS.md, then run ./scripts/bootstrap-macos.sh, ./scripts/install.sh, ./scripts/verify.sh, and ./scripts/auth-doctor.sh. Use /caveman ultra. Treat Nia as optional; do not create or require a Nia account unless Edward approves a seat. Do not inspect or print real env/secret files. If login, API key, license, or GUI first-run blocks setup, stop and tell me exactly what is missing. After install, tell me what passed, what failed, and what I need next.</a:t>
            </a:r>
          </a:p>
        </p:txBody>
      </p:sp>
      <p:sp>
        <p:nvSpPr>
          <p:cNvPr id="8" name="">
            <a:extLst xmlns:a="http://schemas.openxmlformats.org/drawingml/2006/main">
              <a:ext uri="{FF2B5EF4-FFF2-40B4-BE49-F238E27FC236}">
                <a16:creationId xmlns:a16="http://schemas.microsoft.com/office/drawing/2014/main" id="{A5462212-6D9A-48A4-ABB2-D40FEE4FC54F}"/>
              </a:ext>
            </a:extLst>
          </p:cNvPr>
          <p:cNvSpPr>
            <a:spLocks xmlns:a="http://schemas.openxmlformats.org/drawingml/2006/main" noGrp="1"/>
          </p:cNvSpPr>
          <p:nvPr/>
        </p:nvSpPr>
        <p:spPr>
          <a:xfrm xmlns:a="http://schemas.openxmlformats.org/drawingml/2006/main">
            <a:off x="857250" y="5334000"/>
            <a:ext cx="9906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17202A"/>
                </a:solidFill>
                <a:latin typeface="Aptos"/>
                <a:ea typeface="Aptos"/>
                <a:cs typeface="Aptos"/>
              </a:defRPr>
            </a:pPr>
            <a:r>
              <a:rPr sz="1575" b="1">
                <a:solidFill>
                  <a:srgbClr val="17202A"/>
                </a:solidFill>
                <a:latin typeface="Aptos"/>
                <a:ea typeface="Aptos"/>
                <a:cs typeface="Aptos"/>
              </a:rPr>
              <a:t>Intern reports pass/fail. They do not debug secret/account gates by guessing.</a:t>
            </a:r>
          </a:p>
        </p:txBody>
      </p:sp>
      <p:sp>
        <p:nvSpPr>
          <p:cNvPr id="9" name="">
            <a:extLst xmlns:a="http://schemas.openxmlformats.org/drawingml/2006/main">
              <a:ext uri="{FF2B5EF4-FFF2-40B4-BE49-F238E27FC236}">
                <a16:creationId xmlns:a16="http://schemas.microsoft.com/office/drawing/2014/main" id="{8187003A-3666-4C38-B093-22D24FCAA5A3}"/>
              </a:ext>
            </a:extLst>
          </p:cNvPr>
          <p:cNvSpPr>
            <a:spLocks xmlns:a="http://schemas.openxmlformats.org/drawingml/2006/main" noGrp="1"/>
          </p:cNvSpPr>
          <p:nvPr/>
        </p:nvSpPr>
        <p:spPr>
          <a:xfrm xmlns:a="http://schemas.openxmlformats.org/drawingml/2006/main">
            <a:off x="647700" y="6362700"/>
            <a:ext cx="10363200" cy="9525"/>
          </a:xfrm>
          <a:prstGeom xmlns:a="http://schemas.openxmlformats.org/drawingml/2006/main" prst="rect">
            <a:avLst/>
          </a:prstGeom>
          <a:solidFill xmlns:a="http://schemas.openxmlformats.org/drawingml/2006/main">
            <a:srgbClr val="D9D4C7"/>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74E6306-DBF7-4574-8CA3-2EDA0425D800}"/>
              </a:ext>
            </a:extLst>
          </p:cNvPr>
          <p:cNvSpPr>
            <a:spLocks xmlns:a="http://schemas.openxmlformats.org/drawingml/2006/main" noGrp="1"/>
          </p:cNvSpPr>
          <p:nvPr/>
        </p:nvSpPr>
        <p:spPr>
          <a:xfrm xmlns:a="http://schemas.openxmlformats.org/drawingml/2006/main">
            <a:off x="647700" y="64579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673"/>
                </a:solidFill>
                <a:latin typeface="Aptos"/>
                <a:ea typeface="Aptos"/>
                <a:cs typeface="Aptos"/>
              </a:defRPr>
            </a:pPr>
            <a:r>
              <a:rPr sz="975" b="0">
                <a:solidFill>
                  <a:srgbClr val="5B6673"/>
                </a:solidFill>
                <a:latin typeface="Aptos"/>
                <a:ea typeface="Aptos"/>
                <a:cs typeface="Aptos"/>
              </a:rPr>
              <a:t>PearlPortal intern onboarding</a:t>
            </a:r>
          </a:p>
        </p:txBody>
      </p:sp>
      <p:sp>
        <p:nvSpPr>
          <p:cNvPr id="11" name="">
            <a:extLst xmlns:a="http://schemas.openxmlformats.org/drawingml/2006/main">
              <a:ext uri="{FF2B5EF4-FFF2-40B4-BE49-F238E27FC236}">
                <a16:creationId xmlns:a16="http://schemas.microsoft.com/office/drawing/2014/main" id="{595711BD-F802-49FF-A6C4-8E21885B5CB5}"/>
              </a:ext>
            </a:extLst>
          </p:cNvPr>
          <p:cNvSpPr>
            <a:spLocks xmlns:a="http://schemas.openxmlformats.org/drawingml/2006/main" noGrp="1"/>
          </p:cNvSpPr>
          <p:nvPr/>
        </p:nvSpPr>
        <p:spPr>
          <a:xfrm xmlns:a="http://schemas.openxmlformats.org/drawingml/2006/main">
            <a:off x="10382250" y="64579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673"/>
                </a:solidFill>
                <a:latin typeface="Aptos"/>
                <a:ea typeface="Aptos"/>
                <a:cs typeface="Aptos"/>
              </a:defRPr>
            </a:pPr>
            <a:r>
              <a:rPr sz="975" b="0">
                <a:solidFill>
                  <a:srgbClr val="5B6673"/>
                </a:solidFill>
                <a:latin typeface="Aptos"/>
                <a:ea typeface="Aptos"/>
                <a:cs typeface="Aptos"/>
              </a:rPr>
              <a:t>12</a:t>
            </a:r>
          </a:p>
        </p:txBody>
      </p:sp>
    </p:spTree>
    <p:extLst>
      <p:ext uri="{BB962C8B-B14F-4D97-AF65-F5344CB8AC3E}">
        <p14:creationId xmlns:p14="http://schemas.microsoft.com/office/powerpoint/2010/main" val="149225888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0955C1-4EF1-4C8C-A291-6FEEF6BDDE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6E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7BE71DF-670B-4C6F-A6FA-F3BE0AB9BA42}"/>
              </a:ext>
            </a:extLst>
          </p:cNvPr>
          <p:cNvSpPr>
            <a:spLocks xmlns:a="http://schemas.openxmlformats.org/drawingml/2006/main" noGrp="1"/>
          </p:cNvSpPr>
          <p:nvPr/>
        </p:nvSpPr>
        <p:spPr>
          <a:xfrm xmlns:a="http://schemas.openxmlformats.org/drawingml/2006/main">
            <a:off x="419100" y="381000"/>
            <a:ext cx="47625" cy="876300"/>
          </a:xfrm>
          <a:prstGeom xmlns:a="http://schemas.openxmlformats.org/drawingml/2006/main" prst="rect">
            <a:avLst/>
          </a:prstGeom>
          <a:solidFill xmlns:a="http://schemas.openxmlformats.org/drawingml/2006/main">
            <a:srgbClr val="5B4B8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3D0A9CF-AB96-422C-9BFC-BB71B50EEB56}"/>
              </a:ext>
            </a:extLst>
          </p:cNvPr>
          <p:cNvSpPr>
            <a:spLocks xmlns:a="http://schemas.openxmlformats.org/drawingml/2006/main" noGrp="1"/>
          </p:cNvSpPr>
          <p:nvPr/>
        </p:nvSpPr>
        <p:spPr>
          <a:xfrm xmlns:a="http://schemas.openxmlformats.org/drawingml/2006/main">
            <a:off x="647700" y="400050"/>
            <a:ext cx="704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5B4B8A"/>
                </a:solidFill>
                <a:latin typeface="Aptos"/>
                <a:ea typeface="Aptos"/>
                <a:cs typeface="Aptos"/>
              </a:defRPr>
            </a:pPr>
            <a:r>
              <a:rPr sz="1200" b="1">
                <a:solidFill>
                  <a:srgbClr val="5B4B8A"/>
                </a:solidFill>
                <a:latin typeface="Aptos"/>
                <a:ea typeface="Aptos"/>
                <a:cs typeface="Aptos"/>
              </a:rPr>
              <a:t>PROMPT 2</a:t>
            </a:r>
          </a:p>
        </p:txBody>
      </p:sp>
      <p:sp>
        <p:nvSpPr>
          <p:cNvPr id="4" name="">
            <a:extLst xmlns:a="http://schemas.openxmlformats.org/drawingml/2006/main">
              <a:ext uri="{FF2B5EF4-FFF2-40B4-BE49-F238E27FC236}">
                <a16:creationId xmlns:a16="http://schemas.microsoft.com/office/drawing/2014/main" id="{EBD2D502-11F5-4CF6-992D-F5C54616E8E9}"/>
              </a:ext>
            </a:extLst>
          </p:cNvPr>
          <p:cNvSpPr>
            <a:spLocks xmlns:a="http://schemas.openxmlformats.org/drawingml/2006/main" noGrp="1"/>
          </p:cNvSpPr>
          <p:nvPr/>
        </p:nvSpPr>
        <p:spPr>
          <a:xfrm xmlns:a="http://schemas.openxmlformats.org/drawingml/2006/main">
            <a:off x="647700" y="666750"/>
            <a:ext cx="7810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2A"/>
                </a:solidFill>
                <a:latin typeface="Aptos"/>
                <a:ea typeface="Aptos"/>
                <a:cs typeface="Aptos"/>
              </a:defRPr>
            </a:pPr>
            <a:r>
              <a:rPr sz="3000" b="1">
                <a:solidFill>
                  <a:srgbClr val="17202A"/>
                </a:solidFill>
                <a:latin typeface="Aptos"/>
                <a:ea typeface="Aptos"/>
                <a:cs typeface="Aptos"/>
              </a:rPr>
              <a:t>Ask Codex to teach PearlPortal architecture</a:t>
            </a:r>
          </a:p>
        </p:txBody>
      </p:sp>
      <p:sp>
        <p:nvSpPr>
          <p:cNvPr id="5" name="">
            <a:extLst xmlns:a="http://schemas.openxmlformats.org/drawingml/2006/main">
              <a:ext uri="{FF2B5EF4-FFF2-40B4-BE49-F238E27FC236}">
                <a16:creationId xmlns:a16="http://schemas.microsoft.com/office/drawing/2014/main" id="{38D1E172-31F5-4781-B1AB-8BDE427B896F}"/>
              </a:ext>
            </a:extLst>
          </p:cNvPr>
          <p:cNvSpPr>
            <a:spLocks xmlns:a="http://schemas.openxmlformats.org/drawingml/2006/main" noGrp="1"/>
          </p:cNvSpPr>
          <p:nvPr/>
        </p:nvSpPr>
        <p:spPr>
          <a:xfrm xmlns:a="http://schemas.openxmlformats.org/drawingml/2006/main">
            <a:off x="10001250" y="419100"/>
            <a:ext cx="1657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B6673"/>
                </a:solidFill>
                <a:latin typeface="Aptos"/>
                <a:ea typeface="Aptos"/>
                <a:cs typeface="Aptos"/>
              </a:defRPr>
            </a:pPr>
            <a:r>
              <a:rPr sz="1125" b="0">
                <a:solidFill>
                  <a:srgbClr val="5B6673"/>
                </a:solidFill>
                <a:latin typeface="Aptos"/>
                <a:ea typeface="Aptos"/>
                <a:cs typeface="Aptos"/>
              </a:rPr>
              <a:t>2026-05-04</a:t>
            </a:r>
          </a:p>
        </p:txBody>
      </p:sp>
      <p:sp>
        <p:nvSpPr>
          <p:cNvPr id="6" name="">
            <a:extLst xmlns:a="http://schemas.openxmlformats.org/drawingml/2006/main">
              <a:ext uri="{FF2B5EF4-FFF2-40B4-BE49-F238E27FC236}">
                <a16:creationId xmlns:a16="http://schemas.microsoft.com/office/drawing/2014/main" id="{75E4741B-3F12-427C-B692-6CA085F5A756}"/>
              </a:ext>
            </a:extLst>
          </p:cNvPr>
          <p:cNvSpPr>
            <a:spLocks xmlns:a="http://schemas.openxmlformats.org/drawingml/2006/main" noGrp="1"/>
          </p:cNvSpPr>
          <p:nvPr/>
        </p:nvSpPr>
        <p:spPr>
          <a:xfrm xmlns:a="http://schemas.openxmlformats.org/drawingml/2006/main">
            <a:off x="819150" y="1714500"/>
            <a:ext cx="10287000" cy="2952750"/>
          </a:xfrm>
          <a:prstGeom xmlns:a="http://schemas.openxmlformats.org/drawingml/2006/main" prst="rect">
            <a:avLst/>
          </a:prstGeom>
          <a:solidFill xmlns:a="http://schemas.openxmlformats.org/drawingml/2006/main">
            <a:srgbClr val="111827"/>
          </a:solidFill>
          <a:ln xmlns:a="http://schemas.openxmlformats.org/drawingml/2006/main" w="9525">
            <a:solidFill>
              <a:srgbClr val="111827"/>
            </a:solidFill>
            <a:prstDash val="solid"/>
          </a:ln>
        </p:spPr>
      </p:sp>
      <p:sp>
        <p:nvSpPr>
          <p:cNvPr id="7" name="">
            <a:extLst xmlns:a="http://schemas.openxmlformats.org/drawingml/2006/main">
              <a:ext uri="{FF2B5EF4-FFF2-40B4-BE49-F238E27FC236}">
                <a16:creationId xmlns:a16="http://schemas.microsoft.com/office/drawing/2014/main" id="{026C9F01-4DCA-4EE6-B165-DBE495EB78FD}"/>
              </a:ext>
            </a:extLst>
          </p:cNvPr>
          <p:cNvSpPr>
            <a:spLocks xmlns:a="http://schemas.openxmlformats.org/drawingml/2006/main" noGrp="1"/>
          </p:cNvSpPr>
          <p:nvPr/>
        </p:nvSpPr>
        <p:spPr>
          <a:xfrm xmlns:a="http://schemas.openxmlformats.org/drawingml/2006/main">
            <a:off x="1066800" y="1952625"/>
            <a:ext cx="9791700" cy="2333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E5E7EB"/>
                </a:solidFill>
                <a:latin typeface="Aptos Mono"/>
                <a:ea typeface="Aptos Mono"/>
                <a:cs typeface="Aptos Mono"/>
              </a:defRPr>
            </a:pPr>
            <a:r>
              <a:rPr sz="1575" b="0">
                <a:solidFill>
                  <a:srgbClr val="E5E7EB"/>
                </a:solidFill>
                <a:latin typeface="Aptos Mono"/>
                <a:ea typeface="Aptos Mono"/>
                <a:cs typeface="Aptos Mono"/>
              </a:rPr>
              <a:t>You are onboarding me to PearlPortal. Do not edit files. Read AGENTS.md and repo docs first. Use Repowise if healthy, otherwise use rg and direct source reads. Explain the architecture with file citations: frontend routes/components, backend routes/services, Supabase auth/data/RLS, external systems, scheduled jobs, and highest-risk areas. Then give me a Mermaid or Excalidraw-ready diagram spec plus 10 questions I should ask Edward before coding.</a:t>
            </a:r>
          </a:p>
        </p:txBody>
      </p:sp>
      <p:sp>
        <p:nvSpPr>
          <p:cNvPr id="8" name="">
            <a:extLst xmlns:a="http://schemas.openxmlformats.org/drawingml/2006/main">
              <a:ext uri="{FF2B5EF4-FFF2-40B4-BE49-F238E27FC236}">
                <a16:creationId xmlns:a16="http://schemas.microsoft.com/office/drawing/2014/main" id="{05F1ED0E-26BE-425E-A823-AE50F4A29549}"/>
              </a:ext>
            </a:extLst>
          </p:cNvPr>
          <p:cNvSpPr>
            <a:spLocks xmlns:a="http://schemas.openxmlformats.org/drawingml/2006/main" noGrp="1"/>
          </p:cNvSpPr>
          <p:nvPr/>
        </p:nvSpPr>
        <p:spPr>
          <a:xfrm xmlns:a="http://schemas.openxmlformats.org/drawingml/2006/main">
            <a:off x="952500" y="5048250"/>
            <a:ext cx="9525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17202A"/>
                </a:solidFill>
                <a:latin typeface="Aptos"/>
                <a:ea typeface="Aptos"/>
                <a:cs typeface="Aptos"/>
              </a:defRPr>
            </a:pPr>
            <a:r>
              <a:rPr sz="1650" b="1">
                <a:solidFill>
                  <a:srgbClr val="17202A"/>
                </a:solidFill>
                <a:latin typeface="Aptos"/>
                <a:ea typeface="Aptos"/>
                <a:cs typeface="Aptos"/>
              </a:rPr>
              <a:t>Good output names files, routes, tables, jobs, and failure modes. Bad output sounds like generic SaaS architecture.</a:t>
            </a:r>
          </a:p>
        </p:txBody>
      </p:sp>
      <p:sp>
        <p:nvSpPr>
          <p:cNvPr id="9" name="">
            <a:extLst xmlns:a="http://schemas.openxmlformats.org/drawingml/2006/main">
              <a:ext uri="{FF2B5EF4-FFF2-40B4-BE49-F238E27FC236}">
                <a16:creationId xmlns:a16="http://schemas.microsoft.com/office/drawing/2014/main" id="{5DB3198F-3CC1-4E3F-9A99-B95D46C39C7C}"/>
              </a:ext>
            </a:extLst>
          </p:cNvPr>
          <p:cNvSpPr>
            <a:spLocks xmlns:a="http://schemas.openxmlformats.org/drawingml/2006/main" noGrp="1"/>
          </p:cNvSpPr>
          <p:nvPr/>
        </p:nvSpPr>
        <p:spPr>
          <a:xfrm xmlns:a="http://schemas.openxmlformats.org/drawingml/2006/main">
            <a:off x="647700" y="6362700"/>
            <a:ext cx="10363200" cy="9525"/>
          </a:xfrm>
          <a:prstGeom xmlns:a="http://schemas.openxmlformats.org/drawingml/2006/main" prst="rect">
            <a:avLst/>
          </a:prstGeom>
          <a:solidFill xmlns:a="http://schemas.openxmlformats.org/drawingml/2006/main">
            <a:srgbClr val="D9D4C7"/>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7B719D9-8483-4C1A-9EE7-03DF3C27E175}"/>
              </a:ext>
            </a:extLst>
          </p:cNvPr>
          <p:cNvSpPr>
            <a:spLocks xmlns:a="http://schemas.openxmlformats.org/drawingml/2006/main" noGrp="1"/>
          </p:cNvSpPr>
          <p:nvPr/>
        </p:nvSpPr>
        <p:spPr>
          <a:xfrm xmlns:a="http://schemas.openxmlformats.org/drawingml/2006/main">
            <a:off x="647700" y="64579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673"/>
                </a:solidFill>
                <a:latin typeface="Aptos"/>
                <a:ea typeface="Aptos"/>
                <a:cs typeface="Aptos"/>
              </a:defRPr>
            </a:pPr>
            <a:r>
              <a:rPr sz="975" b="0">
                <a:solidFill>
                  <a:srgbClr val="5B6673"/>
                </a:solidFill>
                <a:latin typeface="Aptos"/>
                <a:ea typeface="Aptos"/>
                <a:cs typeface="Aptos"/>
              </a:rPr>
              <a:t>PearlPortal intern onboarding</a:t>
            </a:r>
          </a:p>
        </p:txBody>
      </p:sp>
      <p:sp>
        <p:nvSpPr>
          <p:cNvPr id="11" name="">
            <a:extLst xmlns:a="http://schemas.openxmlformats.org/drawingml/2006/main">
              <a:ext uri="{FF2B5EF4-FFF2-40B4-BE49-F238E27FC236}">
                <a16:creationId xmlns:a16="http://schemas.microsoft.com/office/drawing/2014/main" id="{36272891-FAF8-4CF3-977A-29BE94D1465C}"/>
              </a:ext>
            </a:extLst>
          </p:cNvPr>
          <p:cNvSpPr>
            <a:spLocks xmlns:a="http://schemas.openxmlformats.org/drawingml/2006/main" noGrp="1"/>
          </p:cNvSpPr>
          <p:nvPr/>
        </p:nvSpPr>
        <p:spPr>
          <a:xfrm xmlns:a="http://schemas.openxmlformats.org/drawingml/2006/main">
            <a:off x="10382250" y="64579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673"/>
                </a:solidFill>
                <a:latin typeface="Aptos"/>
                <a:ea typeface="Aptos"/>
                <a:cs typeface="Aptos"/>
              </a:defRPr>
            </a:pPr>
            <a:r>
              <a:rPr sz="975" b="0">
                <a:solidFill>
                  <a:srgbClr val="5B6673"/>
                </a:solidFill>
                <a:latin typeface="Aptos"/>
                <a:ea typeface="Aptos"/>
                <a:cs typeface="Aptos"/>
              </a:rPr>
              <a:t>13</a:t>
            </a:r>
          </a:p>
        </p:txBody>
      </p:sp>
    </p:spTree>
    <p:extLst>
      <p:ext uri="{BB962C8B-B14F-4D97-AF65-F5344CB8AC3E}">
        <p14:creationId xmlns:p14="http://schemas.microsoft.com/office/powerpoint/2010/main" val="35698451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31205E-7539-4618-AA78-450626A986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6E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4772B1F-6D6B-47ED-BFB8-07DD17BFB260}"/>
              </a:ext>
            </a:extLst>
          </p:cNvPr>
          <p:cNvSpPr>
            <a:spLocks xmlns:a="http://schemas.openxmlformats.org/drawingml/2006/main" noGrp="1"/>
          </p:cNvSpPr>
          <p:nvPr/>
        </p:nvSpPr>
        <p:spPr>
          <a:xfrm xmlns:a="http://schemas.openxmlformats.org/drawingml/2006/main">
            <a:off x="419100" y="381000"/>
            <a:ext cx="47625" cy="876300"/>
          </a:xfrm>
          <a:prstGeom xmlns:a="http://schemas.openxmlformats.org/drawingml/2006/main" prst="rect">
            <a:avLst/>
          </a:prstGeom>
          <a:solidFill xmlns:a="http://schemas.openxmlformats.org/drawingml/2006/main">
            <a:srgbClr val="B7791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41E5B88-0787-46A7-81E3-51AE7FDACF14}"/>
              </a:ext>
            </a:extLst>
          </p:cNvPr>
          <p:cNvSpPr>
            <a:spLocks xmlns:a="http://schemas.openxmlformats.org/drawingml/2006/main" noGrp="1"/>
          </p:cNvSpPr>
          <p:nvPr/>
        </p:nvSpPr>
        <p:spPr>
          <a:xfrm xmlns:a="http://schemas.openxmlformats.org/drawingml/2006/main">
            <a:off x="647700" y="400050"/>
            <a:ext cx="704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B7791F"/>
                </a:solidFill>
                <a:latin typeface="Aptos"/>
                <a:ea typeface="Aptos"/>
                <a:cs typeface="Aptos"/>
              </a:defRPr>
            </a:pPr>
            <a:r>
              <a:rPr sz="1200" b="1">
                <a:solidFill>
                  <a:srgbClr val="B7791F"/>
                </a:solidFill>
                <a:latin typeface="Aptos"/>
                <a:ea typeface="Aptos"/>
                <a:cs typeface="Aptos"/>
              </a:rPr>
              <a:t>EXERCISE</a:t>
            </a:r>
          </a:p>
        </p:txBody>
      </p:sp>
      <p:sp>
        <p:nvSpPr>
          <p:cNvPr id="4" name="">
            <a:extLst xmlns:a="http://schemas.openxmlformats.org/drawingml/2006/main">
              <a:ext uri="{FF2B5EF4-FFF2-40B4-BE49-F238E27FC236}">
                <a16:creationId xmlns:a16="http://schemas.microsoft.com/office/drawing/2014/main" id="{C60F0540-C5ED-46C6-8166-F44DD5F2DD75}"/>
              </a:ext>
            </a:extLst>
          </p:cNvPr>
          <p:cNvSpPr>
            <a:spLocks xmlns:a="http://schemas.openxmlformats.org/drawingml/2006/main" noGrp="1"/>
          </p:cNvSpPr>
          <p:nvPr/>
        </p:nvSpPr>
        <p:spPr>
          <a:xfrm xmlns:a="http://schemas.openxmlformats.org/drawingml/2006/main">
            <a:off x="647700" y="666750"/>
            <a:ext cx="7810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7202A"/>
                </a:solidFill>
                <a:latin typeface="Aptos"/>
                <a:ea typeface="Aptos"/>
                <a:cs typeface="Aptos"/>
              </a:defRPr>
            </a:pPr>
            <a:r>
              <a:rPr sz="3300" b="1">
                <a:solidFill>
                  <a:srgbClr val="17202A"/>
                </a:solidFill>
                <a:latin typeface="Aptos"/>
                <a:ea typeface="Aptos"/>
                <a:cs typeface="Aptos"/>
              </a:rPr>
              <a:t>Excalidraw architecture assignment</a:t>
            </a:r>
          </a:p>
        </p:txBody>
      </p:sp>
      <p:sp>
        <p:nvSpPr>
          <p:cNvPr id="5" name="">
            <a:extLst xmlns:a="http://schemas.openxmlformats.org/drawingml/2006/main">
              <a:ext uri="{FF2B5EF4-FFF2-40B4-BE49-F238E27FC236}">
                <a16:creationId xmlns:a16="http://schemas.microsoft.com/office/drawing/2014/main" id="{E0809622-337D-4262-92C2-173BA1891E56}"/>
              </a:ext>
            </a:extLst>
          </p:cNvPr>
          <p:cNvSpPr>
            <a:spLocks xmlns:a="http://schemas.openxmlformats.org/drawingml/2006/main" noGrp="1"/>
          </p:cNvSpPr>
          <p:nvPr/>
        </p:nvSpPr>
        <p:spPr>
          <a:xfrm xmlns:a="http://schemas.openxmlformats.org/drawingml/2006/main">
            <a:off x="10001250" y="419100"/>
            <a:ext cx="16573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B6673"/>
                </a:solidFill>
                <a:latin typeface="Aptos"/>
                <a:ea typeface="Aptos"/>
                <a:cs typeface="Aptos"/>
              </a:defRPr>
            </a:pPr>
            <a:r>
              <a:rPr sz="1125" b="0">
                <a:solidFill>
                  <a:srgbClr val="5B6673"/>
                </a:solidFill>
                <a:latin typeface="Aptos"/>
                <a:ea typeface="Aptos"/>
                <a:cs typeface="Aptos"/>
              </a:rPr>
              <a:t>2026-05-04</a:t>
            </a:r>
          </a:p>
        </p:txBody>
      </p:sp>
      <p:sp>
        <p:nvSpPr>
          <p:cNvPr id="6" name="">
            <a:extLst xmlns:a="http://schemas.openxmlformats.org/drawingml/2006/main">
              <a:ext uri="{FF2B5EF4-FFF2-40B4-BE49-F238E27FC236}">
                <a16:creationId xmlns:a16="http://schemas.microsoft.com/office/drawing/2014/main" id="{ECD94067-0C16-4BA2-B5AB-1A5FBF12574C}"/>
              </a:ext>
            </a:extLst>
          </p:cNvPr>
          <p:cNvSpPr>
            <a:spLocks xmlns:a="http://schemas.openxmlformats.org/drawingml/2006/main" noGrp="1"/>
          </p:cNvSpPr>
          <p:nvPr/>
        </p:nvSpPr>
        <p:spPr>
          <a:xfrm xmlns:a="http://schemas.openxmlformats.org/drawingml/2006/main">
            <a:off x="647700" y="1476375"/>
            <a:ext cx="3143250" cy="3333750"/>
          </a:xfrm>
          <a:prstGeom xmlns:a="http://schemas.openxmlformats.org/drawingml/2006/main" prst="rect">
            <a:avLst/>
          </a:prstGeom>
          <a:solidFill xmlns:a="http://schemas.openxmlformats.org/drawingml/2006/main">
            <a:srgbClr val="F6E6BE"/>
          </a:solidFill>
          <a:ln xmlns:a="http://schemas.openxmlformats.org/drawingml/2006/main" w="9525">
            <a:solidFill>
              <a:srgbClr val="D9D4C7"/>
            </a:solidFill>
            <a:prstDash val="solid"/>
          </a:ln>
        </p:spPr>
      </p:sp>
      <p:sp>
        <p:nvSpPr>
          <p:cNvPr id="7" name="">
            <a:extLst xmlns:a="http://schemas.openxmlformats.org/drawingml/2006/main">
              <a:ext uri="{FF2B5EF4-FFF2-40B4-BE49-F238E27FC236}">
                <a16:creationId xmlns:a16="http://schemas.microsoft.com/office/drawing/2014/main" id="{DD734680-74A6-4F4F-A529-8158AFEEF03E}"/>
              </a:ext>
            </a:extLst>
          </p:cNvPr>
          <p:cNvSpPr>
            <a:spLocks xmlns:a="http://schemas.openxmlformats.org/drawingml/2006/main" noGrp="1"/>
          </p:cNvSpPr>
          <p:nvPr/>
        </p:nvSpPr>
        <p:spPr>
          <a:xfrm xmlns:a="http://schemas.openxmlformats.org/drawingml/2006/main">
            <a:off x="647700" y="1476375"/>
            <a:ext cx="47625" cy="3333750"/>
          </a:xfrm>
          <a:prstGeom xmlns:a="http://schemas.openxmlformats.org/drawingml/2006/main" prst="rect">
            <a:avLst/>
          </a:prstGeom>
          <a:solidFill xmlns:a="http://schemas.openxmlformats.org/drawingml/2006/main">
            <a:srgbClr val="B7791F"/>
          </a:solidFill>
          <a:ln xmlns:a="http://schemas.openxmlformats.org/drawingml/2006/main" w="9525">
            <a:solidFill>
              <a:srgbClr val="B7791F"/>
            </a:solidFill>
            <a:prstDash val="solid"/>
          </a:ln>
        </p:spPr>
      </p:sp>
      <p:sp>
        <p:nvSpPr>
          <p:cNvPr id="8" name="">
            <a:extLst xmlns:a="http://schemas.openxmlformats.org/drawingml/2006/main">
              <a:ext uri="{FF2B5EF4-FFF2-40B4-BE49-F238E27FC236}">
                <a16:creationId xmlns:a16="http://schemas.microsoft.com/office/drawing/2014/main" id="{9DF1BF06-E623-41D8-867C-0798CCFF372B}"/>
              </a:ext>
            </a:extLst>
          </p:cNvPr>
          <p:cNvSpPr>
            <a:spLocks xmlns:a="http://schemas.openxmlformats.org/drawingml/2006/main" noGrp="1"/>
          </p:cNvSpPr>
          <p:nvPr/>
        </p:nvSpPr>
        <p:spPr>
          <a:xfrm xmlns:a="http://schemas.openxmlformats.org/drawingml/2006/main">
            <a:off x="857250" y="1647825"/>
            <a:ext cx="2724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Must include</a:t>
            </a:r>
          </a:p>
        </p:txBody>
      </p:sp>
      <p:sp>
        <p:nvSpPr>
          <p:cNvPr id="9" name="">
            <a:extLst xmlns:a="http://schemas.openxmlformats.org/drawingml/2006/main">
              <a:ext uri="{FF2B5EF4-FFF2-40B4-BE49-F238E27FC236}">
                <a16:creationId xmlns:a16="http://schemas.microsoft.com/office/drawing/2014/main" id="{708674A2-6E92-4081-93C9-BBBB5F5938E9}"/>
              </a:ext>
            </a:extLst>
          </p:cNvPr>
          <p:cNvSpPr>
            <a:spLocks xmlns:a="http://schemas.openxmlformats.org/drawingml/2006/main" noGrp="1"/>
          </p:cNvSpPr>
          <p:nvPr/>
        </p:nvSpPr>
        <p:spPr>
          <a:xfrm xmlns:a="http://schemas.openxmlformats.org/drawingml/2006/main">
            <a:off x="857250" y="2009775"/>
            <a:ext cx="2724150" cy="2667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Frontend routes</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Backend route groups</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Supabase tables/auth/RLS</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Salesforce sync</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RingCentral calls/SMS</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Velocity/HOLP AML</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AI processing</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Schedulers</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Secrets/auth gates</a:t>
            </a:r>
          </a:p>
        </p:txBody>
      </p:sp>
      <p:sp>
        <p:nvSpPr>
          <p:cNvPr id="10" name="">
            <a:extLst xmlns:a="http://schemas.openxmlformats.org/drawingml/2006/main">
              <a:ext uri="{FF2B5EF4-FFF2-40B4-BE49-F238E27FC236}">
                <a16:creationId xmlns:a16="http://schemas.microsoft.com/office/drawing/2014/main" id="{1ADDFD4D-C301-4C5D-81DA-85E4F4C81F2E}"/>
              </a:ext>
            </a:extLst>
          </p:cNvPr>
          <p:cNvSpPr>
            <a:spLocks xmlns:a="http://schemas.openxmlformats.org/drawingml/2006/main" noGrp="1"/>
          </p:cNvSpPr>
          <p:nvPr/>
        </p:nvSpPr>
        <p:spPr>
          <a:xfrm xmlns:a="http://schemas.openxmlformats.org/drawingml/2006/main">
            <a:off x="4476750" y="1476375"/>
            <a:ext cx="3143250" cy="3333750"/>
          </a:xfrm>
          <a:prstGeom xmlns:a="http://schemas.openxmlformats.org/drawingml/2006/main" prst="rect">
            <a:avLst/>
          </a:prstGeom>
          <a:solidFill xmlns:a="http://schemas.openxmlformats.org/drawingml/2006/main">
            <a:srgbClr val="D8F3EE"/>
          </a:solidFill>
          <a:ln xmlns:a="http://schemas.openxmlformats.org/drawingml/2006/main" w="9525">
            <a:solidFill>
              <a:srgbClr val="D9D4C7"/>
            </a:solidFill>
            <a:prstDash val="solid"/>
          </a:ln>
        </p:spPr>
      </p:sp>
      <p:sp>
        <p:nvSpPr>
          <p:cNvPr id="11" name="">
            <a:extLst xmlns:a="http://schemas.openxmlformats.org/drawingml/2006/main">
              <a:ext uri="{FF2B5EF4-FFF2-40B4-BE49-F238E27FC236}">
                <a16:creationId xmlns:a16="http://schemas.microsoft.com/office/drawing/2014/main" id="{5183899C-3169-4572-840A-98B54F34627D}"/>
              </a:ext>
            </a:extLst>
          </p:cNvPr>
          <p:cNvSpPr>
            <a:spLocks xmlns:a="http://schemas.openxmlformats.org/drawingml/2006/main" noGrp="1"/>
          </p:cNvSpPr>
          <p:nvPr/>
        </p:nvSpPr>
        <p:spPr>
          <a:xfrm xmlns:a="http://schemas.openxmlformats.org/drawingml/2006/main">
            <a:off x="4476750" y="1476375"/>
            <a:ext cx="47625" cy="3333750"/>
          </a:xfrm>
          <a:prstGeom xmlns:a="http://schemas.openxmlformats.org/drawingml/2006/main" prst="rect">
            <a:avLst/>
          </a:prstGeom>
          <a:solidFill xmlns:a="http://schemas.openxmlformats.org/drawingml/2006/main">
            <a:srgbClr val="0F766E"/>
          </a:solidFill>
          <a:ln xmlns:a="http://schemas.openxmlformats.org/drawingml/2006/main" w="9525">
            <a:solidFill>
              <a:srgbClr val="0F766E"/>
            </a:solidFill>
            <a:prstDash val="solid"/>
          </a:ln>
        </p:spPr>
      </p:sp>
      <p:sp>
        <p:nvSpPr>
          <p:cNvPr id="12" name="">
            <a:extLst xmlns:a="http://schemas.openxmlformats.org/drawingml/2006/main">
              <a:ext uri="{FF2B5EF4-FFF2-40B4-BE49-F238E27FC236}">
                <a16:creationId xmlns:a16="http://schemas.microsoft.com/office/drawing/2014/main" id="{71A70170-69A4-4D2F-AC6E-526860DFEDCF}"/>
              </a:ext>
            </a:extLst>
          </p:cNvPr>
          <p:cNvSpPr>
            <a:spLocks xmlns:a="http://schemas.openxmlformats.org/drawingml/2006/main" noGrp="1"/>
          </p:cNvSpPr>
          <p:nvPr/>
        </p:nvSpPr>
        <p:spPr>
          <a:xfrm xmlns:a="http://schemas.openxmlformats.org/drawingml/2006/main">
            <a:off x="4686300" y="1647825"/>
            <a:ext cx="2724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Must label</a:t>
            </a:r>
          </a:p>
        </p:txBody>
      </p:sp>
      <p:sp>
        <p:nvSpPr>
          <p:cNvPr id="13" name="">
            <a:extLst xmlns:a="http://schemas.openxmlformats.org/drawingml/2006/main">
              <a:ext uri="{FF2B5EF4-FFF2-40B4-BE49-F238E27FC236}">
                <a16:creationId xmlns:a16="http://schemas.microsoft.com/office/drawing/2014/main" id="{8469E3F2-1582-480F-B6F6-2D6BC7ECCC3E}"/>
              </a:ext>
            </a:extLst>
          </p:cNvPr>
          <p:cNvSpPr>
            <a:spLocks xmlns:a="http://schemas.openxmlformats.org/drawingml/2006/main" noGrp="1"/>
          </p:cNvSpPr>
          <p:nvPr/>
        </p:nvSpPr>
        <p:spPr>
          <a:xfrm xmlns:a="http://schemas.openxmlformats.org/drawingml/2006/main">
            <a:off x="4686300" y="2009775"/>
            <a:ext cx="2724150" cy="2667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Data direction</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Read vs write path</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User role boundary</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API key/session boundary</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Background job owner</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Failure mode</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What is proven by source</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What is still unknown</a:t>
            </a:r>
          </a:p>
        </p:txBody>
      </p:sp>
      <p:sp>
        <p:nvSpPr>
          <p:cNvPr id="14" name="">
            <a:extLst xmlns:a="http://schemas.openxmlformats.org/drawingml/2006/main">
              <a:ext uri="{FF2B5EF4-FFF2-40B4-BE49-F238E27FC236}">
                <a16:creationId xmlns:a16="http://schemas.microsoft.com/office/drawing/2014/main" id="{8E993B73-1920-4A9D-886F-54AF6771081A}"/>
              </a:ext>
            </a:extLst>
          </p:cNvPr>
          <p:cNvSpPr>
            <a:spLocks xmlns:a="http://schemas.openxmlformats.org/drawingml/2006/main" noGrp="1"/>
          </p:cNvSpPr>
          <p:nvPr/>
        </p:nvSpPr>
        <p:spPr>
          <a:xfrm xmlns:a="http://schemas.openxmlformats.org/drawingml/2006/main">
            <a:off x="8305800" y="1476375"/>
            <a:ext cx="3143250" cy="3333750"/>
          </a:xfrm>
          <a:prstGeom xmlns:a="http://schemas.openxmlformats.org/drawingml/2006/main" prst="rect">
            <a:avLst/>
          </a:prstGeom>
          <a:solidFill xmlns:a="http://schemas.openxmlformats.org/drawingml/2006/main">
            <a:srgbClr val="E4DFF4"/>
          </a:solidFill>
          <a:ln xmlns:a="http://schemas.openxmlformats.org/drawingml/2006/main" w="9525">
            <a:solidFill>
              <a:srgbClr val="D9D4C7"/>
            </a:solidFill>
            <a:prstDash val="solid"/>
          </a:ln>
        </p:spPr>
      </p:sp>
      <p:sp>
        <p:nvSpPr>
          <p:cNvPr id="15" name="">
            <a:extLst xmlns:a="http://schemas.openxmlformats.org/drawingml/2006/main">
              <a:ext uri="{FF2B5EF4-FFF2-40B4-BE49-F238E27FC236}">
                <a16:creationId xmlns:a16="http://schemas.microsoft.com/office/drawing/2014/main" id="{34FD4358-312E-4701-875D-EA8273D7788D}"/>
              </a:ext>
            </a:extLst>
          </p:cNvPr>
          <p:cNvSpPr>
            <a:spLocks xmlns:a="http://schemas.openxmlformats.org/drawingml/2006/main" noGrp="1"/>
          </p:cNvSpPr>
          <p:nvPr/>
        </p:nvSpPr>
        <p:spPr>
          <a:xfrm xmlns:a="http://schemas.openxmlformats.org/drawingml/2006/main">
            <a:off x="8305800" y="1476375"/>
            <a:ext cx="47625" cy="3333750"/>
          </a:xfrm>
          <a:prstGeom xmlns:a="http://schemas.openxmlformats.org/drawingml/2006/main" prst="rect">
            <a:avLst/>
          </a:prstGeom>
          <a:solidFill xmlns:a="http://schemas.openxmlformats.org/drawingml/2006/main">
            <a:srgbClr val="5B4B8A"/>
          </a:solidFill>
          <a:ln xmlns:a="http://schemas.openxmlformats.org/drawingml/2006/main" w="9525">
            <a:solidFill>
              <a:srgbClr val="5B4B8A"/>
            </a:solidFill>
            <a:prstDash val="solid"/>
          </a:ln>
        </p:spPr>
      </p:sp>
      <p:sp>
        <p:nvSpPr>
          <p:cNvPr id="16" name="">
            <a:extLst xmlns:a="http://schemas.openxmlformats.org/drawingml/2006/main">
              <a:ext uri="{FF2B5EF4-FFF2-40B4-BE49-F238E27FC236}">
                <a16:creationId xmlns:a16="http://schemas.microsoft.com/office/drawing/2014/main" id="{8315C5AC-C3F0-4D76-A1F4-A31B48B2455D}"/>
              </a:ext>
            </a:extLst>
          </p:cNvPr>
          <p:cNvSpPr>
            <a:spLocks xmlns:a="http://schemas.openxmlformats.org/drawingml/2006/main" noGrp="1"/>
          </p:cNvSpPr>
          <p:nvPr/>
        </p:nvSpPr>
        <p:spPr>
          <a:xfrm xmlns:a="http://schemas.openxmlformats.org/drawingml/2006/main">
            <a:off x="8515350" y="1647825"/>
            <a:ext cx="27241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A"/>
                </a:solidFill>
                <a:latin typeface="Aptos"/>
                <a:ea typeface="Aptos"/>
                <a:cs typeface="Aptos"/>
              </a:defRPr>
            </a:pPr>
            <a:r>
              <a:rPr sz="1650" b="1">
                <a:solidFill>
                  <a:srgbClr val="17202A"/>
                </a:solidFill>
                <a:latin typeface="Aptos"/>
                <a:ea typeface="Aptos"/>
                <a:cs typeface="Aptos"/>
              </a:rPr>
              <a:t>Review rubric</a:t>
            </a:r>
          </a:p>
        </p:txBody>
      </p:sp>
      <p:sp>
        <p:nvSpPr>
          <p:cNvPr id="17" name="">
            <a:extLst xmlns:a="http://schemas.openxmlformats.org/drawingml/2006/main">
              <a:ext uri="{FF2B5EF4-FFF2-40B4-BE49-F238E27FC236}">
                <a16:creationId xmlns:a16="http://schemas.microsoft.com/office/drawing/2014/main" id="{0E0A8E2B-165B-4F46-93B2-2BF6E836419B}"/>
              </a:ext>
            </a:extLst>
          </p:cNvPr>
          <p:cNvSpPr>
            <a:spLocks xmlns:a="http://schemas.openxmlformats.org/drawingml/2006/main" noGrp="1"/>
          </p:cNvSpPr>
          <p:nvPr/>
        </p:nvSpPr>
        <p:spPr>
          <a:xfrm xmlns:a="http://schemas.openxmlformats.org/drawingml/2006/main">
            <a:off x="8515350" y="2009775"/>
            <a:ext cx="2724150" cy="2667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Clear enough for a new intern</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Specific to PearlPortal</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No fake certainty</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No secret exposure</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No code changes</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Questions are sharp</a:t>
            </a:r>
          </a:p>
          <a:p xmlns:a="http://schemas.openxmlformats.org/drawingml/2006/main">
            <a:pPr algn="l">
              <a:defRPr sz="1350" b="0">
                <a:solidFill>
                  <a:srgbClr val="5B6673"/>
                </a:solidFill>
                <a:latin typeface="Aptos"/>
                <a:ea typeface="Aptos"/>
                <a:cs typeface="Aptos"/>
              </a:defRPr>
            </a:pPr>
            <a:r>
              <a:rPr sz="1350" b="0">
                <a:solidFill>
                  <a:srgbClr val="5B6673"/>
                </a:solidFill>
                <a:latin typeface="Aptos"/>
                <a:ea typeface="Aptos"/>
                <a:cs typeface="Aptos"/>
              </a:rPr>
              <a:t>Diagram can guide tomorrow's first task</a:t>
            </a:r>
          </a:p>
        </p:txBody>
      </p:sp>
      <p:sp>
        <p:nvSpPr>
          <p:cNvPr id="18" name="">
            <a:extLst xmlns:a="http://schemas.openxmlformats.org/drawingml/2006/main">
              <a:ext uri="{FF2B5EF4-FFF2-40B4-BE49-F238E27FC236}">
                <a16:creationId xmlns:a16="http://schemas.microsoft.com/office/drawing/2014/main" id="{31BF4CDF-85CA-48CA-A311-644DA092902B}"/>
              </a:ext>
            </a:extLst>
          </p:cNvPr>
          <p:cNvSpPr>
            <a:spLocks xmlns:a="http://schemas.openxmlformats.org/drawingml/2006/main" noGrp="1"/>
          </p:cNvSpPr>
          <p:nvPr/>
        </p:nvSpPr>
        <p:spPr>
          <a:xfrm xmlns:a="http://schemas.openxmlformats.org/drawingml/2006/main">
            <a:off x="857250" y="5238750"/>
            <a:ext cx="9906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17202A"/>
                </a:solidFill>
                <a:latin typeface="Aptos"/>
                <a:ea typeface="Aptos"/>
                <a:cs typeface="Aptos"/>
              </a:defRPr>
            </a:pPr>
            <a:r>
              <a:rPr sz="1800" b="1">
                <a:solidFill>
                  <a:srgbClr val="17202A"/>
                </a:solidFill>
                <a:latin typeface="Aptos"/>
                <a:ea typeface="Aptos"/>
                <a:cs typeface="Aptos"/>
              </a:rPr>
              <a:t>Final deliverable: one diagram, one source list, one risk list, one question list.</a:t>
            </a:r>
          </a:p>
        </p:txBody>
      </p:sp>
      <p:sp>
        <p:nvSpPr>
          <p:cNvPr id="19" name="">
            <a:extLst xmlns:a="http://schemas.openxmlformats.org/drawingml/2006/main">
              <a:ext uri="{FF2B5EF4-FFF2-40B4-BE49-F238E27FC236}">
                <a16:creationId xmlns:a16="http://schemas.microsoft.com/office/drawing/2014/main" id="{09D29585-3B82-4576-9D93-E1A90875C676}"/>
              </a:ext>
            </a:extLst>
          </p:cNvPr>
          <p:cNvSpPr>
            <a:spLocks xmlns:a="http://schemas.openxmlformats.org/drawingml/2006/main" noGrp="1"/>
          </p:cNvSpPr>
          <p:nvPr/>
        </p:nvSpPr>
        <p:spPr>
          <a:xfrm xmlns:a="http://schemas.openxmlformats.org/drawingml/2006/main">
            <a:off x="647700" y="6362700"/>
            <a:ext cx="10363200" cy="9525"/>
          </a:xfrm>
          <a:prstGeom xmlns:a="http://schemas.openxmlformats.org/drawingml/2006/main" prst="rect">
            <a:avLst/>
          </a:prstGeom>
          <a:solidFill xmlns:a="http://schemas.openxmlformats.org/drawingml/2006/main">
            <a:srgbClr val="D9D4C7"/>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A02510D-7129-4443-9539-A1A1D69DA8C3}"/>
              </a:ext>
            </a:extLst>
          </p:cNvPr>
          <p:cNvSpPr>
            <a:spLocks xmlns:a="http://schemas.openxmlformats.org/drawingml/2006/main" noGrp="1"/>
          </p:cNvSpPr>
          <p:nvPr/>
        </p:nvSpPr>
        <p:spPr>
          <a:xfrm xmlns:a="http://schemas.openxmlformats.org/drawingml/2006/main">
            <a:off x="647700" y="6457950"/>
            <a:ext cx="4286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B6673"/>
                </a:solidFill>
                <a:latin typeface="Aptos"/>
                <a:ea typeface="Aptos"/>
                <a:cs typeface="Aptos"/>
              </a:defRPr>
            </a:pPr>
            <a:r>
              <a:rPr sz="975" b="0">
                <a:solidFill>
                  <a:srgbClr val="5B6673"/>
                </a:solidFill>
                <a:latin typeface="Aptos"/>
                <a:ea typeface="Aptos"/>
                <a:cs typeface="Aptos"/>
              </a:rPr>
              <a:t>PearlPortal intern onboarding</a:t>
            </a:r>
          </a:p>
        </p:txBody>
      </p:sp>
      <p:sp>
        <p:nvSpPr>
          <p:cNvPr id="21" name="">
            <a:extLst xmlns:a="http://schemas.openxmlformats.org/drawingml/2006/main">
              <a:ext uri="{FF2B5EF4-FFF2-40B4-BE49-F238E27FC236}">
                <a16:creationId xmlns:a16="http://schemas.microsoft.com/office/drawing/2014/main" id="{A005E76E-038E-425D-ACAD-23EFB2229122}"/>
              </a:ext>
            </a:extLst>
          </p:cNvPr>
          <p:cNvSpPr>
            <a:spLocks xmlns:a="http://schemas.openxmlformats.org/drawingml/2006/main" noGrp="1"/>
          </p:cNvSpPr>
          <p:nvPr/>
        </p:nvSpPr>
        <p:spPr>
          <a:xfrm xmlns:a="http://schemas.openxmlformats.org/drawingml/2006/main">
            <a:off x="10382250" y="645795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5B6673"/>
                </a:solidFill>
                <a:latin typeface="Aptos"/>
                <a:ea typeface="Aptos"/>
                <a:cs typeface="Aptos"/>
              </a:defRPr>
            </a:pPr>
            <a:r>
              <a:rPr sz="975" b="0">
                <a:solidFill>
                  <a:srgbClr val="5B6673"/>
                </a:solidFill>
                <a:latin typeface="Aptos"/>
                <a:ea typeface="Aptos"/>
                <a:cs typeface="Aptos"/>
              </a:rPr>
              <a:t>14</a:t>
            </a:r>
          </a:p>
        </p:txBody>
      </p:sp>
    </p:spTree>
    <p:extLst>
      <p:ext uri="{BB962C8B-B14F-4D97-AF65-F5344CB8AC3E}">
        <p14:creationId xmlns:p14="http://schemas.microsoft.com/office/powerpoint/2010/main" val="1865673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2026-05-04T16:39:16.5920000Z</dcterms:created>
  <dcterms:modified xsi:type="dcterms:W3CDTF">2026-05-04T16:39:16.5920000Z</dcterms:modified>
</coreProperties>
</file>